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9" r:id="rId1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01C62D0D-808B-15C3-B3B5-851B9BA9D6FD}">
          <p14:sldIdLst>
            <p14:sldId id="256"/>
          </p14:sldIdLst>
        </p14:section>
        <p14:section name="PP2 Feedback" id="{178E204F-902E-8A92-7997-0AEF02D4EB74}">
          <p14:sldIdLst>
            <p14:sldId id="257"/>
          </p14:sldIdLst>
        </p14:section>
        <p14:section name="Problem and Solution" id="{3178ADAE-9E8F-EB81-D4EC-2B6D68E28919}">
          <p14:sldIdLst>
            <p14:sldId id="258"/>
            <p14:sldId id="259"/>
          </p14:sldIdLst>
        </p14:section>
        <p14:section name="Individual Components" id="{7BF90938-0FC3-EFF9-85CC-9BBA14E30CF1}">
          <p14:sldIdLst>
            <p14:sldId id="260"/>
            <p14:sldId id="261"/>
            <p14:sldId id="262"/>
            <p14:sldId id="263"/>
          </p14:sldIdLst>
        </p14:section>
        <p14:section name="Results" id="{502C1C9D-8581-8EE1-DE2F-C5C658A5AE68}">
          <p14:sldIdLst>
            <p14:sldId id="264"/>
            <p14:sldId id="265"/>
          </p14:sldIdLst>
        </p14:section>
        <p14:section name="Backup" id="{8E453A20-8B3D-D038-37B0-2AF4DE1C79E2}">
          <p14:sldIdLst/>
        </p14:section>
        <p14:section name="Close" id="{17C7DB2F-1801-5B91-9947-19E2A5F12B6B}">
          <p14:sldIdLst>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2" d="100"/>
          <a:sy n="82" d="100"/>
        </p:scale>
        <p:origin x="691" y="77"/>
      </p:cViewPr>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679958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everyone. We are Team R26-IT-152, and our project is Tour Ceylon. It is an AI-based platform for tourist safety and trip planning in Sri Lanka. It has four AI modules: emergency safety, itinerary planning, wellness matching, and crowd risk. Each module is built by one team member, and the modules work together on one platform. I will present the whole project today. I would like to thank our supervisor, Mr. </a:t>
            </a:r>
            <a:r>
              <a:rPr lang="en-US" dirty="0" err="1"/>
              <a:t>Harshanath</a:t>
            </a:r>
            <a:r>
              <a:rPr lang="en-US" dirty="0"/>
              <a:t>, and our co-supervisor, Prof. Rajapaksha.</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US" dirty="0"/>
              <a:t>First, I will show how we answered the PP2 panel comments. For every comment, we added evidence.</a:t>
            </a:r>
          </a:p>
          <a:p>
            <a:pPr rtl="0"/>
            <a:r>
              <a:rPr lang="en-US" dirty="0"/>
              <a:t>For SOS safety, the panel asked us to validate the results. We added a keyword baseline and 5-fold cross-validation. Our Random Forest scores 0.923 macro-F1, compared with 0.783 for the baseline.</a:t>
            </a:r>
          </a:p>
          <a:p>
            <a:pPr rtl="0"/>
            <a:r>
              <a:rPr lang="en-US" dirty="0"/>
              <a:t>For the itinerary planner, the panel asked how places are suggested. We documented the full decision flow, and each input is mapped to the model that uses it.</a:t>
            </a:r>
          </a:p>
          <a:p>
            <a:pPr rtl="0"/>
            <a:r>
              <a:rPr lang="en-US" dirty="0"/>
              <a:t>For wellness matching, the panel wanted to see the trained models. We retrained all 13 models from raw data in a reproducible </a:t>
            </a:r>
            <a:r>
              <a:rPr lang="en-US" dirty="0" err="1"/>
              <a:t>Colab</a:t>
            </a:r>
            <a:r>
              <a:rPr lang="en-US" dirty="0"/>
              <a:t> notebook.</a:t>
            </a:r>
          </a:p>
          <a:p>
            <a:pPr rtl="0"/>
            <a:r>
              <a:rPr lang="en-US" dirty="0"/>
              <a:t>For crowd risk, the panel also asked for better validation. We tested on 10 sites the model had never seen. The error is 37 percent lower than the baseline, 0.1232 compared with 0.1967.</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Sri Lanka receives over 2 million tourists every year, but tourist support is fragmented. We found four gaps. First, emergency help is not built for tourists. There is no live GPS and no multilingual support. Second, itineraries ignore crowding, so tourists are sent to over-capacity places like Sigiriya and Ella. Third, wellness providers are unverified, so tourists find it hard to trust Ayurveda and meditation </a:t>
            </a:r>
            <a:r>
              <a:rPr lang="en-US" dirty="0" err="1"/>
              <a:t>centres</a:t>
            </a:r>
            <a:r>
              <a:rPr lang="en-US" dirty="0"/>
              <a:t>. Fourth, crowds are managed after they happen, not predicted before. Existing tools solve one gap each. To our knowledge, none solves all four for Sri Lanka.</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US" dirty="0"/>
              <a:t>Our solution is four AI modules on one shared backend. The shared backend holds one tourist profile, one verified catalogue of attractions and hotels, and one API. Crowd risk gives every visit a Low, Medium or High badge. Wellness matching adds verified </a:t>
            </a:r>
            <a:r>
              <a:rPr lang="en-US" dirty="0" err="1"/>
              <a:t>centres</a:t>
            </a:r>
            <a:r>
              <a:rPr lang="en-US" dirty="0"/>
              <a:t> as itinerary stops. SOS sends the location and the incident type to the police dashboard.</a:t>
            </a:r>
          </a:p>
          <a:p>
            <a:pPr rtl="0"/>
            <a:r>
              <a:rPr lang="en-US" dirty="0"/>
              <a:t>We believe this is better than existing tools for four reasons. It is integrated, because the </a:t>
            </a:r>
            <a:r>
              <a:rPr lang="en-US" dirty="0" err="1"/>
              <a:t>traveller</a:t>
            </a:r>
            <a:r>
              <a:rPr lang="en-US" dirty="0"/>
              <a:t> sees one plan, not four apps. It is grounded, because plans use only a verified catalogue, so places are never invented. It is explainable, because we use SHAP and clear rules. And it is honestly evaluated, because we use unseen-site tests, baselines, and disclosed limits.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component is SOS Emergency Safety .It was done by De Silva D S K. A tourist taps or speaks to send an SOS with live GPS. Whisper converts the speech to text, and we translate Sinhala and Tamil. A Random Forest classifies the incident into one of 15 types. Then we use Haversine distance to find the nearest police station. The police see everything on a live dashboard. The result is a macro-F1 of 0.923, compared with 0.783 for the keyword baseline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second module is the Itinerary </a:t>
            </a:r>
            <a:r>
              <a:rPr lang="en-US" dirty="0" err="1"/>
              <a:t>Planner.It</a:t>
            </a:r>
            <a:r>
              <a:rPr lang="en-US" dirty="0"/>
              <a:t> was done by Wanniarachchi P M R. The </a:t>
            </a:r>
            <a:r>
              <a:rPr lang="en-US" dirty="0" err="1"/>
              <a:t>traveller</a:t>
            </a:r>
            <a:r>
              <a:rPr lang="en-US" dirty="0"/>
              <a:t> enters dates, budget, the experience they want, a comfort level, and a meal plan. Three Random Forest models then work in sequence. The first ranks attractions, the second chooses visit times, and the third matches hotels. The output is a full day-by-day plan with a budget split. Attraction ranking scores 0.865 NDCG@10. Each visit also shows the crowd badge from our risk module.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third module is Wellness Matching. It was done by De Silva D.C.M .It predicts the tourist’s dosha using a Random Forest. It understands symptoms written in 5 languages. It screens </a:t>
            </a:r>
            <a:r>
              <a:rPr lang="en-US" dirty="0" err="1"/>
              <a:t>centre</a:t>
            </a:r>
            <a:r>
              <a:rPr lang="en-US" dirty="0"/>
              <a:t> reviews for safety concerns. Then it recommends the best-matching </a:t>
            </a:r>
            <a:r>
              <a:rPr lang="en-US" dirty="0" err="1"/>
              <a:t>centres</a:t>
            </a:r>
            <a:r>
              <a:rPr lang="en-US" dirty="0"/>
              <a:t>. Dosha accuracy is 81 percent, and cross-validation gives 84.3 percent. The verified </a:t>
            </a:r>
            <a:r>
              <a:rPr lang="en-US" dirty="0" err="1"/>
              <a:t>centres</a:t>
            </a:r>
            <a:r>
              <a:rPr lang="en-US" dirty="0"/>
              <a:t> appear as stops in the itinerary.</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US" dirty="0"/>
              <a:t>The fourth module is my component, Tourism Risk and Context Intelligence. It answers one question: how crowded will a tourist site be on the date I choose?</a:t>
            </a:r>
          </a:p>
          <a:p>
            <a:pPr rtl="0"/>
            <a:r>
              <a:rPr lang="en-US" dirty="0"/>
              <a:t>The input is context. This includes the day, the season, holidays and festivals, weather, site capacity, site type, and district. I trained the models on 144,007 simulated daily records for 197 sites, covering 2024 and 2025.</a:t>
            </a:r>
          </a:p>
          <a:p>
            <a:pPr rtl="0"/>
            <a:r>
              <a:rPr lang="en-US" dirty="0"/>
              <a:t>I use two Random Forests. The regressor gives a crowd score. The classifier turns it into a Low, Medium or High risk level, with a recommendation. I use SHAP to show which features drive each prediction, so the result is explainable.</a:t>
            </a:r>
          </a:p>
          <a:p>
            <a:pPr rtl="0"/>
            <a:r>
              <a:rPr lang="en-US" dirty="0"/>
              <a:t>The key result is on 10 sites the model had never seen. The error is 37 percent lower than the baseline. In the platform, the itinerary page shows this risk badge on every planned visit.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US" dirty="0"/>
              <a:t>This slide compares all four modules. SOS reaches 0.923 macro-F1. The planner reaches 0.865 NDCG@10. Wellness reaches 81 percent dosha accuracy. Crowd risk has 37 percent lower error on unseen sites.</a:t>
            </a:r>
          </a:p>
          <a:p>
            <a:pPr rtl="0"/>
            <a:r>
              <a:rPr lang="en-US" dirty="0"/>
              <a:t>For crowd risk, I want to be honest about the numbers. On unseen sites, R-squared is 0.333, which is moderate. On a random split, it is 0.849, but that test is easier because the model has already seen those sites. So I report the harder result as the main one.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US" dirty="0"/>
              <a:t>Every component has limits, and each has a next step. SOS uses developer-written messages, not real emergencies, so we need real labelled data and a field test. The planner’s labels come from catalogues, and its visit-time model is weak at 52.6 percent. Wellness has a small dataset, but it has a hotel letter and two </a:t>
            </a:r>
            <a:r>
              <a:rPr lang="en-US" dirty="0" err="1"/>
              <a:t>centre</a:t>
            </a:r>
            <a:r>
              <a:rPr lang="en-US" dirty="0"/>
              <a:t> endorsement letters.</a:t>
            </a:r>
          </a:p>
          <a:p>
            <a:pPr rtl="0"/>
            <a:r>
              <a:rPr lang="en-US" dirty="0"/>
              <a:t>For crowd risk, the main limit is simulated data. The model learns the patterns in the data, not real visitor </a:t>
            </a:r>
            <a:r>
              <a:rPr lang="en-US" dirty="0" err="1"/>
              <a:t>behaviour</a:t>
            </a:r>
            <a:r>
              <a:rPr lang="en-US" dirty="0"/>
              <a:t>. Weather, hotel occupancy, and flights are the same for every site on a date. We also tested on only 10 sites, so the estimates are noisy. Our next step is real visitor counts, district-level weather, and a user acceptance test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summary, Tour Ceylon brings safer, smarter, and less crowded travel to Sri Lanka on one platform. Thank you for listening. We are happy to answer your questions.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a:effectLst/>
      </p:bgPr>
    </p:bg>
    <p:spTree>
      <p:nvGrpSpPr>
        <p:cNvPr id="1" name=""/>
        <p:cNvGrpSpPr/>
        <p:nvPr/>
      </p:nvGrpSpPr>
      <p:grpSpPr>
        <a:xfrm>
          <a:off x="0" y="0"/>
          <a:ext cx="0" cy="0"/>
          <a:chOff x="0" y="0"/>
          <a:chExt cx="0" cy="0"/>
        </a:xfrm>
      </p:grpSpPr>
      <p:sp>
        <p:nvSpPr>
          <p:cNvPr id="2" name="Text 0"/>
          <p:cNvSpPr/>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chemeClr val="accent5"/>
                </a:solidFill>
              </a:rPr>
              <a:t>Tour Ceylon  ·  R26-IT-152  ·  SLIIT</a:t>
            </a:r>
            <a:endParaRPr lang="en-US" sz="10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chemeClr val="tx2"/>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jpg"/><Relationship Id="rId7"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12"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5.png"/><Relationship Id="rId11" Type="http://schemas.openxmlformats.org/officeDocument/2006/relationships/image" Target="../media/image12.png"/><Relationship Id="rId5" Type="http://schemas.openxmlformats.org/officeDocument/2006/relationships/image" Target="../media/image6.png"/><Relationship Id="rId10" Type="http://schemas.openxmlformats.org/officeDocument/2006/relationships/image" Target="../media/image11.png"/><Relationship Id="rId4" Type="http://schemas.openxmlformats.org/officeDocument/2006/relationships/image" Target="../media/image7.png"/><Relationship Id="rId9" Type="http://schemas.openxmlformats.org/officeDocument/2006/relationships/image" Target="../media/image10.png"/></Relationships>
</file>

<file path=ppt/slides/_rels/slide5.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14.jpg"/><Relationship Id="rId7" Type="http://schemas.openxmlformats.org/officeDocument/2006/relationships/image" Target="../media/image18.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16.png"/><Relationship Id="rId10" Type="http://schemas.openxmlformats.org/officeDocument/2006/relationships/image" Target="../media/image10.png"/><Relationship Id="rId4" Type="http://schemas.openxmlformats.org/officeDocument/2006/relationships/image" Target="../media/image15.png"/><Relationship Id="rId9" Type="http://schemas.openxmlformats.org/officeDocument/2006/relationships/image" Target="../media/image19.jpg"/></Relationships>
</file>

<file path=ppt/slides/_rels/slide6.xml.rels><?xml version="1.0" encoding="UTF-8" standalone="yes"?>
<Relationships xmlns="http://schemas.openxmlformats.org/package/2006/relationships"><Relationship Id="rId8" Type="http://schemas.openxmlformats.org/officeDocument/2006/relationships/image" Target="../media/image25.jpg"/><Relationship Id="rId3" Type="http://schemas.openxmlformats.org/officeDocument/2006/relationships/image" Target="../media/image20.png"/><Relationship Id="rId7" Type="http://schemas.openxmlformats.org/officeDocument/2006/relationships/image" Target="../media/image24.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 Id="rId9" Type="http://schemas.openxmlformats.org/officeDocument/2006/relationships/image" Target="../media/image10.png"/></Relationships>
</file>

<file path=ppt/slides/_rels/slide7.xml.rels><?xml version="1.0" encoding="UTF-8" standalone="yes"?>
<Relationships xmlns="http://schemas.openxmlformats.org/package/2006/relationships"><Relationship Id="rId8" Type="http://schemas.openxmlformats.org/officeDocument/2006/relationships/image" Target="../media/image29.jpg"/><Relationship Id="rId3" Type="http://schemas.openxmlformats.org/officeDocument/2006/relationships/image" Target="../media/image26.jpg"/><Relationship Id="rId7"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28.png"/><Relationship Id="rId5" Type="http://schemas.openxmlformats.org/officeDocument/2006/relationships/image" Target="../media/image16.png"/><Relationship Id="rId4" Type="http://schemas.openxmlformats.org/officeDocument/2006/relationships/image" Target="../media/image27.png"/><Relationship Id="rId9" Type="http://schemas.openxmlformats.org/officeDocument/2006/relationships/image" Target="../media/image10.png"/></Relationships>
</file>

<file path=ppt/slides/_rels/slide8.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30.jpg"/><Relationship Id="rId7" Type="http://schemas.openxmlformats.org/officeDocument/2006/relationships/image" Target="../media/image32.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9.png"/><Relationship Id="rId10" Type="http://schemas.openxmlformats.org/officeDocument/2006/relationships/image" Target="../media/image10.png"/><Relationship Id="rId4" Type="http://schemas.openxmlformats.org/officeDocument/2006/relationships/image" Target="../media/image31.png"/><Relationship Id="rId9" Type="http://schemas.openxmlformats.org/officeDocument/2006/relationships/image" Target="../media/image33.jpg"/></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home/claude/work/sigiriya.jpg"/>
          <p:cNvPicPr>
            <a:picLocks noChangeAspect="1"/>
          </p:cNvPicPr>
          <p:nvPr/>
        </p:nvPicPr>
        <p:blipFill>
          <a:blip r:embed="rId3"/>
          <a:srcRect/>
          <a:stretch/>
        </p:blipFill>
        <p:spPr>
          <a:xfrm>
            <a:off x="7406640" y="0"/>
            <a:ext cx="4785055" cy="6858000"/>
          </a:xfrm>
          <a:prstGeom prst="rect">
            <a:avLst/>
          </a:prstGeom>
        </p:spPr>
      </p:pic>
      <p:sp>
        <p:nvSpPr>
          <p:cNvPr id="3" name="Text 0"/>
          <p:cNvSpPr txBox="1"/>
          <p:nvPr/>
        </p:nvSpPr>
        <p:spPr>
          <a:xfrm>
            <a:off x="640080" y="685800"/>
            <a:ext cx="6400800" cy="274320"/>
          </a:xfrm>
          <a:prstGeom prst="rect">
            <a:avLst/>
          </a:prstGeom>
          <a:noFill/>
          <a:ln/>
        </p:spPr>
        <p:txBody>
          <a:bodyPr wrap="square" lIns="0" tIns="0" rIns="0" bIns="0" rtlCol="0" anchor="t"/>
          <a:lstStyle/>
          <a:p>
            <a:pPr marL="0" indent="0">
              <a:buNone/>
            </a:pPr>
            <a:r>
              <a:rPr lang="en-US" sz="1200" b="1" kern="0" spc="200" dirty="0">
                <a:solidFill>
                  <a:schemeClr val="accent2"/>
                </a:solidFill>
              </a:rPr>
              <a:t>SLIIT  ·  FINAL PRESENTATION  ·  R26-IT-152</a:t>
            </a:r>
            <a:endParaRPr lang="en-US" sz="1200" dirty="0"/>
          </a:p>
        </p:txBody>
      </p:sp>
      <p:sp>
        <p:nvSpPr>
          <p:cNvPr id="4" name="Text 1"/>
          <p:cNvSpPr txBox="1"/>
          <p:nvPr/>
        </p:nvSpPr>
        <p:spPr>
          <a:xfrm>
            <a:off x="640080" y="1097280"/>
            <a:ext cx="6583680" cy="914400"/>
          </a:xfrm>
          <a:prstGeom prst="rect">
            <a:avLst/>
          </a:prstGeom>
          <a:noFill/>
          <a:ln/>
        </p:spPr>
        <p:txBody>
          <a:bodyPr wrap="square" lIns="0" tIns="0" rIns="0" bIns="0" rtlCol="0" anchor="ctr"/>
          <a:lstStyle/>
          <a:p>
            <a:pPr marL="0" indent="0">
              <a:buNone/>
            </a:pPr>
            <a:r>
              <a:rPr lang="en-US" sz="5400" b="1" dirty="0">
                <a:solidFill>
                  <a:schemeClr val="bg1"/>
                </a:solidFill>
                <a:latin typeface="Arial" pitchFamily="34" charset="0"/>
                <a:ea typeface="Arial" pitchFamily="34" charset="-122"/>
                <a:cs typeface="Arial" pitchFamily="34" charset="-120"/>
              </a:rPr>
              <a:t>Tour Ceylon</a:t>
            </a:r>
            <a:endParaRPr lang="en-US" sz="5400" dirty="0"/>
          </a:p>
        </p:txBody>
      </p:sp>
      <p:sp>
        <p:nvSpPr>
          <p:cNvPr id="5" name="Text 2"/>
          <p:cNvSpPr txBox="1"/>
          <p:nvPr/>
        </p:nvSpPr>
        <p:spPr>
          <a:xfrm>
            <a:off x="640080" y="2057400"/>
            <a:ext cx="6675120" cy="822960"/>
          </a:xfrm>
          <a:prstGeom prst="rect">
            <a:avLst/>
          </a:prstGeom>
          <a:noFill/>
          <a:ln/>
        </p:spPr>
        <p:txBody>
          <a:bodyPr wrap="square" lIns="0" tIns="0" rIns="0" bIns="0" rtlCol="0" anchor="t"/>
          <a:lstStyle/>
          <a:p>
            <a:pPr marL="0" indent="0">
              <a:buNone/>
            </a:pPr>
            <a:r>
              <a:rPr lang="en-US" sz="2200" dirty="0">
                <a:solidFill>
                  <a:schemeClr val="bg1"/>
                </a:solidFill>
              </a:rPr>
              <a:t>AI-Based Tourism Safety &amp; Itinerary Platform for Sri Lanka</a:t>
            </a:r>
            <a:endParaRPr lang="en-US" sz="2200" dirty="0"/>
          </a:p>
        </p:txBody>
      </p:sp>
      <p:sp>
        <p:nvSpPr>
          <p:cNvPr id="6" name="Text 3"/>
          <p:cNvSpPr txBox="1"/>
          <p:nvPr/>
        </p:nvSpPr>
        <p:spPr>
          <a:xfrm>
            <a:off x="640080" y="2926080"/>
            <a:ext cx="6309360" cy="685800"/>
          </a:xfrm>
          <a:prstGeom prst="rect">
            <a:avLst/>
          </a:prstGeom>
          <a:noFill/>
          <a:ln/>
        </p:spPr>
        <p:txBody>
          <a:bodyPr wrap="square" lIns="0" tIns="0" rIns="0" bIns="0" rtlCol="0" anchor="t"/>
          <a:lstStyle/>
          <a:p>
            <a:pPr marL="0" indent="0">
              <a:buNone/>
            </a:pPr>
            <a:r>
              <a:rPr lang="en-US" sz="1500" i="1" dirty="0">
                <a:solidFill>
                  <a:schemeClr val="accent6"/>
                </a:solidFill>
              </a:rPr>
              <a:t>Four AI modules (emergency safety, itinerary planning, wellness matching and crowd risk) working together on one platform</a:t>
            </a:r>
            <a:endParaRPr lang="en-US" sz="1500" dirty="0"/>
          </a:p>
        </p:txBody>
      </p:sp>
      <p:sp>
        <p:nvSpPr>
          <p:cNvPr id="7" name="Text 4"/>
          <p:cNvSpPr txBox="1"/>
          <p:nvPr/>
        </p:nvSpPr>
        <p:spPr>
          <a:xfrm>
            <a:off x="640080" y="3931920"/>
            <a:ext cx="3566160" cy="329184"/>
          </a:xfrm>
          <a:prstGeom prst="rect">
            <a:avLst/>
          </a:prstGeom>
          <a:noFill/>
          <a:ln/>
        </p:spPr>
        <p:txBody>
          <a:bodyPr wrap="square" lIns="0" tIns="0" rIns="0" bIns="0" rtlCol="0" anchor="ctr"/>
          <a:lstStyle/>
          <a:p>
            <a:pPr marL="0" indent="0">
              <a:buNone/>
            </a:pPr>
            <a:r>
              <a:rPr lang="en-US" sz="1400" b="1" dirty="0">
                <a:solidFill>
                  <a:schemeClr val="bg1"/>
                </a:solidFill>
              </a:rPr>
              <a:t>De Silva D.S.K</a:t>
            </a:r>
            <a:r>
              <a:rPr lang="en-US" sz="1400" dirty="0">
                <a:solidFill>
                  <a:srgbClr val="B9CFC9"/>
                </a:solidFill>
              </a:rPr>
              <a:t>   IT22108654</a:t>
            </a:r>
            <a:endParaRPr lang="en-US" sz="1400" dirty="0"/>
          </a:p>
        </p:txBody>
      </p:sp>
      <p:sp>
        <p:nvSpPr>
          <p:cNvPr id="8" name="Text 5"/>
          <p:cNvSpPr txBox="1"/>
          <p:nvPr/>
        </p:nvSpPr>
        <p:spPr>
          <a:xfrm>
            <a:off x="4206240" y="3931920"/>
            <a:ext cx="2926080" cy="329184"/>
          </a:xfrm>
          <a:prstGeom prst="rect">
            <a:avLst/>
          </a:prstGeom>
          <a:noFill/>
          <a:ln/>
        </p:spPr>
        <p:txBody>
          <a:bodyPr wrap="square" lIns="0" tIns="0" rIns="0" bIns="0" rtlCol="0" anchor="ctr"/>
          <a:lstStyle/>
          <a:p>
            <a:pPr marL="0" indent="0">
              <a:buNone/>
            </a:pPr>
            <a:r>
              <a:rPr lang="en-US" sz="1300" dirty="0">
                <a:solidFill>
                  <a:srgbClr val="B9CFC9"/>
                </a:solidFill>
              </a:rPr>
              <a:t>SOS Emergency Safety</a:t>
            </a:r>
            <a:endParaRPr lang="en-US" sz="1300" dirty="0"/>
          </a:p>
        </p:txBody>
      </p:sp>
      <p:sp>
        <p:nvSpPr>
          <p:cNvPr id="9" name="Text 6"/>
          <p:cNvSpPr txBox="1"/>
          <p:nvPr/>
        </p:nvSpPr>
        <p:spPr>
          <a:xfrm>
            <a:off x="640080" y="4315968"/>
            <a:ext cx="3566160" cy="329184"/>
          </a:xfrm>
          <a:prstGeom prst="rect">
            <a:avLst/>
          </a:prstGeom>
          <a:noFill/>
          <a:ln/>
        </p:spPr>
        <p:txBody>
          <a:bodyPr wrap="square" lIns="0" tIns="0" rIns="0" bIns="0" rtlCol="0" anchor="ctr"/>
          <a:lstStyle/>
          <a:p>
            <a:pPr marL="0" indent="0">
              <a:buNone/>
            </a:pPr>
            <a:r>
              <a:rPr lang="en-US" sz="1400" b="1" dirty="0">
                <a:solidFill>
                  <a:schemeClr val="bg1"/>
                </a:solidFill>
              </a:rPr>
              <a:t>Wanniarachchi P.M.R</a:t>
            </a:r>
            <a:r>
              <a:rPr lang="en-US" sz="1400" dirty="0">
                <a:solidFill>
                  <a:srgbClr val="B9CFC9"/>
                </a:solidFill>
              </a:rPr>
              <a:t>   IT22225092</a:t>
            </a:r>
            <a:endParaRPr lang="en-US" sz="1400" dirty="0"/>
          </a:p>
        </p:txBody>
      </p:sp>
      <p:sp>
        <p:nvSpPr>
          <p:cNvPr id="10" name="Text 7"/>
          <p:cNvSpPr txBox="1"/>
          <p:nvPr/>
        </p:nvSpPr>
        <p:spPr>
          <a:xfrm>
            <a:off x="4206240" y="4315968"/>
            <a:ext cx="2926080" cy="329184"/>
          </a:xfrm>
          <a:prstGeom prst="rect">
            <a:avLst/>
          </a:prstGeom>
          <a:noFill/>
          <a:ln/>
        </p:spPr>
        <p:txBody>
          <a:bodyPr wrap="square" lIns="0" tIns="0" rIns="0" bIns="0" rtlCol="0" anchor="ctr"/>
          <a:lstStyle/>
          <a:p>
            <a:pPr marL="0" indent="0">
              <a:buNone/>
            </a:pPr>
            <a:r>
              <a:rPr lang="en-US" sz="1300" dirty="0">
                <a:solidFill>
                  <a:srgbClr val="B9CFC9"/>
                </a:solidFill>
              </a:rPr>
              <a:t>Itinerary Planner</a:t>
            </a:r>
            <a:endParaRPr lang="en-US" sz="1300" dirty="0"/>
          </a:p>
        </p:txBody>
      </p:sp>
      <p:sp>
        <p:nvSpPr>
          <p:cNvPr id="11" name="Text 8"/>
          <p:cNvSpPr txBox="1"/>
          <p:nvPr/>
        </p:nvSpPr>
        <p:spPr>
          <a:xfrm>
            <a:off x="640080" y="4700016"/>
            <a:ext cx="3566160" cy="329184"/>
          </a:xfrm>
          <a:prstGeom prst="rect">
            <a:avLst/>
          </a:prstGeom>
          <a:noFill/>
          <a:ln/>
        </p:spPr>
        <p:txBody>
          <a:bodyPr wrap="square" lIns="0" tIns="0" rIns="0" bIns="0" rtlCol="0" anchor="ctr"/>
          <a:lstStyle/>
          <a:p>
            <a:pPr marL="0" indent="0">
              <a:buNone/>
            </a:pPr>
            <a:r>
              <a:rPr lang="en-US" sz="1400" b="1" dirty="0">
                <a:solidFill>
                  <a:schemeClr val="bg1"/>
                </a:solidFill>
              </a:rPr>
              <a:t>De Silva D.C.M</a:t>
            </a:r>
            <a:r>
              <a:rPr lang="en-US" sz="1400" dirty="0">
                <a:solidFill>
                  <a:srgbClr val="B9CFC9"/>
                </a:solidFill>
              </a:rPr>
              <a:t>   IT22108586</a:t>
            </a:r>
            <a:endParaRPr lang="en-US" sz="1400" dirty="0"/>
          </a:p>
        </p:txBody>
      </p:sp>
      <p:sp>
        <p:nvSpPr>
          <p:cNvPr id="12" name="Text 9"/>
          <p:cNvSpPr txBox="1"/>
          <p:nvPr/>
        </p:nvSpPr>
        <p:spPr>
          <a:xfrm>
            <a:off x="4206240" y="4700016"/>
            <a:ext cx="2926080" cy="329184"/>
          </a:xfrm>
          <a:prstGeom prst="rect">
            <a:avLst/>
          </a:prstGeom>
          <a:noFill/>
          <a:ln/>
        </p:spPr>
        <p:txBody>
          <a:bodyPr wrap="square" lIns="0" tIns="0" rIns="0" bIns="0" rtlCol="0" anchor="ctr"/>
          <a:lstStyle/>
          <a:p>
            <a:pPr marL="0" indent="0">
              <a:buNone/>
            </a:pPr>
            <a:r>
              <a:rPr lang="en-US" sz="1300" dirty="0">
                <a:solidFill>
                  <a:srgbClr val="B9CFC9"/>
                </a:solidFill>
              </a:rPr>
              <a:t>Wellness Matching</a:t>
            </a:r>
            <a:endParaRPr lang="en-US" sz="1300" dirty="0"/>
          </a:p>
        </p:txBody>
      </p:sp>
      <p:sp>
        <p:nvSpPr>
          <p:cNvPr id="13" name="Text 10"/>
          <p:cNvSpPr txBox="1"/>
          <p:nvPr/>
        </p:nvSpPr>
        <p:spPr>
          <a:xfrm>
            <a:off x="640080" y="5084064"/>
            <a:ext cx="3566160" cy="329184"/>
          </a:xfrm>
          <a:prstGeom prst="rect">
            <a:avLst/>
          </a:prstGeom>
          <a:noFill/>
          <a:ln/>
        </p:spPr>
        <p:txBody>
          <a:bodyPr wrap="square" lIns="0" tIns="0" rIns="0" bIns="0" rtlCol="0" anchor="ctr"/>
          <a:lstStyle/>
          <a:p>
            <a:pPr marL="0" indent="0">
              <a:buNone/>
            </a:pPr>
            <a:r>
              <a:rPr lang="en-US" sz="1400" b="1" dirty="0">
                <a:solidFill>
                  <a:schemeClr val="bg1"/>
                </a:solidFill>
              </a:rPr>
              <a:t>Abinaya R</a:t>
            </a:r>
            <a:r>
              <a:rPr lang="en-US" sz="1400" dirty="0">
                <a:solidFill>
                  <a:srgbClr val="B9CFC9"/>
                </a:solidFill>
              </a:rPr>
              <a:t>   IT22090058</a:t>
            </a:r>
            <a:endParaRPr lang="en-US" sz="1400" dirty="0"/>
          </a:p>
        </p:txBody>
      </p:sp>
      <p:sp>
        <p:nvSpPr>
          <p:cNvPr id="14" name="Text 11"/>
          <p:cNvSpPr txBox="1"/>
          <p:nvPr/>
        </p:nvSpPr>
        <p:spPr>
          <a:xfrm>
            <a:off x="4206240" y="5084064"/>
            <a:ext cx="2926080" cy="329184"/>
          </a:xfrm>
          <a:prstGeom prst="rect">
            <a:avLst/>
          </a:prstGeom>
          <a:noFill/>
          <a:ln/>
        </p:spPr>
        <p:txBody>
          <a:bodyPr wrap="square" lIns="0" tIns="0" rIns="0" bIns="0" rtlCol="0" anchor="ctr"/>
          <a:lstStyle/>
          <a:p>
            <a:pPr marL="0" indent="0">
              <a:buNone/>
            </a:pPr>
            <a:r>
              <a:rPr lang="en-US" sz="1300" dirty="0">
                <a:solidFill>
                  <a:srgbClr val="B9CFC9"/>
                </a:solidFill>
              </a:rPr>
              <a:t>Tourism Risk Intelligence</a:t>
            </a:r>
            <a:endParaRPr lang="en-US" sz="1300" dirty="0"/>
          </a:p>
        </p:txBody>
      </p:sp>
      <p:sp>
        <p:nvSpPr>
          <p:cNvPr id="15" name="Text 12"/>
          <p:cNvSpPr txBox="1"/>
          <p:nvPr/>
        </p:nvSpPr>
        <p:spPr>
          <a:xfrm>
            <a:off x="640080" y="5669280"/>
            <a:ext cx="6400800" cy="548640"/>
          </a:xfrm>
          <a:prstGeom prst="rect">
            <a:avLst/>
          </a:prstGeom>
          <a:noFill/>
          <a:ln/>
        </p:spPr>
        <p:txBody>
          <a:bodyPr wrap="square" lIns="0" tIns="0" rIns="0" bIns="0" rtlCol="0" anchor="t"/>
          <a:lstStyle/>
          <a:p>
            <a:pPr marL="0" indent="0">
              <a:buNone/>
            </a:pPr>
            <a:r>
              <a:rPr lang="en-US" sz="1200" b="1" dirty="0">
                <a:solidFill>
                  <a:schemeClr val="bg1"/>
                </a:solidFill>
              </a:rPr>
              <a:t>Supervisor: </a:t>
            </a:r>
            <a:r>
              <a:rPr lang="en-US" sz="1200" dirty="0">
                <a:solidFill>
                  <a:schemeClr val="bg1"/>
                </a:solidFill>
              </a:rPr>
              <a:t>Mr. S.M.B. Harshanath</a:t>
            </a:r>
            <a:endParaRPr lang="en-US" sz="1200" dirty="0"/>
          </a:p>
          <a:p>
            <a:pPr marL="0" indent="0">
              <a:buNone/>
            </a:pPr>
            <a:r>
              <a:rPr lang="en-US" sz="1200" b="1" dirty="0">
                <a:solidFill>
                  <a:schemeClr val="bg1"/>
                </a:solidFill>
              </a:rPr>
              <a:t>Co-supervisor: </a:t>
            </a:r>
            <a:r>
              <a:rPr lang="en-US" sz="1200" dirty="0">
                <a:solidFill>
                  <a:schemeClr val="bg1"/>
                </a:solidFill>
              </a:rPr>
              <a:t>Prof. Samantha Rajapaksha</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Kicker"/>
          <p:cNvSpPr txBox="1"/>
          <p:nvPr/>
        </p:nvSpPr>
        <p:spPr>
          <a:xfrm>
            <a:off x="548640" y="384048"/>
            <a:ext cx="11094415" cy="274320"/>
          </a:xfrm>
          <a:prstGeom prst="rect">
            <a:avLst/>
          </a:prstGeom>
          <a:noFill/>
          <a:ln/>
        </p:spPr>
        <p:txBody>
          <a:bodyPr wrap="square" lIns="0" tIns="0" rIns="0" bIns="0" rtlCol="0" anchor="ctr"/>
          <a:lstStyle/>
          <a:p>
            <a:pPr marL="0" indent="0">
              <a:buNone/>
            </a:pPr>
            <a:r>
              <a:rPr lang="en-US" sz="1200" b="1" kern="0" spc="200" dirty="0">
                <a:solidFill>
                  <a:schemeClr val="accent1"/>
                </a:solidFill>
              </a:rPr>
              <a:t>PP2 COMMENTS AND ACTIONS TAKEN</a:t>
            </a:r>
            <a:endParaRPr lang="en-US" sz="1200" dirty="0"/>
          </a:p>
        </p:txBody>
      </p:sp>
      <p:sp>
        <p:nvSpPr>
          <p:cNvPr id="3" name="Title"/>
          <p:cNvSpPr txBox="1"/>
          <p:nvPr/>
        </p:nvSpPr>
        <p:spPr>
          <a:xfrm>
            <a:off x="548640" y="658368"/>
            <a:ext cx="11094415" cy="640080"/>
          </a:xfrm>
          <a:prstGeom prst="rect">
            <a:avLst/>
          </a:prstGeom>
          <a:noFill/>
          <a:ln/>
        </p:spPr>
        <p:txBody>
          <a:bodyPr wrap="square" lIns="0" tIns="0" rIns="0" bIns="0" rtlCol="0" anchor="ctr"/>
          <a:lstStyle/>
          <a:p>
            <a:pPr marL="0" indent="0">
              <a:buNone/>
            </a:pPr>
            <a:r>
              <a:rPr lang="en-US" sz="3000" b="1" dirty="0">
                <a:solidFill>
                  <a:schemeClr val="tx2"/>
                </a:solidFill>
                <a:latin typeface="Arial" pitchFamily="34" charset="0"/>
                <a:ea typeface="Arial" pitchFamily="34" charset="-122"/>
                <a:cs typeface="Arial" pitchFamily="34" charset="-120"/>
              </a:rPr>
              <a:t>Every PP2 comment was answered with evidence</a:t>
            </a:r>
            <a:endParaRPr lang="en-US" sz="3000" dirty="0"/>
          </a:p>
        </p:txBody>
      </p:sp>
      <p:sp>
        <p:nvSpPr>
          <p:cNvPr id="4" name="PP2 card 1"/>
          <p:cNvSpPr/>
          <p:nvPr/>
        </p:nvSpPr>
        <p:spPr>
          <a:xfrm>
            <a:off x="548640" y="1554480"/>
            <a:ext cx="5410048" cy="2240280"/>
          </a:xfrm>
          <a:prstGeom prst="roundRect">
            <a:avLst>
              <a:gd name="adj" fmla="val 4898"/>
            </a:avLst>
          </a:prstGeom>
          <a:solidFill>
            <a:schemeClr val="bg1"/>
          </a:solidFill>
          <a:ln w="9525">
            <a:solidFill>
              <a:srgbClr val="DCE6E2"/>
            </a:solidFill>
            <a:prstDash val="solid"/>
          </a:ln>
          <a:effectLst>
            <a:outerShdw blurRad="101600" dist="25400" dir="5400000" algn="bl" rotWithShape="0">
              <a:srgbClr val="000000">
                <a:alpha val="12000"/>
              </a:srgbClr>
            </a:outerShdw>
          </a:effectLst>
        </p:spPr>
        <p:txBody>
          <a:bodyPr/>
          <a:lstStyle/>
          <a:p>
            <a:endParaRPr lang="en-US"/>
          </a:p>
        </p:txBody>
      </p:sp>
      <p:sp>
        <p:nvSpPr>
          <p:cNvPr id="5" name="Text 3"/>
          <p:cNvSpPr txBox="1"/>
          <p:nvPr/>
        </p:nvSpPr>
        <p:spPr>
          <a:xfrm>
            <a:off x="822960" y="1755648"/>
            <a:ext cx="3032608" cy="274320"/>
          </a:xfrm>
          <a:prstGeom prst="rect">
            <a:avLst/>
          </a:prstGeom>
          <a:noFill/>
          <a:ln/>
        </p:spPr>
        <p:txBody>
          <a:bodyPr wrap="square" lIns="0" tIns="0" rIns="0" bIns="0" rtlCol="0" anchor="t"/>
          <a:lstStyle/>
          <a:p>
            <a:pPr marL="0" indent="0">
              <a:buNone/>
            </a:pPr>
            <a:r>
              <a:rPr lang="en-US" sz="1500" b="1" dirty="0">
                <a:solidFill>
                  <a:schemeClr val="tx2"/>
                </a:solidFill>
              </a:rPr>
              <a:t>De Silva D.S.K</a:t>
            </a:r>
            <a:endParaRPr lang="en-US" sz="1500" dirty="0"/>
          </a:p>
        </p:txBody>
      </p:sp>
      <p:sp>
        <p:nvSpPr>
          <p:cNvPr id="6" name="Text 4"/>
          <p:cNvSpPr txBox="1"/>
          <p:nvPr/>
        </p:nvSpPr>
        <p:spPr>
          <a:xfrm>
            <a:off x="822960" y="2029968"/>
            <a:ext cx="3032608" cy="228600"/>
          </a:xfrm>
          <a:prstGeom prst="rect">
            <a:avLst/>
          </a:prstGeom>
          <a:noFill/>
          <a:ln/>
        </p:spPr>
        <p:txBody>
          <a:bodyPr wrap="square" lIns="0" tIns="0" rIns="0" bIns="0" rtlCol="0" anchor="t"/>
          <a:lstStyle/>
          <a:p>
            <a:pPr marL="0" indent="0">
              <a:buNone/>
            </a:pPr>
            <a:r>
              <a:rPr lang="en-US" sz="1100" dirty="0">
                <a:solidFill>
                  <a:schemeClr val="accent5"/>
                </a:solidFill>
              </a:rPr>
              <a:t>SOS Emergency Safety</a:t>
            </a:r>
            <a:endParaRPr lang="en-US" sz="1100" dirty="0"/>
          </a:p>
        </p:txBody>
      </p:sp>
      <p:sp>
        <p:nvSpPr>
          <p:cNvPr id="7" name="Text 5"/>
          <p:cNvSpPr txBox="1"/>
          <p:nvPr/>
        </p:nvSpPr>
        <p:spPr>
          <a:xfrm>
            <a:off x="822960" y="2304288"/>
            <a:ext cx="3032608" cy="502920"/>
          </a:xfrm>
          <a:prstGeom prst="rect">
            <a:avLst/>
          </a:prstGeom>
          <a:noFill/>
          <a:ln/>
        </p:spPr>
        <p:txBody>
          <a:bodyPr wrap="square" lIns="0" tIns="0" rIns="0" bIns="0" rtlCol="0" anchor="t"/>
          <a:lstStyle/>
          <a:p>
            <a:pPr marL="0" indent="0">
              <a:buNone/>
            </a:pPr>
            <a:r>
              <a:rPr lang="en-US" sz="1200" i="1" dirty="0">
                <a:solidFill>
                  <a:schemeClr val="accent3"/>
                </a:solidFill>
              </a:rPr>
              <a:t>“Better validate the result”</a:t>
            </a:r>
            <a:endParaRPr lang="en-US" sz="1200" dirty="0"/>
          </a:p>
        </p:txBody>
      </p:sp>
      <p:sp>
        <p:nvSpPr>
          <p:cNvPr id="8" name="Text 6"/>
          <p:cNvSpPr txBox="1"/>
          <p:nvPr/>
        </p:nvSpPr>
        <p:spPr>
          <a:xfrm>
            <a:off x="822960" y="2834640"/>
            <a:ext cx="3032608" cy="868680"/>
          </a:xfrm>
          <a:prstGeom prst="rect">
            <a:avLst/>
          </a:prstGeom>
          <a:noFill/>
          <a:ln/>
        </p:spPr>
        <p:txBody>
          <a:bodyPr wrap="square" lIns="0" tIns="0" rIns="0" bIns="0" rtlCol="0" anchor="t"/>
          <a:lstStyle/>
          <a:p>
            <a:pPr marL="0" indent="0">
              <a:buNone/>
            </a:pPr>
            <a:r>
              <a:rPr lang="en-US" sz="1200" b="1" dirty="0">
                <a:solidFill>
                  <a:schemeClr val="tx1"/>
                </a:solidFill>
              </a:rPr>
              <a:t>Action: </a:t>
            </a:r>
            <a:r>
              <a:rPr lang="en-US" sz="1200" dirty="0">
                <a:solidFill>
                  <a:schemeClr val="tx1"/>
                </a:solidFill>
              </a:rPr>
              <a:t>Added a keyword-rule baseline, 5-fold cross-validation and per-class F1 review</a:t>
            </a:r>
            <a:endParaRPr lang="en-US" sz="1200" dirty="0"/>
          </a:p>
        </p:txBody>
      </p:sp>
      <p:sp>
        <p:nvSpPr>
          <p:cNvPr id="9" name="Shape 7"/>
          <p:cNvSpPr/>
          <p:nvPr/>
        </p:nvSpPr>
        <p:spPr>
          <a:xfrm>
            <a:off x="3947008" y="1783080"/>
            <a:ext cx="1783080" cy="1783080"/>
          </a:xfrm>
          <a:prstGeom prst="roundRect">
            <a:avLst>
              <a:gd name="adj" fmla="val 6154"/>
            </a:avLst>
          </a:prstGeom>
          <a:solidFill>
            <a:schemeClr val="bg2"/>
          </a:solidFill>
          <a:ln/>
        </p:spPr>
        <p:txBody>
          <a:bodyPr/>
          <a:lstStyle/>
          <a:p>
            <a:endParaRPr lang="en-US"/>
          </a:p>
        </p:txBody>
      </p:sp>
      <p:sp>
        <p:nvSpPr>
          <p:cNvPr id="10" name="Text 8"/>
          <p:cNvSpPr txBox="1"/>
          <p:nvPr/>
        </p:nvSpPr>
        <p:spPr>
          <a:xfrm>
            <a:off x="3992728" y="1920240"/>
            <a:ext cx="1691640" cy="594360"/>
          </a:xfrm>
          <a:prstGeom prst="rect">
            <a:avLst/>
          </a:prstGeom>
          <a:noFill/>
          <a:ln/>
        </p:spPr>
        <p:txBody>
          <a:bodyPr wrap="square" lIns="0" tIns="0" rIns="0" bIns="0" rtlCol="0" anchor="ctr"/>
          <a:lstStyle/>
          <a:p>
            <a:pPr marL="0" indent="0" algn="ctr">
              <a:buNone/>
            </a:pPr>
            <a:r>
              <a:rPr lang="en-US" sz="3000" b="1" dirty="0">
                <a:solidFill>
                  <a:schemeClr val="accent1"/>
                </a:solidFill>
                <a:latin typeface="Arial" pitchFamily="34" charset="0"/>
                <a:ea typeface="Arial" pitchFamily="34" charset="-122"/>
                <a:cs typeface="Arial" pitchFamily="34" charset="-120"/>
              </a:rPr>
              <a:t>0.923</a:t>
            </a:r>
            <a:endParaRPr lang="en-US" sz="3000" dirty="0"/>
          </a:p>
        </p:txBody>
      </p:sp>
      <p:sp>
        <p:nvSpPr>
          <p:cNvPr id="11" name="Text 9"/>
          <p:cNvSpPr txBox="1"/>
          <p:nvPr/>
        </p:nvSpPr>
        <p:spPr>
          <a:xfrm>
            <a:off x="4038448" y="2542032"/>
            <a:ext cx="1600200" cy="914400"/>
          </a:xfrm>
          <a:prstGeom prst="rect">
            <a:avLst/>
          </a:prstGeom>
          <a:noFill/>
          <a:ln/>
        </p:spPr>
        <p:txBody>
          <a:bodyPr wrap="square" lIns="0" tIns="0" rIns="0" bIns="0" rtlCol="0" anchor="t"/>
          <a:lstStyle/>
          <a:p>
            <a:pPr marL="0" indent="0" algn="ctr">
              <a:buNone/>
            </a:pPr>
            <a:r>
              <a:rPr lang="en-US" sz="1100" dirty="0">
                <a:solidFill>
                  <a:schemeClr val="tx1"/>
                </a:solidFill>
              </a:rPr>
              <a:t>Random Forest macro-F1 vs 0.783 keyword baseline (5-fold CV)</a:t>
            </a:r>
            <a:endParaRPr lang="en-US" sz="1100" dirty="0"/>
          </a:p>
        </p:txBody>
      </p:sp>
      <p:sp>
        <p:nvSpPr>
          <p:cNvPr id="12" name="PP2 card 2"/>
          <p:cNvSpPr/>
          <p:nvPr/>
        </p:nvSpPr>
        <p:spPr>
          <a:xfrm>
            <a:off x="6233008" y="1554480"/>
            <a:ext cx="5410048" cy="2240280"/>
          </a:xfrm>
          <a:prstGeom prst="roundRect">
            <a:avLst>
              <a:gd name="adj" fmla="val 4898"/>
            </a:avLst>
          </a:prstGeom>
          <a:solidFill>
            <a:schemeClr val="bg1"/>
          </a:solidFill>
          <a:ln w="9525">
            <a:solidFill>
              <a:srgbClr val="DCE6E2"/>
            </a:solidFill>
            <a:prstDash val="solid"/>
          </a:ln>
          <a:effectLst>
            <a:outerShdw blurRad="101600" dist="25400" dir="5400000" algn="bl" rotWithShape="0">
              <a:srgbClr val="000000">
                <a:alpha val="12000"/>
              </a:srgbClr>
            </a:outerShdw>
          </a:effectLst>
        </p:spPr>
        <p:txBody>
          <a:bodyPr/>
          <a:lstStyle/>
          <a:p>
            <a:endParaRPr lang="en-US"/>
          </a:p>
        </p:txBody>
      </p:sp>
      <p:sp>
        <p:nvSpPr>
          <p:cNvPr id="13" name="Text 11"/>
          <p:cNvSpPr txBox="1"/>
          <p:nvPr/>
        </p:nvSpPr>
        <p:spPr>
          <a:xfrm>
            <a:off x="6507328" y="1755648"/>
            <a:ext cx="3032608" cy="274320"/>
          </a:xfrm>
          <a:prstGeom prst="rect">
            <a:avLst/>
          </a:prstGeom>
          <a:noFill/>
          <a:ln/>
        </p:spPr>
        <p:txBody>
          <a:bodyPr wrap="square" lIns="0" tIns="0" rIns="0" bIns="0" rtlCol="0" anchor="t"/>
          <a:lstStyle/>
          <a:p>
            <a:pPr marL="0" indent="0">
              <a:buNone/>
            </a:pPr>
            <a:r>
              <a:rPr lang="en-US" sz="1500" b="1" dirty="0">
                <a:solidFill>
                  <a:schemeClr val="tx2"/>
                </a:solidFill>
              </a:rPr>
              <a:t>Wanniarachchi P.M.R</a:t>
            </a:r>
            <a:endParaRPr lang="en-US" sz="1500" dirty="0"/>
          </a:p>
        </p:txBody>
      </p:sp>
      <p:sp>
        <p:nvSpPr>
          <p:cNvPr id="14" name="Text 12"/>
          <p:cNvSpPr txBox="1"/>
          <p:nvPr/>
        </p:nvSpPr>
        <p:spPr>
          <a:xfrm>
            <a:off x="6507328" y="2029968"/>
            <a:ext cx="3032608" cy="228600"/>
          </a:xfrm>
          <a:prstGeom prst="rect">
            <a:avLst/>
          </a:prstGeom>
          <a:noFill/>
          <a:ln/>
        </p:spPr>
        <p:txBody>
          <a:bodyPr wrap="square" lIns="0" tIns="0" rIns="0" bIns="0" rtlCol="0" anchor="t"/>
          <a:lstStyle/>
          <a:p>
            <a:pPr marL="0" indent="0">
              <a:buNone/>
            </a:pPr>
            <a:r>
              <a:rPr lang="en-US" sz="1100" dirty="0">
                <a:solidFill>
                  <a:schemeClr val="accent5"/>
                </a:solidFill>
              </a:rPr>
              <a:t>Itinerary Planner</a:t>
            </a:r>
            <a:endParaRPr lang="en-US" sz="1100" dirty="0"/>
          </a:p>
        </p:txBody>
      </p:sp>
      <p:sp>
        <p:nvSpPr>
          <p:cNvPr id="15" name="Text 13"/>
          <p:cNvSpPr txBox="1"/>
          <p:nvPr/>
        </p:nvSpPr>
        <p:spPr>
          <a:xfrm>
            <a:off x="6507328" y="2304288"/>
            <a:ext cx="3032608" cy="502920"/>
          </a:xfrm>
          <a:prstGeom prst="rect">
            <a:avLst/>
          </a:prstGeom>
          <a:noFill/>
          <a:ln/>
        </p:spPr>
        <p:txBody>
          <a:bodyPr wrap="square" lIns="0" tIns="0" rIns="0" bIns="0" rtlCol="0" anchor="t"/>
          <a:lstStyle/>
          <a:p>
            <a:pPr marL="0" indent="0">
              <a:buNone/>
            </a:pPr>
            <a:r>
              <a:rPr lang="en-US" sz="1200" i="1" dirty="0">
                <a:solidFill>
                  <a:schemeClr val="accent3"/>
                </a:solidFill>
              </a:rPr>
              <a:t>“Could not clearly explain how places are suggested from the other inputs”</a:t>
            </a:r>
            <a:endParaRPr lang="en-US" sz="1200" dirty="0"/>
          </a:p>
        </p:txBody>
      </p:sp>
      <p:sp>
        <p:nvSpPr>
          <p:cNvPr id="16" name="Text 14"/>
          <p:cNvSpPr txBox="1"/>
          <p:nvPr/>
        </p:nvSpPr>
        <p:spPr>
          <a:xfrm>
            <a:off x="6507328" y="2834640"/>
            <a:ext cx="3032608" cy="868680"/>
          </a:xfrm>
          <a:prstGeom prst="rect">
            <a:avLst/>
          </a:prstGeom>
          <a:noFill/>
          <a:ln/>
        </p:spPr>
        <p:txBody>
          <a:bodyPr wrap="square" lIns="0" tIns="0" rIns="0" bIns="0" rtlCol="0" anchor="t"/>
          <a:lstStyle/>
          <a:p>
            <a:pPr marL="0" indent="0">
              <a:buNone/>
            </a:pPr>
            <a:r>
              <a:rPr lang="en-US" sz="1200" b="1" dirty="0">
                <a:solidFill>
                  <a:schemeClr val="tx1"/>
                </a:solidFill>
              </a:rPr>
              <a:t>Action: </a:t>
            </a:r>
            <a:r>
              <a:rPr lang="en-US" sz="1200" dirty="0">
                <a:solidFill>
                  <a:schemeClr val="tx1"/>
                </a:solidFill>
              </a:rPr>
              <a:t>Documented and demonstrated the full decision flow, with each input mapped to the model that uses it</a:t>
            </a:r>
            <a:endParaRPr lang="en-US" sz="1200" dirty="0"/>
          </a:p>
        </p:txBody>
      </p:sp>
      <p:sp>
        <p:nvSpPr>
          <p:cNvPr id="17" name="Shape 15"/>
          <p:cNvSpPr/>
          <p:nvPr/>
        </p:nvSpPr>
        <p:spPr>
          <a:xfrm>
            <a:off x="9631375" y="1783080"/>
            <a:ext cx="1783080" cy="1783080"/>
          </a:xfrm>
          <a:prstGeom prst="roundRect">
            <a:avLst>
              <a:gd name="adj" fmla="val 6154"/>
            </a:avLst>
          </a:prstGeom>
          <a:solidFill>
            <a:schemeClr val="bg2"/>
          </a:solidFill>
          <a:ln/>
        </p:spPr>
        <p:txBody>
          <a:bodyPr/>
          <a:lstStyle/>
          <a:p>
            <a:endParaRPr lang="en-US"/>
          </a:p>
        </p:txBody>
      </p:sp>
      <p:sp>
        <p:nvSpPr>
          <p:cNvPr id="18" name="Text 16"/>
          <p:cNvSpPr txBox="1"/>
          <p:nvPr/>
        </p:nvSpPr>
        <p:spPr>
          <a:xfrm>
            <a:off x="9677095" y="1920240"/>
            <a:ext cx="1691640" cy="594360"/>
          </a:xfrm>
          <a:prstGeom prst="rect">
            <a:avLst/>
          </a:prstGeom>
          <a:noFill/>
          <a:ln/>
        </p:spPr>
        <p:txBody>
          <a:bodyPr wrap="square" lIns="0" tIns="0" rIns="0" bIns="0" rtlCol="0" anchor="ctr"/>
          <a:lstStyle/>
          <a:p>
            <a:pPr marL="0" indent="0" algn="ctr">
              <a:buNone/>
            </a:pPr>
            <a:r>
              <a:rPr lang="en-US" sz="2400" b="1" dirty="0">
                <a:solidFill>
                  <a:schemeClr val="accent1"/>
                </a:solidFill>
                <a:latin typeface="Arial" pitchFamily="34" charset="0"/>
                <a:ea typeface="Arial" pitchFamily="34" charset="-122"/>
                <a:cs typeface="Arial" pitchFamily="34" charset="-120"/>
              </a:rPr>
              <a:t>6 inputs</a:t>
            </a:r>
            <a:endParaRPr lang="en-US" sz="2400" dirty="0"/>
          </a:p>
        </p:txBody>
      </p:sp>
      <p:sp>
        <p:nvSpPr>
          <p:cNvPr id="19" name="Text 17"/>
          <p:cNvSpPr txBox="1"/>
          <p:nvPr/>
        </p:nvSpPr>
        <p:spPr>
          <a:xfrm>
            <a:off x="9722815" y="2542032"/>
            <a:ext cx="1600200" cy="914400"/>
          </a:xfrm>
          <a:prstGeom prst="rect">
            <a:avLst/>
          </a:prstGeom>
          <a:noFill/>
          <a:ln/>
        </p:spPr>
        <p:txBody>
          <a:bodyPr wrap="square" lIns="0" tIns="0" rIns="0" bIns="0" rtlCol="0" anchor="t"/>
          <a:lstStyle/>
          <a:p>
            <a:pPr marL="0" indent="0" algn="ctr">
              <a:buNone/>
            </a:pPr>
            <a:r>
              <a:rPr lang="en-US" sz="1100" dirty="0">
                <a:solidFill>
                  <a:schemeClr val="tx1"/>
                </a:solidFill>
              </a:rPr>
              <a:t>each mapped to a model; training workbooks, CV metrics, sample itineraries</a:t>
            </a:r>
            <a:endParaRPr lang="en-US" sz="1100" dirty="0"/>
          </a:p>
        </p:txBody>
      </p:sp>
      <p:sp>
        <p:nvSpPr>
          <p:cNvPr id="20" name="PP2 card 3"/>
          <p:cNvSpPr/>
          <p:nvPr/>
        </p:nvSpPr>
        <p:spPr>
          <a:xfrm>
            <a:off x="548640" y="4069080"/>
            <a:ext cx="5410048" cy="2240280"/>
          </a:xfrm>
          <a:prstGeom prst="roundRect">
            <a:avLst>
              <a:gd name="adj" fmla="val 4898"/>
            </a:avLst>
          </a:prstGeom>
          <a:solidFill>
            <a:schemeClr val="bg1"/>
          </a:solidFill>
          <a:ln w="9525">
            <a:solidFill>
              <a:srgbClr val="DCE6E2"/>
            </a:solidFill>
            <a:prstDash val="solid"/>
          </a:ln>
          <a:effectLst>
            <a:outerShdw blurRad="101600" dist="25400" dir="5400000" algn="bl" rotWithShape="0">
              <a:srgbClr val="000000">
                <a:alpha val="12000"/>
              </a:srgbClr>
            </a:outerShdw>
          </a:effectLst>
        </p:spPr>
        <p:txBody>
          <a:bodyPr/>
          <a:lstStyle/>
          <a:p>
            <a:endParaRPr lang="en-US"/>
          </a:p>
        </p:txBody>
      </p:sp>
      <p:sp>
        <p:nvSpPr>
          <p:cNvPr id="21" name="Text 19"/>
          <p:cNvSpPr txBox="1"/>
          <p:nvPr/>
        </p:nvSpPr>
        <p:spPr>
          <a:xfrm>
            <a:off x="822960" y="4270248"/>
            <a:ext cx="3032608" cy="274320"/>
          </a:xfrm>
          <a:prstGeom prst="rect">
            <a:avLst/>
          </a:prstGeom>
          <a:noFill/>
          <a:ln/>
        </p:spPr>
        <p:txBody>
          <a:bodyPr wrap="square" lIns="0" tIns="0" rIns="0" bIns="0" rtlCol="0" anchor="t"/>
          <a:lstStyle/>
          <a:p>
            <a:pPr marL="0" indent="0">
              <a:buNone/>
            </a:pPr>
            <a:r>
              <a:rPr lang="en-US" sz="1500" b="1" dirty="0">
                <a:solidFill>
                  <a:schemeClr val="tx2"/>
                </a:solidFill>
              </a:rPr>
              <a:t>De Silva D.C.M</a:t>
            </a:r>
            <a:endParaRPr lang="en-US" sz="1500" dirty="0"/>
          </a:p>
        </p:txBody>
      </p:sp>
      <p:sp>
        <p:nvSpPr>
          <p:cNvPr id="22" name="Text 20"/>
          <p:cNvSpPr txBox="1"/>
          <p:nvPr/>
        </p:nvSpPr>
        <p:spPr>
          <a:xfrm>
            <a:off x="822960" y="4544568"/>
            <a:ext cx="3032608" cy="228600"/>
          </a:xfrm>
          <a:prstGeom prst="rect">
            <a:avLst/>
          </a:prstGeom>
          <a:noFill/>
          <a:ln/>
        </p:spPr>
        <p:txBody>
          <a:bodyPr wrap="square" lIns="0" tIns="0" rIns="0" bIns="0" rtlCol="0" anchor="t"/>
          <a:lstStyle/>
          <a:p>
            <a:pPr marL="0" indent="0">
              <a:buNone/>
            </a:pPr>
            <a:r>
              <a:rPr lang="en-US" sz="1100" dirty="0">
                <a:solidFill>
                  <a:schemeClr val="accent5"/>
                </a:solidFill>
              </a:rPr>
              <a:t>Wellness Matching</a:t>
            </a:r>
            <a:endParaRPr lang="en-US" sz="1100" dirty="0"/>
          </a:p>
        </p:txBody>
      </p:sp>
      <p:sp>
        <p:nvSpPr>
          <p:cNvPr id="23" name="Text 21"/>
          <p:cNvSpPr txBox="1"/>
          <p:nvPr/>
        </p:nvSpPr>
        <p:spPr>
          <a:xfrm>
            <a:off x="822960" y="4818888"/>
            <a:ext cx="3032608" cy="502920"/>
          </a:xfrm>
          <a:prstGeom prst="rect">
            <a:avLst/>
          </a:prstGeom>
          <a:noFill/>
          <a:ln/>
        </p:spPr>
        <p:txBody>
          <a:bodyPr wrap="square" lIns="0" tIns="0" rIns="0" bIns="0" rtlCol="0" anchor="t"/>
          <a:lstStyle/>
          <a:p>
            <a:pPr marL="0" indent="0">
              <a:buNone/>
            </a:pPr>
            <a:r>
              <a:rPr lang="en-US" sz="1200" i="1" dirty="0">
                <a:solidFill>
                  <a:schemeClr val="accent3"/>
                </a:solidFill>
              </a:rPr>
              <a:t>“Models seemed hardcoded; panel asked to see trained models”</a:t>
            </a:r>
            <a:endParaRPr lang="en-US" sz="1200" dirty="0"/>
          </a:p>
        </p:txBody>
      </p:sp>
      <p:sp>
        <p:nvSpPr>
          <p:cNvPr id="24" name="Text 22"/>
          <p:cNvSpPr txBox="1"/>
          <p:nvPr/>
        </p:nvSpPr>
        <p:spPr>
          <a:xfrm>
            <a:off x="822960" y="5349240"/>
            <a:ext cx="3032608" cy="868680"/>
          </a:xfrm>
          <a:prstGeom prst="rect">
            <a:avLst/>
          </a:prstGeom>
          <a:noFill/>
          <a:ln/>
        </p:spPr>
        <p:txBody>
          <a:bodyPr wrap="square" lIns="0" tIns="0" rIns="0" bIns="0" rtlCol="0" anchor="t"/>
          <a:lstStyle/>
          <a:p>
            <a:pPr marL="0" indent="0">
              <a:buNone/>
            </a:pPr>
            <a:r>
              <a:rPr lang="en-US" sz="1200" b="1" dirty="0">
                <a:solidFill>
                  <a:schemeClr val="tx1"/>
                </a:solidFill>
              </a:rPr>
              <a:t>Action: </a:t>
            </a:r>
            <a:r>
              <a:rPr lang="en-US" sz="1200" dirty="0">
                <a:solidFill>
                  <a:schemeClr val="tx1"/>
                </a:solidFill>
              </a:rPr>
              <a:t>Retrained all 13 models from raw data in a Colab notebook; removed hardcoded metrics</a:t>
            </a:r>
            <a:endParaRPr lang="en-US" sz="1200" dirty="0"/>
          </a:p>
        </p:txBody>
      </p:sp>
      <p:sp>
        <p:nvSpPr>
          <p:cNvPr id="25" name="Shape 23"/>
          <p:cNvSpPr/>
          <p:nvPr/>
        </p:nvSpPr>
        <p:spPr>
          <a:xfrm>
            <a:off x="3947008" y="4297680"/>
            <a:ext cx="1783080" cy="1783080"/>
          </a:xfrm>
          <a:prstGeom prst="roundRect">
            <a:avLst>
              <a:gd name="adj" fmla="val 6154"/>
            </a:avLst>
          </a:prstGeom>
          <a:solidFill>
            <a:schemeClr val="bg2"/>
          </a:solidFill>
          <a:ln/>
        </p:spPr>
        <p:txBody>
          <a:bodyPr/>
          <a:lstStyle/>
          <a:p>
            <a:endParaRPr lang="en-US"/>
          </a:p>
        </p:txBody>
      </p:sp>
      <p:sp>
        <p:nvSpPr>
          <p:cNvPr id="26" name="Text 24"/>
          <p:cNvSpPr txBox="1"/>
          <p:nvPr/>
        </p:nvSpPr>
        <p:spPr>
          <a:xfrm>
            <a:off x="3992728" y="4434840"/>
            <a:ext cx="1691640" cy="594360"/>
          </a:xfrm>
          <a:prstGeom prst="rect">
            <a:avLst/>
          </a:prstGeom>
          <a:noFill/>
          <a:ln/>
        </p:spPr>
        <p:txBody>
          <a:bodyPr wrap="square" lIns="0" tIns="0" rIns="0" bIns="0" rtlCol="0" anchor="ctr"/>
          <a:lstStyle/>
          <a:p>
            <a:pPr marL="0" indent="0" algn="ctr">
              <a:buNone/>
            </a:pPr>
            <a:r>
              <a:rPr lang="en-US" sz="3000" b="1" dirty="0">
                <a:solidFill>
                  <a:schemeClr val="accent1"/>
                </a:solidFill>
                <a:latin typeface="Arial" pitchFamily="34" charset="0"/>
                <a:ea typeface="Arial" pitchFamily="34" charset="-122"/>
                <a:cs typeface="Arial" pitchFamily="34" charset="-120"/>
              </a:rPr>
              <a:t>13</a:t>
            </a:r>
            <a:endParaRPr lang="en-US" sz="3000" dirty="0"/>
          </a:p>
        </p:txBody>
      </p:sp>
      <p:sp>
        <p:nvSpPr>
          <p:cNvPr id="27" name="Text 25"/>
          <p:cNvSpPr txBox="1"/>
          <p:nvPr/>
        </p:nvSpPr>
        <p:spPr>
          <a:xfrm>
            <a:off x="4038448" y="5056632"/>
            <a:ext cx="1600200" cy="914400"/>
          </a:xfrm>
          <a:prstGeom prst="rect">
            <a:avLst/>
          </a:prstGeom>
          <a:noFill/>
          <a:ln/>
        </p:spPr>
        <p:txBody>
          <a:bodyPr wrap="square" lIns="0" tIns="0" rIns="0" bIns="0" rtlCol="0" anchor="t"/>
          <a:lstStyle/>
          <a:p>
            <a:pPr marL="0" indent="0" algn="ctr">
              <a:buNone/>
            </a:pPr>
            <a:r>
              <a:rPr lang="en-US" sz="1100" dirty="0">
                <a:solidFill>
                  <a:schemeClr val="tx1"/>
                </a:solidFill>
              </a:rPr>
              <a:t>models retrained in a reproducible Colab notebook</a:t>
            </a:r>
            <a:endParaRPr lang="en-US" sz="1100" dirty="0"/>
          </a:p>
        </p:txBody>
      </p:sp>
      <p:sp>
        <p:nvSpPr>
          <p:cNvPr id="28" name="PP2 card 4"/>
          <p:cNvSpPr/>
          <p:nvPr/>
        </p:nvSpPr>
        <p:spPr>
          <a:xfrm>
            <a:off x="6233008" y="4069080"/>
            <a:ext cx="5410048" cy="2240280"/>
          </a:xfrm>
          <a:prstGeom prst="roundRect">
            <a:avLst>
              <a:gd name="adj" fmla="val 4898"/>
            </a:avLst>
          </a:prstGeom>
          <a:solidFill>
            <a:schemeClr val="bg1"/>
          </a:solidFill>
          <a:ln w="9525">
            <a:solidFill>
              <a:srgbClr val="DCE6E2"/>
            </a:solidFill>
            <a:prstDash val="solid"/>
          </a:ln>
          <a:effectLst>
            <a:outerShdw blurRad="101600" dist="25400" dir="5400000" algn="bl" rotWithShape="0">
              <a:srgbClr val="000000">
                <a:alpha val="12000"/>
              </a:srgbClr>
            </a:outerShdw>
          </a:effectLst>
        </p:spPr>
        <p:txBody>
          <a:bodyPr/>
          <a:lstStyle/>
          <a:p>
            <a:endParaRPr lang="en-US"/>
          </a:p>
        </p:txBody>
      </p:sp>
      <p:sp>
        <p:nvSpPr>
          <p:cNvPr id="29" name="Text 27"/>
          <p:cNvSpPr txBox="1"/>
          <p:nvPr/>
        </p:nvSpPr>
        <p:spPr>
          <a:xfrm>
            <a:off x="6507328" y="4270248"/>
            <a:ext cx="3032608" cy="274320"/>
          </a:xfrm>
          <a:prstGeom prst="rect">
            <a:avLst/>
          </a:prstGeom>
          <a:noFill/>
          <a:ln/>
        </p:spPr>
        <p:txBody>
          <a:bodyPr wrap="square" lIns="0" tIns="0" rIns="0" bIns="0" rtlCol="0" anchor="t"/>
          <a:lstStyle/>
          <a:p>
            <a:pPr marL="0" indent="0">
              <a:buNone/>
            </a:pPr>
            <a:r>
              <a:rPr lang="en-US" sz="1500" b="1" dirty="0">
                <a:solidFill>
                  <a:schemeClr val="tx2"/>
                </a:solidFill>
              </a:rPr>
              <a:t>Abinaya R</a:t>
            </a:r>
            <a:endParaRPr lang="en-US" sz="1500" dirty="0"/>
          </a:p>
        </p:txBody>
      </p:sp>
      <p:sp>
        <p:nvSpPr>
          <p:cNvPr id="30" name="Text 28"/>
          <p:cNvSpPr txBox="1"/>
          <p:nvPr/>
        </p:nvSpPr>
        <p:spPr>
          <a:xfrm>
            <a:off x="6507328" y="4544568"/>
            <a:ext cx="3032608" cy="228600"/>
          </a:xfrm>
          <a:prstGeom prst="rect">
            <a:avLst/>
          </a:prstGeom>
          <a:noFill/>
          <a:ln/>
        </p:spPr>
        <p:txBody>
          <a:bodyPr wrap="square" lIns="0" tIns="0" rIns="0" bIns="0" rtlCol="0" anchor="t"/>
          <a:lstStyle/>
          <a:p>
            <a:pPr marL="0" indent="0">
              <a:buNone/>
            </a:pPr>
            <a:r>
              <a:rPr lang="en-US" sz="1100" dirty="0">
                <a:solidFill>
                  <a:schemeClr val="accent5"/>
                </a:solidFill>
              </a:rPr>
              <a:t>Tourism Risk Intelligence</a:t>
            </a:r>
            <a:endParaRPr lang="en-US" sz="1100" dirty="0"/>
          </a:p>
        </p:txBody>
      </p:sp>
      <p:sp>
        <p:nvSpPr>
          <p:cNvPr id="31" name="Text 29"/>
          <p:cNvSpPr txBox="1"/>
          <p:nvPr/>
        </p:nvSpPr>
        <p:spPr>
          <a:xfrm>
            <a:off x="6507328" y="4818888"/>
            <a:ext cx="3032608" cy="502920"/>
          </a:xfrm>
          <a:prstGeom prst="rect">
            <a:avLst/>
          </a:prstGeom>
          <a:noFill/>
          <a:ln/>
        </p:spPr>
        <p:txBody>
          <a:bodyPr wrap="square" lIns="0" tIns="0" rIns="0" bIns="0" rtlCol="0" anchor="t"/>
          <a:lstStyle/>
          <a:p>
            <a:pPr marL="0" indent="0">
              <a:buNone/>
            </a:pPr>
            <a:r>
              <a:rPr lang="en-US" sz="1200" i="1" dirty="0">
                <a:solidFill>
                  <a:schemeClr val="accent3"/>
                </a:solidFill>
              </a:rPr>
              <a:t>“Better validate the result”</a:t>
            </a:r>
            <a:endParaRPr lang="en-US" sz="1200" dirty="0"/>
          </a:p>
        </p:txBody>
      </p:sp>
      <p:sp>
        <p:nvSpPr>
          <p:cNvPr id="32" name="Text 30"/>
          <p:cNvSpPr txBox="1"/>
          <p:nvPr/>
        </p:nvSpPr>
        <p:spPr>
          <a:xfrm>
            <a:off x="6507328" y="5349240"/>
            <a:ext cx="3032608" cy="868680"/>
          </a:xfrm>
          <a:prstGeom prst="rect">
            <a:avLst/>
          </a:prstGeom>
          <a:noFill/>
          <a:ln/>
        </p:spPr>
        <p:txBody>
          <a:bodyPr wrap="square" lIns="0" tIns="0" rIns="0" bIns="0" rtlCol="0" anchor="t"/>
          <a:lstStyle/>
          <a:p>
            <a:pPr marL="0" indent="0">
              <a:buNone/>
            </a:pPr>
            <a:r>
              <a:rPr lang="en-US" sz="1200" b="1" dirty="0">
                <a:solidFill>
                  <a:schemeClr val="tx1"/>
                </a:solidFill>
              </a:rPr>
              <a:t>Action: </a:t>
            </a:r>
            <a:r>
              <a:rPr lang="en-US" sz="1200" dirty="0">
                <a:solidFill>
                  <a:schemeClr val="tx1"/>
                </a:solidFill>
              </a:rPr>
              <a:t>Tested on 10 unseen sites, added a mean-predictor baseline, audited the data (issues found and disclosed), verified the live API on 3 sites</a:t>
            </a:r>
            <a:endParaRPr lang="en-US" sz="1200" dirty="0"/>
          </a:p>
        </p:txBody>
      </p:sp>
      <p:sp>
        <p:nvSpPr>
          <p:cNvPr id="33" name="Shape 31"/>
          <p:cNvSpPr/>
          <p:nvPr/>
        </p:nvSpPr>
        <p:spPr>
          <a:xfrm>
            <a:off x="9631375" y="4297680"/>
            <a:ext cx="1783080" cy="1783080"/>
          </a:xfrm>
          <a:prstGeom prst="roundRect">
            <a:avLst>
              <a:gd name="adj" fmla="val 6154"/>
            </a:avLst>
          </a:prstGeom>
          <a:solidFill>
            <a:schemeClr val="bg2"/>
          </a:solidFill>
          <a:ln/>
        </p:spPr>
        <p:txBody>
          <a:bodyPr/>
          <a:lstStyle/>
          <a:p>
            <a:endParaRPr lang="en-US"/>
          </a:p>
        </p:txBody>
      </p:sp>
      <p:sp>
        <p:nvSpPr>
          <p:cNvPr id="34" name="Text 32"/>
          <p:cNvSpPr txBox="1"/>
          <p:nvPr/>
        </p:nvSpPr>
        <p:spPr>
          <a:xfrm>
            <a:off x="9677095" y="4434840"/>
            <a:ext cx="1691640" cy="594360"/>
          </a:xfrm>
          <a:prstGeom prst="rect">
            <a:avLst/>
          </a:prstGeom>
          <a:noFill/>
          <a:ln/>
        </p:spPr>
        <p:txBody>
          <a:bodyPr wrap="square" lIns="0" tIns="0" rIns="0" bIns="0" rtlCol="0" anchor="ctr"/>
          <a:lstStyle/>
          <a:p>
            <a:pPr marL="0" indent="0" algn="ctr">
              <a:buNone/>
            </a:pPr>
            <a:r>
              <a:rPr lang="en-US" sz="3000" b="1" dirty="0">
                <a:solidFill>
                  <a:schemeClr val="accent1"/>
                </a:solidFill>
                <a:latin typeface="Arial" pitchFamily="34" charset="0"/>
                <a:ea typeface="Arial" pitchFamily="34" charset="-122"/>
                <a:cs typeface="Arial" pitchFamily="34" charset="-120"/>
              </a:rPr>
              <a:t>37%</a:t>
            </a:r>
            <a:endParaRPr lang="en-US" sz="3000" dirty="0"/>
          </a:p>
        </p:txBody>
      </p:sp>
      <p:sp>
        <p:nvSpPr>
          <p:cNvPr id="35" name="Text 33"/>
          <p:cNvSpPr txBox="1"/>
          <p:nvPr/>
        </p:nvSpPr>
        <p:spPr>
          <a:xfrm>
            <a:off x="9722815" y="5056632"/>
            <a:ext cx="1600200" cy="914400"/>
          </a:xfrm>
          <a:prstGeom prst="rect">
            <a:avLst/>
          </a:prstGeom>
          <a:noFill/>
          <a:ln/>
        </p:spPr>
        <p:txBody>
          <a:bodyPr wrap="square" lIns="0" tIns="0" rIns="0" bIns="0" rtlCol="0" anchor="t"/>
          <a:lstStyle/>
          <a:p>
            <a:pPr marL="0" indent="0" algn="ctr">
              <a:buNone/>
            </a:pPr>
            <a:r>
              <a:rPr lang="en-US" sz="1100" dirty="0">
                <a:solidFill>
                  <a:schemeClr val="tx1"/>
                </a:solidFill>
              </a:rPr>
              <a:t>lower MAE on unseen sites (0.1232 vs 0.1967 baseline)</a:t>
            </a:r>
            <a:endParaRPr lang="en-US" sz="1100" dirty="0"/>
          </a:p>
        </p:txBody>
      </p:sp>
      <p:sp>
        <p:nvSpPr>
          <p:cNvPr id="36"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5"/>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Kicker"/>
          <p:cNvSpPr txBox="1"/>
          <p:nvPr/>
        </p:nvSpPr>
        <p:spPr>
          <a:xfrm>
            <a:off x="548640" y="384048"/>
            <a:ext cx="7498080" cy="274320"/>
          </a:xfrm>
          <a:prstGeom prst="rect">
            <a:avLst/>
          </a:prstGeom>
          <a:noFill/>
          <a:ln/>
        </p:spPr>
        <p:txBody>
          <a:bodyPr wrap="square" lIns="0" tIns="0" rIns="0" bIns="0" rtlCol="0" anchor="ctr"/>
          <a:lstStyle/>
          <a:p>
            <a:pPr marL="0" indent="0">
              <a:buNone/>
            </a:pPr>
            <a:r>
              <a:rPr lang="en-US" sz="1200" b="1" kern="0" spc="200" dirty="0">
                <a:solidFill>
                  <a:schemeClr val="accent1"/>
                </a:solidFill>
              </a:rPr>
              <a:t>THE PROBLEM</a:t>
            </a:r>
            <a:endParaRPr lang="en-US" sz="1200" dirty="0"/>
          </a:p>
        </p:txBody>
      </p:sp>
      <p:sp>
        <p:nvSpPr>
          <p:cNvPr id="3" name="Title"/>
          <p:cNvSpPr txBox="1"/>
          <p:nvPr/>
        </p:nvSpPr>
        <p:spPr>
          <a:xfrm>
            <a:off x="548640" y="658368"/>
            <a:ext cx="7498080" cy="640080"/>
          </a:xfrm>
          <a:prstGeom prst="rect">
            <a:avLst/>
          </a:prstGeom>
          <a:noFill/>
          <a:ln/>
        </p:spPr>
        <p:txBody>
          <a:bodyPr wrap="square" lIns="0" tIns="0" rIns="0" bIns="0" rtlCol="0" anchor="ctr"/>
          <a:lstStyle/>
          <a:p>
            <a:pPr marL="0" indent="0">
              <a:buNone/>
            </a:pPr>
            <a:r>
              <a:rPr lang="en-US" sz="3000" b="1" dirty="0">
                <a:solidFill>
                  <a:schemeClr val="tx2"/>
                </a:solidFill>
                <a:latin typeface="Arial" pitchFamily="34" charset="0"/>
                <a:ea typeface="Arial" pitchFamily="34" charset="-122"/>
                <a:cs typeface="Arial" pitchFamily="34" charset="-120"/>
              </a:rPr>
              <a:t>2M+ tourists a year, fragmented support</a:t>
            </a:r>
            <a:endParaRPr lang="en-US" sz="3000" dirty="0"/>
          </a:p>
        </p:txBody>
      </p:sp>
      <p:pic>
        <p:nvPicPr>
          <p:cNvPr id="4" name="Image 0" descr="/home/claude/work/hills.jpg"/>
          <p:cNvPicPr>
            <a:picLocks noChangeAspect="1"/>
          </p:cNvPicPr>
          <p:nvPr/>
        </p:nvPicPr>
        <p:blipFill>
          <a:blip r:embed="rId3"/>
          <a:srcRect/>
          <a:stretch/>
        </p:blipFill>
        <p:spPr>
          <a:xfrm>
            <a:off x="8229600" y="411480"/>
            <a:ext cx="3413455" cy="5806440"/>
          </a:xfrm>
          <a:prstGeom prst="rect">
            <a:avLst/>
          </a:prstGeom>
        </p:spPr>
      </p:pic>
      <p:sp>
        <p:nvSpPr>
          <p:cNvPr id="5" name="Shape 2"/>
          <p:cNvSpPr/>
          <p:nvPr/>
        </p:nvSpPr>
        <p:spPr>
          <a:xfrm>
            <a:off x="548640" y="1600200"/>
            <a:ext cx="731520" cy="731520"/>
          </a:xfrm>
          <a:prstGeom prst="ellipse">
            <a:avLst/>
          </a:prstGeom>
          <a:solidFill>
            <a:schemeClr val="accent3"/>
          </a:solidFill>
          <a:ln/>
        </p:spPr>
        <p:txBody>
          <a:bodyPr/>
          <a:lstStyle/>
          <a:p>
            <a:endParaRPr lang="en-US"/>
          </a:p>
        </p:txBody>
      </p:sp>
      <p:pic>
        <p:nvPicPr>
          <p:cNvPr id="6" name="Image 1" descr="preencoded.png"/>
          <p:cNvPicPr>
            <a:picLocks noChangeAspect="1"/>
          </p:cNvPicPr>
          <p:nvPr/>
        </p:nvPicPr>
        <p:blipFill>
          <a:blip r:embed="rId4"/>
          <a:stretch>
            <a:fillRect/>
          </a:stretch>
        </p:blipFill>
        <p:spPr>
          <a:xfrm>
            <a:off x="731520" y="1783080"/>
            <a:ext cx="365760" cy="365760"/>
          </a:xfrm>
          <a:prstGeom prst="rect">
            <a:avLst/>
          </a:prstGeom>
        </p:spPr>
      </p:pic>
      <p:sp>
        <p:nvSpPr>
          <p:cNvPr id="7" name="Text 3"/>
          <p:cNvSpPr txBox="1"/>
          <p:nvPr/>
        </p:nvSpPr>
        <p:spPr>
          <a:xfrm>
            <a:off x="1508760" y="1618488"/>
            <a:ext cx="6400800" cy="347472"/>
          </a:xfrm>
          <a:prstGeom prst="rect">
            <a:avLst/>
          </a:prstGeom>
          <a:noFill/>
          <a:ln/>
        </p:spPr>
        <p:txBody>
          <a:bodyPr wrap="square" lIns="0" tIns="0" rIns="0" bIns="0" rtlCol="0" anchor="t"/>
          <a:lstStyle/>
          <a:p>
            <a:pPr marL="0" indent="0">
              <a:buNone/>
            </a:pPr>
            <a:r>
              <a:rPr lang="en-US" sz="1800" b="1" dirty="0">
                <a:solidFill>
                  <a:schemeClr val="tx2"/>
                </a:solidFill>
              </a:rPr>
              <a:t>Emergency help isn't built for tourists</a:t>
            </a:r>
            <a:endParaRPr lang="en-US" sz="1800" dirty="0"/>
          </a:p>
        </p:txBody>
      </p:sp>
      <p:sp>
        <p:nvSpPr>
          <p:cNvPr id="8" name="Text 4"/>
          <p:cNvSpPr txBox="1"/>
          <p:nvPr/>
        </p:nvSpPr>
        <p:spPr>
          <a:xfrm>
            <a:off x="1508760" y="1984248"/>
            <a:ext cx="6400800" cy="365760"/>
          </a:xfrm>
          <a:prstGeom prst="rect">
            <a:avLst/>
          </a:prstGeom>
          <a:noFill/>
          <a:ln/>
        </p:spPr>
        <p:txBody>
          <a:bodyPr wrap="square" lIns="0" tIns="0" rIns="0" bIns="0" rtlCol="0" anchor="t"/>
          <a:lstStyle/>
          <a:p>
            <a:pPr marL="0" indent="0">
              <a:buNone/>
            </a:pPr>
            <a:r>
              <a:rPr lang="en-US" sz="1400" dirty="0">
                <a:solidFill>
                  <a:schemeClr val="accent5"/>
                </a:solidFill>
              </a:rPr>
              <a:t>No live GPS location and no multilingual support when something goes wrong</a:t>
            </a:r>
            <a:endParaRPr lang="en-US" sz="1400" dirty="0"/>
          </a:p>
        </p:txBody>
      </p:sp>
      <p:sp>
        <p:nvSpPr>
          <p:cNvPr id="9" name="Shape 5"/>
          <p:cNvSpPr/>
          <p:nvPr/>
        </p:nvSpPr>
        <p:spPr>
          <a:xfrm>
            <a:off x="548640" y="2651760"/>
            <a:ext cx="731520" cy="731520"/>
          </a:xfrm>
          <a:prstGeom prst="ellipse">
            <a:avLst/>
          </a:prstGeom>
          <a:solidFill>
            <a:schemeClr val="accent2"/>
          </a:solidFill>
          <a:ln/>
        </p:spPr>
        <p:txBody>
          <a:bodyPr/>
          <a:lstStyle/>
          <a:p>
            <a:endParaRPr lang="en-US"/>
          </a:p>
        </p:txBody>
      </p:sp>
      <p:pic>
        <p:nvPicPr>
          <p:cNvPr id="10" name="Image 2" descr="preencoded.png"/>
          <p:cNvPicPr>
            <a:picLocks noChangeAspect="1"/>
          </p:cNvPicPr>
          <p:nvPr/>
        </p:nvPicPr>
        <p:blipFill>
          <a:blip r:embed="rId5"/>
          <a:stretch>
            <a:fillRect/>
          </a:stretch>
        </p:blipFill>
        <p:spPr>
          <a:xfrm>
            <a:off x="731520" y="2834640"/>
            <a:ext cx="365760" cy="365760"/>
          </a:xfrm>
          <a:prstGeom prst="rect">
            <a:avLst/>
          </a:prstGeom>
        </p:spPr>
      </p:pic>
      <p:sp>
        <p:nvSpPr>
          <p:cNvPr id="11" name="Text 6"/>
          <p:cNvSpPr txBox="1"/>
          <p:nvPr/>
        </p:nvSpPr>
        <p:spPr>
          <a:xfrm>
            <a:off x="1508760" y="2670048"/>
            <a:ext cx="6400800" cy="347472"/>
          </a:xfrm>
          <a:prstGeom prst="rect">
            <a:avLst/>
          </a:prstGeom>
          <a:noFill/>
          <a:ln/>
        </p:spPr>
        <p:txBody>
          <a:bodyPr wrap="square" lIns="0" tIns="0" rIns="0" bIns="0" rtlCol="0" anchor="t"/>
          <a:lstStyle/>
          <a:p>
            <a:pPr marL="0" indent="0">
              <a:buNone/>
            </a:pPr>
            <a:r>
              <a:rPr lang="en-US" sz="1800" b="1" dirty="0">
                <a:solidFill>
                  <a:schemeClr val="tx2"/>
                </a:solidFill>
              </a:rPr>
              <a:t>Itineraries ignore crowding</a:t>
            </a:r>
            <a:endParaRPr lang="en-US" sz="1800" dirty="0"/>
          </a:p>
        </p:txBody>
      </p:sp>
      <p:sp>
        <p:nvSpPr>
          <p:cNvPr id="12" name="Text 7"/>
          <p:cNvSpPr txBox="1"/>
          <p:nvPr/>
        </p:nvSpPr>
        <p:spPr>
          <a:xfrm>
            <a:off x="1508760" y="3035808"/>
            <a:ext cx="6400800" cy="365760"/>
          </a:xfrm>
          <a:prstGeom prst="rect">
            <a:avLst/>
          </a:prstGeom>
          <a:noFill/>
          <a:ln/>
        </p:spPr>
        <p:txBody>
          <a:bodyPr wrap="square" lIns="0" tIns="0" rIns="0" bIns="0" rtlCol="0" anchor="t"/>
          <a:lstStyle/>
          <a:p>
            <a:pPr marL="0" indent="0">
              <a:buNone/>
            </a:pPr>
            <a:r>
              <a:rPr lang="en-US" sz="1400" dirty="0">
                <a:solidFill>
                  <a:schemeClr val="accent5"/>
                </a:solidFill>
              </a:rPr>
              <a:t>Plans send tourists to over-capacity sites such as Sigiriya and Ella</a:t>
            </a:r>
            <a:endParaRPr lang="en-US" sz="1400" dirty="0"/>
          </a:p>
        </p:txBody>
      </p:sp>
      <p:sp>
        <p:nvSpPr>
          <p:cNvPr id="13" name="Shape 8"/>
          <p:cNvSpPr/>
          <p:nvPr/>
        </p:nvSpPr>
        <p:spPr>
          <a:xfrm>
            <a:off x="548640" y="3703320"/>
            <a:ext cx="731520" cy="731520"/>
          </a:xfrm>
          <a:prstGeom prst="ellipse">
            <a:avLst/>
          </a:prstGeom>
          <a:solidFill>
            <a:schemeClr val="accent4"/>
          </a:solidFill>
          <a:ln/>
        </p:spPr>
        <p:txBody>
          <a:bodyPr/>
          <a:lstStyle/>
          <a:p>
            <a:endParaRPr lang="en-US"/>
          </a:p>
        </p:txBody>
      </p:sp>
      <p:pic>
        <p:nvPicPr>
          <p:cNvPr id="14" name="Image 3" descr="preencoded.png"/>
          <p:cNvPicPr>
            <a:picLocks noChangeAspect="1"/>
          </p:cNvPicPr>
          <p:nvPr/>
        </p:nvPicPr>
        <p:blipFill>
          <a:blip r:embed="rId6"/>
          <a:stretch>
            <a:fillRect/>
          </a:stretch>
        </p:blipFill>
        <p:spPr>
          <a:xfrm>
            <a:off x="731520" y="3886200"/>
            <a:ext cx="365760" cy="365760"/>
          </a:xfrm>
          <a:prstGeom prst="rect">
            <a:avLst/>
          </a:prstGeom>
        </p:spPr>
      </p:pic>
      <p:sp>
        <p:nvSpPr>
          <p:cNvPr id="15" name="Text 9"/>
          <p:cNvSpPr txBox="1"/>
          <p:nvPr/>
        </p:nvSpPr>
        <p:spPr>
          <a:xfrm>
            <a:off x="1508760" y="3721608"/>
            <a:ext cx="6400800" cy="347472"/>
          </a:xfrm>
          <a:prstGeom prst="rect">
            <a:avLst/>
          </a:prstGeom>
          <a:noFill/>
          <a:ln/>
        </p:spPr>
        <p:txBody>
          <a:bodyPr wrap="square" lIns="0" tIns="0" rIns="0" bIns="0" rtlCol="0" anchor="t"/>
          <a:lstStyle/>
          <a:p>
            <a:pPr marL="0" indent="0">
              <a:buNone/>
            </a:pPr>
            <a:r>
              <a:rPr lang="en-US" sz="1800" b="1" dirty="0">
                <a:solidFill>
                  <a:schemeClr val="tx2"/>
                </a:solidFill>
              </a:rPr>
              <a:t>Wellness providers are unverified</a:t>
            </a:r>
            <a:endParaRPr lang="en-US" sz="1800" dirty="0"/>
          </a:p>
        </p:txBody>
      </p:sp>
      <p:sp>
        <p:nvSpPr>
          <p:cNvPr id="16" name="Text 10"/>
          <p:cNvSpPr txBox="1"/>
          <p:nvPr/>
        </p:nvSpPr>
        <p:spPr>
          <a:xfrm>
            <a:off x="1508760" y="4087368"/>
            <a:ext cx="6400800" cy="365760"/>
          </a:xfrm>
          <a:prstGeom prst="rect">
            <a:avLst/>
          </a:prstGeom>
          <a:noFill/>
          <a:ln/>
        </p:spPr>
        <p:txBody>
          <a:bodyPr wrap="square" lIns="0" tIns="0" rIns="0" bIns="0" rtlCol="0" anchor="t"/>
          <a:lstStyle/>
          <a:p>
            <a:pPr marL="0" indent="0">
              <a:buNone/>
            </a:pPr>
            <a:r>
              <a:rPr lang="en-US" sz="1400" dirty="0">
                <a:solidFill>
                  <a:schemeClr val="accent5"/>
                </a:solidFill>
              </a:rPr>
              <a:t>Ayurveda and meditation centres are unregulated and hard to trust</a:t>
            </a:r>
            <a:endParaRPr lang="en-US" sz="1400" dirty="0"/>
          </a:p>
        </p:txBody>
      </p:sp>
      <p:sp>
        <p:nvSpPr>
          <p:cNvPr id="17" name="Shape 11"/>
          <p:cNvSpPr/>
          <p:nvPr/>
        </p:nvSpPr>
        <p:spPr>
          <a:xfrm>
            <a:off x="548640" y="4754880"/>
            <a:ext cx="731520" cy="731520"/>
          </a:xfrm>
          <a:prstGeom prst="ellipse">
            <a:avLst/>
          </a:prstGeom>
          <a:solidFill>
            <a:schemeClr val="accent1"/>
          </a:solidFill>
          <a:ln/>
        </p:spPr>
        <p:txBody>
          <a:bodyPr/>
          <a:lstStyle/>
          <a:p>
            <a:endParaRPr lang="en-US"/>
          </a:p>
        </p:txBody>
      </p:sp>
      <p:pic>
        <p:nvPicPr>
          <p:cNvPr id="18" name="Image 4" descr="preencoded.png"/>
          <p:cNvPicPr>
            <a:picLocks noChangeAspect="1"/>
          </p:cNvPicPr>
          <p:nvPr/>
        </p:nvPicPr>
        <p:blipFill>
          <a:blip r:embed="rId7"/>
          <a:stretch>
            <a:fillRect/>
          </a:stretch>
        </p:blipFill>
        <p:spPr>
          <a:xfrm>
            <a:off x="731520" y="4937760"/>
            <a:ext cx="365760" cy="365760"/>
          </a:xfrm>
          <a:prstGeom prst="rect">
            <a:avLst/>
          </a:prstGeom>
        </p:spPr>
      </p:pic>
      <p:sp>
        <p:nvSpPr>
          <p:cNvPr id="19" name="Text 12"/>
          <p:cNvSpPr txBox="1"/>
          <p:nvPr/>
        </p:nvSpPr>
        <p:spPr>
          <a:xfrm>
            <a:off x="1508760" y="4773168"/>
            <a:ext cx="6400800" cy="347472"/>
          </a:xfrm>
          <a:prstGeom prst="rect">
            <a:avLst/>
          </a:prstGeom>
          <a:noFill/>
          <a:ln/>
        </p:spPr>
        <p:txBody>
          <a:bodyPr wrap="square" lIns="0" tIns="0" rIns="0" bIns="0" rtlCol="0" anchor="t"/>
          <a:lstStyle/>
          <a:p>
            <a:pPr marL="0" indent="0">
              <a:buNone/>
            </a:pPr>
            <a:r>
              <a:rPr lang="en-US" sz="1800" b="1" dirty="0">
                <a:solidFill>
                  <a:schemeClr val="tx2"/>
                </a:solidFill>
              </a:rPr>
              <a:t>Crowding is managed after the fact</a:t>
            </a:r>
            <a:endParaRPr lang="en-US" sz="1800" dirty="0"/>
          </a:p>
        </p:txBody>
      </p:sp>
      <p:sp>
        <p:nvSpPr>
          <p:cNvPr id="20" name="Text 13"/>
          <p:cNvSpPr txBox="1"/>
          <p:nvPr/>
        </p:nvSpPr>
        <p:spPr>
          <a:xfrm>
            <a:off x="1508760" y="5138928"/>
            <a:ext cx="6400800" cy="365760"/>
          </a:xfrm>
          <a:prstGeom prst="rect">
            <a:avLst/>
          </a:prstGeom>
          <a:noFill/>
          <a:ln/>
        </p:spPr>
        <p:txBody>
          <a:bodyPr wrap="square" lIns="0" tIns="0" rIns="0" bIns="0" rtlCol="0" anchor="t"/>
          <a:lstStyle/>
          <a:p>
            <a:pPr marL="0" indent="0">
              <a:buNone/>
            </a:pPr>
            <a:r>
              <a:rPr lang="en-US" sz="1400" dirty="0">
                <a:solidFill>
                  <a:schemeClr val="accent5"/>
                </a:solidFill>
              </a:rPr>
              <a:t>Crowds are dealt with when they happen, not predicted in advance</a:t>
            </a:r>
            <a:endParaRPr lang="en-US" sz="1400" dirty="0"/>
          </a:p>
        </p:txBody>
      </p:sp>
      <p:sp>
        <p:nvSpPr>
          <p:cNvPr id="21" name="Shape 14"/>
          <p:cNvSpPr/>
          <p:nvPr/>
        </p:nvSpPr>
        <p:spPr>
          <a:xfrm>
            <a:off x="548640" y="5852160"/>
            <a:ext cx="7315200" cy="457200"/>
          </a:xfrm>
          <a:prstGeom prst="roundRect">
            <a:avLst>
              <a:gd name="adj" fmla="val 24000"/>
            </a:avLst>
          </a:prstGeom>
          <a:solidFill>
            <a:schemeClr val="bg2"/>
          </a:solidFill>
          <a:ln/>
        </p:spPr>
        <p:txBody>
          <a:bodyPr/>
          <a:lstStyle/>
          <a:p>
            <a:endParaRPr lang="en-US"/>
          </a:p>
        </p:txBody>
      </p:sp>
      <p:sp>
        <p:nvSpPr>
          <p:cNvPr id="22" name="Text 15"/>
          <p:cNvSpPr txBox="1"/>
          <p:nvPr/>
        </p:nvSpPr>
        <p:spPr>
          <a:xfrm>
            <a:off x="731520" y="5852160"/>
            <a:ext cx="7040880" cy="457200"/>
          </a:xfrm>
          <a:prstGeom prst="rect">
            <a:avLst/>
          </a:prstGeom>
          <a:noFill/>
          <a:ln/>
        </p:spPr>
        <p:txBody>
          <a:bodyPr wrap="square" lIns="0" tIns="0" rIns="0" bIns="0" rtlCol="0" anchor="ctr"/>
          <a:lstStyle/>
          <a:p>
            <a:pPr marL="0" indent="0">
              <a:buNone/>
            </a:pPr>
            <a:r>
              <a:rPr lang="en-US" sz="1300" i="1" dirty="0">
                <a:solidFill>
                  <a:schemeClr val="tx2"/>
                </a:solidFill>
              </a:rPr>
              <a:t>Existing tools cover one gap each; to our knowledge, none brings all four together for Sri Lanka.</a:t>
            </a:r>
            <a:endParaRPr lang="en-US" sz="13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5"/>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Kicker"/>
          <p:cNvSpPr txBox="1"/>
          <p:nvPr/>
        </p:nvSpPr>
        <p:spPr>
          <a:xfrm>
            <a:off x="548640" y="384048"/>
            <a:ext cx="11094415" cy="274320"/>
          </a:xfrm>
          <a:prstGeom prst="rect">
            <a:avLst/>
          </a:prstGeom>
          <a:noFill/>
          <a:ln/>
        </p:spPr>
        <p:txBody>
          <a:bodyPr wrap="square" lIns="0" tIns="0" rIns="0" bIns="0" rtlCol="0" anchor="ctr"/>
          <a:lstStyle/>
          <a:p>
            <a:pPr marL="0" indent="0">
              <a:buNone/>
            </a:pPr>
            <a:r>
              <a:rPr lang="en-US" sz="1200" b="1" kern="0" spc="200" dirty="0">
                <a:solidFill>
                  <a:schemeClr val="accent1"/>
                </a:solidFill>
              </a:rPr>
              <a:t>OUR SOLUTION  ·  INVENTIVE STEP</a:t>
            </a:r>
            <a:endParaRPr lang="en-US" sz="1200" dirty="0"/>
          </a:p>
        </p:txBody>
      </p:sp>
      <p:sp>
        <p:nvSpPr>
          <p:cNvPr id="3" name="Title"/>
          <p:cNvSpPr txBox="1"/>
          <p:nvPr/>
        </p:nvSpPr>
        <p:spPr>
          <a:xfrm>
            <a:off x="548640" y="658368"/>
            <a:ext cx="11094415" cy="640080"/>
          </a:xfrm>
          <a:prstGeom prst="rect">
            <a:avLst/>
          </a:prstGeom>
          <a:noFill/>
          <a:ln/>
        </p:spPr>
        <p:txBody>
          <a:bodyPr wrap="square" lIns="0" tIns="0" rIns="0" bIns="0" rtlCol="0" anchor="ctr"/>
          <a:lstStyle/>
          <a:p>
            <a:pPr marL="0" indent="0">
              <a:buNone/>
            </a:pPr>
            <a:r>
              <a:rPr lang="en-US" sz="3000" b="1" dirty="0">
                <a:solidFill>
                  <a:schemeClr val="tx2"/>
                </a:solidFill>
                <a:latin typeface="Arial" pitchFamily="34" charset="0"/>
                <a:ea typeface="Arial" pitchFamily="34" charset="-122"/>
                <a:cs typeface="Arial" pitchFamily="34" charset="-120"/>
              </a:rPr>
              <a:t>Four AI modules that feed each other on one platform</a:t>
            </a:r>
            <a:endParaRPr lang="en-US" sz="3000" dirty="0"/>
          </a:p>
        </p:txBody>
      </p:sp>
      <p:sp>
        <p:nvSpPr>
          <p:cNvPr id="4" name="Itinerary output"/>
          <p:cNvSpPr/>
          <p:nvPr/>
        </p:nvSpPr>
        <p:spPr>
          <a:xfrm>
            <a:off x="548640" y="1691640"/>
            <a:ext cx="4800600" cy="1051560"/>
          </a:xfrm>
          <a:prstGeom prst="roundRect">
            <a:avLst>
              <a:gd name="adj" fmla="val 10435"/>
            </a:avLst>
          </a:prstGeom>
          <a:solidFill>
            <a:schemeClr val="tx2"/>
          </a:solidFill>
          <a:ln/>
        </p:spPr>
        <p:txBody>
          <a:bodyPr/>
          <a:lstStyle/>
          <a:p>
            <a:endParaRPr lang="en-US"/>
          </a:p>
        </p:txBody>
      </p:sp>
      <p:sp>
        <p:nvSpPr>
          <p:cNvPr id="5" name="Shape 3"/>
          <p:cNvSpPr/>
          <p:nvPr/>
        </p:nvSpPr>
        <p:spPr>
          <a:xfrm>
            <a:off x="731520" y="1874520"/>
            <a:ext cx="685800" cy="685800"/>
          </a:xfrm>
          <a:prstGeom prst="ellipse">
            <a:avLst/>
          </a:prstGeom>
          <a:solidFill>
            <a:schemeClr val="accent2"/>
          </a:solidFill>
          <a:ln/>
        </p:spPr>
        <p:txBody>
          <a:bodyPr/>
          <a:lstStyle/>
          <a:p>
            <a:endParaRPr lang="en-US"/>
          </a:p>
        </p:txBody>
      </p:sp>
      <p:pic>
        <p:nvPicPr>
          <p:cNvPr id="6" name="Image 0" descr="preencoded.png"/>
          <p:cNvPicPr>
            <a:picLocks noChangeAspect="1"/>
          </p:cNvPicPr>
          <p:nvPr/>
        </p:nvPicPr>
        <p:blipFill>
          <a:blip r:embed="rId3"/>
          <a:stretch>
            <a:fillRect/>
          </a:stretch>
        </p:blipFill>
        <p:spPr>
          <a:xfrm>
            <a:off x="902970" y="2045970"/>
            <a:ext cx="342900" cy="342900"/>
          </a:xfrm>
          <a:prstGeom prst="rect">
            <a:avLst/>
          </a:prstGeom>
        </p:spPr>
      </p:pic>
      <p:sp>
        <p:nvSpPr>
          <p:cNvPr id="7" name="Text 4"/>
          <p:cNvSpPr txBox="1"/>
          <p:nvPr/>
        </p:nvSpPr>
        <p:spPr>
          <a:xfrm>
            <a:off x="1554480" y="1828800"/>
            <a:ext cx="3657600" cy="365760"/>
          </a:xfrm>
          <a:prstGeom prst="rect">
            <a:avLst/>
          </a:prstGeom>
          <a:noFill/>
          <a:ln/>
        </p:spPr>
        <p:txBody>
          <a:bodyPr wrap="square" lIns="0" tIns="0" rIns="0" bIns="0" rtlCol="0" anchor="t"/>
          <a:lstStyle/>
          <a:p>
            <a:pPr marL="0" indent="0">
              <a:buNone/>
            </a:pPr>
            <a:r>
              <a:rPr lang="en-US" sz="1600" b="1" dirty="0">
                <a:solidFill>
                  <a:schemeClr val="bg1"/>
                </a:solidFill>
              </a:rPr>
              <a:t>Personalised Itinerary Planner</a:t>
            </a:r>
            <a:endParaRPr lang="en-US" sz="1600" dirty="0"/>
          </a:p>
        </p:txBody>
      </p:sp>
      <p:sp>
        <p:nvSpPr>
          <p:cNvPr id="8" name="Text 5"/>
          <p:cNvSpPr txBox="1"/>
          <p:nvPr/>
        </p:nvSpPr>
        <p:spPr>
          <a:xfrm>
            <a:off x="1554480" y="2194560"/>
            <a:ext cx="3657600" cy="411480"/>
          </a:xfrm>
          <a:prstGeom prst="rect">
            <a:avLst/>
          </a:prstGeom>
          <a:noFill/>
          <a:ln/>
        </p:spPr>
        <p:txBody>
          <a:bodyPr wrap="square" lIns="0" tIns="0" rIns="0" bIns="0" rtlCol="0" anchor="t"/>
          <a:lstStyle/>
          <a:p>
            <a:pPr marL="0" indent="0">
              <a:buNone/>
            </a:pPr>
            <a:r>
              <a:rPr lang="en-US" sz="1200" dirty="0">
                <a:solidFill>
                  <a:srgbClr val="CFE0DB"/>
                </a:solidFill>
              </a:rPr>
              <a:t>The traveller sees one plan: visits, hotels, budget</a:t>
            </a:r>
            <a:endParaRPr lang="en-US" sz="1200" dirty="0"/>
          </a:p>
        </p:txBody>
      </p:sp>
      <p:sp>
        <p:nvSpPr>
          <p:cNvPr id="9" name="Police dashboard"/>
          <p:cNvSpPr/>
          <p:nvPr/>
        </p:nvSpPr>
        <p:spPr>
          <a:xfrm>
            <a:off x="5669280" y="1691640"/>
            <a:ext cx="2377440" cy="1051560"/>
          </a:xfrm>
          <a:prstGeom prst="roundRect">
            <a:avLst>
              <a:gd name="adj" fmla="val 10435"/>
            </a:avLst>
          </a:prstGeom>
          <a:solidFill>
            <a:schemeClr val="tx2"/>
          </a:solidFill>
          <a:ln/>
        </p:spPr>
        <p:txBody>
          <a:bodyPr/>
          <a:lstStyle/>
          <a:p>
            <a:endParaRPr lang="en-US"/>
          </a:p>
        </p:txBody>
      </p:sp>
      <p:sp>
        <p:nvSpPr>
          <p:cNvPr id="10" name="Shape 7"/>
          <p:cNvSpPr/>
          <p:nvPr/>
        </p:nvSpPr>
        <p:spPr>
          <a:xfrm>
            <a:off x="5806440" y="1874520"/>
            <a:ext cx="685800" cy="685800"/>
          </a:xfrm>
          <a:prstGeom prst="ellipse">
            <a:avLst/>
          </a:prstGeom>
          <a:solidFill>
            <a:schemeClr val="accent3"/>
          </a:solidFill>
          <a:ln/>
        </p:spPr>
        <p:txBody>
          <a:bodyPr/>
          <a:lstStyle/>
          <a:p>
            <a:endParaRPr lang="en-US"/>
          </a:p>
        </p:txBody>
      </p:sp>
      <p:pic>
        <p:nvPicPr>
          <p:cNvPr id="11" name="Image 1" descr="preencoded.png"/>
          <p:cNvPicPr>
            <a:picLocks noChangeAspect="1"/>
          </p:cNvPicPr>
          <p:nvPr/>
        </p:nvPicPr>
        <p:blipFill>
          <a:blip r:embed="rId4"/>
          <a:stretch>
            <a:fillRect/>
          </a:stretch>
        </p:blipFill>
        <p:spPr>
          <a:xfrm>
            <a:off x="5977890" y="2045970"/>
            <a:ext cx="342900" cy="342900"/>
          </a:xfrm>
          <a:prstGeom prst="rect">
            <a:avLst/>
          </a:prstGeom>
        </p:spPr>
      </p:pic>
      <p:sp>
        <p:nvSpPr>
          <p:cNvPr id="12" name="Text 8"/>
          <p:cNvSpPr txBox="1"/>
          <p:nvPr/>
        </p:nvSpPr>
        <p:spPr>
          <a:xfrm>
            <a:off x="6583680" y="1828800"/>
            <a:ext cx="1417320" cy="685800"/>
          </a:xfrm>
          <a:prstGeom prst="rect">
            <a:avLst/>
          </a:prstGeom>
          <a:noFill/>
          <a:ln/>
        </p:spPr>
        <p:txBody>
          <a:bodyPr wrap="square" lIns="0" tIns="0" rIns="0" bIns="0" rtlCol="0" anchor="ctr"/>
          <a:lstStyle/>
          <a:p>
            <a:pPr marL="0" indent="0">
              <a:buNone/>
            </a:pPr>
            <a:r>
              <a:rPr lang="en-US" sz="1400" b="1" dirty="0">
                <a:solidFill>
                  <a:schemeClr val="bg1"/>
                </a:solidFill>
              </a:rPr>
              <a:t>Police Dashboard</a:t>
            </a:r>
            <a:endParaRPr lang="en-US" sz="1400" dirty="0"/>
          </a:p>
        </p:txBody>
      </p:sp>
      <p:sp>
        <p:nvSpPr>
          <p:cNvPr id="13" name="Crowd Risk"/>
          <p:cNvSpPr/>
          <p:nvPr/>
        </p:nvSpPr>
        <p:spPr>
          <a:xfrm>
            <a:off x="548640" y="3520440"/>
            <a:ext cx="2331720" cy="1234440"/>
          </a:xfrm>
          <a:prstGeom prst="roundRect">
            <a:avLst>
              <a:gd name="adj" fmla="val 8889"/>
            </a:avLst>
          </a:prstGeom>
          <a:solidFill>
            <a:schemeClr val="bg2"/>
          </a:solidFill>
          <a:ln/>
        </p:spPr>
        <p:txBody>
          <a:bodyPr/>
          <a:lstStyle/>
          <a:p>
            <a:endParaRPr lang="en-US"/>
          </a:p>
        </p:txBody>
      </p:sp>
      <p:sp>
        <p:nvSpPr>
          <p:cNvPr id="14" name="Shape 10"/>
          <p:cNvSpPr/>
          <p:nvPr/>
        </p:nvSpPr>
        <p:spPr>
          <a:xfrm>
            <a:off x="685800" y="3657600"/>
            <a:ext cx="502920" cy="502920"/>
          </a:xfrm>
          <a:prstGeom prst="ellipse">
            <a:avLst/>
          </a:prstGeom>
          <a:solidFill>
            <a:schemeClr val="accent2"/>
          </a:solidFill>
          <a:ln/>
        </p:spPr>
        <p:txBody>
          <a:bodyPr/>
          <a:lstStyle/>
          <a:p>
            <a:endParaRPr lang="en-US"/>
          </a:p>
        </p:txBody>
      </p:sp>
      <p:pic>
        <p:nvPicPr>
          <p:cNvPr id="15" name="Image 2" descr="preencoded.png"/>
          <p:cNvPicPr>
            <a:picLocks noChangeAspect="1"/>
          </p:cNvPicPr>
          <p:nvPr/>
        </p:nvPicPr>
        <p:blipFill>
          <a:blip r:embed="rId5"/>
          <a:stretch>
            <a:fillRect/>
          </a:stretch>
        </p:blipFill>
        <p:spPr>
          <a:xfrm>
            <a:off x="811530" y="3783330"/>
            <a:ext cx="251460" cy="251460"/>
          </a:xfrm>
          <a:prstGeom prst="rect">
            <a:avLst/>
          </a:prstGeom>
        </p:spPr>
      </p:pic>
      <p:sp>
        <p:nvSpPr>
          <p:cNvPr id="16" name="Text 11"/>
          <p:cNvSpPr txBox="1"/>
          <p:nvPr/>
        </p:nvSpPr>
        <p:spPr>
          <a:xfrm>
            <a:off x="1280160" y="3630168"/>
            <a:ext cx="1508760" cy="320040"/>
          </a:xfrm>
          <a:prstGeom prst="rect">
            <a:avLst/>
          </a:prstGeom>
          <a:noFill/>
          <a:ln/>
        </p:spPr>
        <p:txBody>
          <a:bodyPr wrap="square" lIns="0" tIns="0" rIns="0" bIns="0" rtlCol="0" anchor="t"/>
          <a:lstStyle/>
          <a:p>
            <a:pPr marL="0" indent="0">
              <a:buNone/>
            </a:pPr>
            <a:r>
              <a:rPr lang="en-US" sz="1400" b="1" dirty="0">
                <a:solidFill>
                  <a:schemeClr val="tx2"/>
                </a:solidFill>
              </a:rPr>
              <a:t>Crowd Risk</a:t>
            </a:r>
            <a:endParaRPr lang="en-US" sz="1400" dirty="0"/>
          </a:p>
        </p:txBody>
      </p:sp>
      <p:sp>
        <p:nvSpPr>
          <p:cNvPr id="17" name="Text 12"/>
          <p:cNvSpPr txBox="1"/>
          <p:nvPr/>
        </p:nvSpPr>
        <p:spPr>
          <a:xfrm>
            <a:off x="731520" y="4224528"/>
            <a:ext cx="2011680" cy="457200"/>
          </a:xfrm>
          <a:prstGeom prst="rect">
            <a:avLst/>
          </a:prstGeom>
          <a:noFill/>
          <a:ln/>
        </p:spPr>
        <p:txBody>
          <a:bodyPr wrap="square" lIns="0" tIns="0" rIns="0" bIns="0" rtlCol="0" anchor="t"/>
          <a:lstStyle/>
          <a:p>
            <a:pPr marL="0" indent="0">
              <a:buNone/>
            </a:pPr>
            <a:r>
              <a:rPr lang="en-US" sz="1100" dirty="0">
                <a:solidFill>
                  <a:schemeClr val="tx1"/>
                </a:solidFill>
              </a:rPr>
              <a:t>Predicts Low / Med / High crowding</a:t>
            </a:r>
            <a:endParaRPr lang="en-US" sz="1100" dirty="0"/>
          </a:p>
        </p:txBody>
      </p:sp>
      <p:sp>
        <p:nvSpPr>
          <p:cNvPr id="18" name="Wellness Matching"/>
          <p:cNvSpPr/>
          <p:nvPr/>
        </p:nvSpPr>
        <p:spPr>
          <a:xfrm>
            <a:off x="3017520" y="3520440"/>
            <a:ext cx="2331720" cy="1234440"/>
          </a:xfrm>
          <a:prstGeom prst="roundRect">
            <a:avLst>
              <a:gd name="adj" fmla="val 8889"/>
            </a:avLst>
          </a:prstGeom>
          <a:solidFill>
            <a:schemeClr val="bg2"/>
          </a:solidFill>
          <a:ln/>
        </p:spPr>
        <p:txBody>
          <a:bodyPr/>
          <a:lstStyle/>
          <a:p>
            <a:endParaRPr lang="en-US"/>
          </a:p>
        </p:txBody>
      </p:sp>
      <p:sp>
        <p:nvSpPr>
          <p:cNvPr id="19" name="Shape 14"/>
          <p:cNvSpPr/>
          <p:nvPr/>
        </p:nvSpPr>
        <p:spPr>
          <a:xfrm>
            <a:off x="3154680" y="3657600"/>
            <a:ext cx="502920" cy="502920"/>
          </a:xfrm>
          <a:prstGeom prst="ellipse">
            <a:avLst/>
          </a:prstGeom>
          <a:solidFill>
            <a:schemeClr val="accent4"/>
          </a:solidFill>
          <a:ln/>
        </p:spPr>
        <p:txBody>
          <a:bodyPr/>
          <a:lstStyle/>
          <a:p>
            <a:endParaRPr lang="en-US"/>
          </a:p>
        </p:txBody>
      </p:sp>
      <p:pic>
        <p:nvPicPr>
          <p:cNvPr id="20" name="Image 3" descr="preencoded.png"/>
          <p:cNvPicPr>
            <a:picLocks noChangeAspect="1"/>
          </p:cNvPicPr>
          <p:nvPr/>
        </p:nvPicPr>
        <p:blipFill>
          <a:blip r:embed="rId6"/>
          <a:stretch>
            <a:fillRect/>
          </a:stretch>
        </p:blipFill>
        <p:spPr>
          <a:xfrm>
            <a:off x="3280410" y="3783330"/>
            <a:ext cx="251460" cy="251460"/>
          </a:xfrm>
          <a:prstGeom prst="rect">
            <a:avLst/>
          </a:prstGeom>
        </p:spPr>
      </p:pic>
      <p:sp>
        <p:nvSpPr>
          <p:cNvPr id="21" name="Text 15"/>
          <p:cNvSpPr txBox="1"/>
          <p:nvPr/>
        </p:nvSpPr>
        <p:spPr>
          <a:xfrm>
            <a:off x="3749040" y="3630168"/>
            <a:ext cx="1508760" cy="320040"/>
          </a:xfrm>
          <a:prstGeom prst="rect">
            <a:avLst/>
          </a:prstGeom>
          <a:noFill/>
          <a:ln/>
        </p:spPr>
        <p:txBody>
          <a:bodyPr wrap="square" lIns="0" tIns="0" rIns="0" bIns="0" rtlCol="0" anchor="t"/>
          <a:lstStyle/>
          <a:p>
            <a:pPr marL="0" indent="0">
              <a:buNone/>
            </a:pPr>
            <a:r>
              <a:rPr lang="en-US" sz="1400" b="1" dirty="0">
                <a:solidFill>
                  <a:schemeClr val="tx2"/>
                </a:solidFill>
              </a:rPr>
              <a:t>Wellness Matching</a:t>
            </a:r>
            <a:endParaRPr lang="en-US" sz="1400" dirty="0"/>
          </a:p>
        </p:txBody>
      </p:sp>
      <p:sp>
        <p:nvSpPr>
          <p:cNvPr id="22" name="Text 16"/>
          <p:cNvSpPr txBox="1"/>
          <p:nvPr/>
        </p:nvSpPr>
        <p:spPr>
          <a:xfrm>
            <a:off x="3200400" y="4224528"/>
            <a:ext cx="2011680" cy="457200"/>
          </a:xfrm>
          <a:prstGeom prst="rect">
            <a:avLst/>
          </a:prstGeom>
          <a:noFill/>
          <a:ln/>
        </p:spPr>
        <p:txBody>
          <a:bodyPr wrap="square" lIns="0" tIns="0" rIns="0" bIns="0" rtlCol="0" anchor="t"/>
          <a:lstStyle/>
          <a:p>
            <a:pPr marL="0" indent="0">
              <a:buNone/>
            </a:pPr>
            <a:r>
              <a:rPr lang="en-US" sz="1100" dirty="0">
                <a:solidFill>
                  <a:schemeClr val="tx1"/>
                </a:solidFill>
              </a:rPr>
              <a:t>Verified Ayurveda &amp; meditation centres</a:t>
            </a:r>
            <a:endParaRPr lang="en-US" sz="1100" dirty="0"/>
          </a:p>
        </p:txBody>
      </p:sp>
      <p:sp>
        <p:nvSpPr>
          <p:cNvPr id="23" name="SOS Safety"/>
          <p:cNvSpPr/>
          <p:nvPr/>
        </p:nvSpPr>
        <p:spPr>
          <a:xfrm>
            <a:off x="5669280" y="3520440"/>
            <a:ext cx="2377440" cy="1234440"/>
          </a:xfrm>
          <a:prstGeom prst="roundRect">
            <a:avLst>
              <a:gd name="adj" fmla="val 8889"/>
            </a:avLst>
          </a:prstGeom>
          <a:solidFill>
            <a:schemeClr val="bg2"/>
          </a:solidFill>
          <a:ln/>
        </p:spPr>
        <p:txBody>
          <a:bodyPr/>
          <a:lstStyle/>
          <a:p>
            <a:endParaRPr lang="en-US"/>
          </a:p>
        </p:txBody>
      </p:sp>
      <p:sp>
        <p:nvSpPr>
          <p:cNvPr id="24" name="Shape 18"/>
          <p:cNvSpPr/>
          <p:nvPr/>
        </p:nvSpPr>
        <p:spPr>
          <a:xfrm>
            <a:off x="5806440" y="3657600"/>
            <a:ext cx="502920" cy="502920"/>
          </a:xfrm>
          <a:prstGeom prst="ellipse">
            <a:avLst/>
          </a:prstGeom>
          <a:solidFill>
            <a:schemeClr val="accent3"/>
          </a:solidFill>
          <a:ln/>
        </p:spPr>
        <p:txBody>
          <a:bodyPr/>
          <a:lstStyle/>
          <a:p>
            <a:endParaRPr lang="en-US"/>
          </a:p>
        </p:txBody>
      </p:sp>
      <p:pic>
        <p:nvPicPr>
          <p:cNvPr id="25" name="Image 4" descr="preencoded.png"/>
          <p:cNvPicPr>
            <a:picLocks noChangeAspect="1"/>
          </p:cNvPicPr>
          <p:nvPr/>
        </p:nvPicPr>
        <p:blipFill>
          <a:blip r:embed="rId7"/>
          <a:stretch>
            <a:fillRect/>
          </a:stretch>
        </p:blipFill>
        <p:spPr>
          <a:xfrm>
            <a:off x="5932170" y="3783330"/>
            <a:ext cx="251460" cy="251460"/>
          </a:xfrm>
          <a:prstGeom prst="rect">
            <a:avLst/>
          </a:prstGeom>
        </p:spPr>
      </p:pic>
      <p:sp>
        <p:nvSpPr>
          <p:cNvPr id="26" name="Text 19"/>
          <p:cNvSpPr txBox="1"/>
          <p:nvPr/>
        </p:nvSpPr>
        <p:spPr>
          <a:xfrm>
            <a:off x="6400800" y="3630168"/>
            <a:ext cx="1554480" cy="320040"/>
          </a:xfrm>
          <a:prstGeom prst="rect">
            <a:avLst/>
          </a:prstGeom>
          <a:noFill/>
          <a:ln/>
        </p:spPr>
        <p:txBody>
          <a:bodyPr wrap="square" lIns="0" tIns="0" rIns="0" bIns="0" rtlCol="0" anchor="t"/>
          <a:lstStyle/>
          <a:p>
            <a:pPr marL="0" indent="0">
              <a:buNone/>
            </a:pPr>
            <a:r>
              <a:rPr lang="en-US" sz="1400" b="1" dirty="0">
                <a:solidFill>
                  <a:schemeClr val="tx2"/>
                </a:solidFill>
              </a:rPr>
              <a:t>SOS Safety</a:t>
            </a:r>
            <a:endParaRPr lang="en-US" sz="1400" dirty="0"/>
          </a:p>
        </p:txBody>
      </p:sp>
      <p:sp>
        <p:nvSpPr>
          <p:cNvPr id="27" name="Text 20"/>
          <p:cNvSpPr txBox="1"/>
          <p:nvPr/>
        </p:nvSpPr>
        <p:spPr>
          <a:xfrm>
            <a:off x="5852160" y="4224528"/>
            <a:ext cx="2057400" cy="457200"/>
          </a:xfrm>
          <a:prstGeom prst="rect">
            <a:avLst/>
          </a:prstGeom>
          <a:noFill/>
          <a:ln/>
        </p:spPr>
        <p:txBody>
          <a:bodyPr wrap="square" lIns="0" tIns="0" rIns="0" bIns="0" rtlCol="0" anchor="t"/>
          <a:lstStyle/>
          <a:p>
            <a:pPr marL="0" indent="0">
              <a:buNone/>
            </a:pPr>
            <a:r>
              <a:rPr lang="en-US" sz="1100" dirty="0">
                <a:solidFill>
                  <a:schemeClr val="tx1"/>
                </a:solidFill>
              </a:rPr>
              <a:t>Voice / tap SOS with live GPS</a:t>
            </a:r>
            <a:endParaRPr lang="en-US" sz="1100" dirty="0"/>
          </a:p>
        </p:txBody>
      </p:sp>
      <p:sp>
        <p:nvSpPr>
          <p:cNvPr id="28" name="Shape 21"/>
          <p:cNvSpPr/>
          <p:nvPr/>
        </p:nvSpPr>
        <p:spPr>
          <a:xfrm>
            <a:off x="960120" y="2788920"/>
            <a:ext cx="0" cy="685800"/>
          </a:xfrm>
          <a:prstGeom prst="line">
            <a:avLst/>
          </a:prstGeom>
          <a:noFill/>
          <a:ln w="25400">
            <a:solidFill>
              <a:schemeClr val="accent5"/>
            </a:solidFill>
            <a:prstDash val="solid"/>
            <a:headEnd type="triangle"/>
          </a:ln>
        </p:spPr>
        <p:txBody>
          <a:bodyPr/>
          <a:lstStyle/>
          <a:p>
            <a:endParaRPr lang="en-US"/>
          </a:p>
        </p:txBody>
      </p:sp>
      <p:sp>
        <p:nvSpPr>
          <p:cNvPr id="29" name="Text 22"/>
          <p:cNvSpPr txBox="1"/>
          <p:nvPr/>
        </p:nvSpPr>
        <p:spPr>
          <a:xfrm>
            <a:off x="1069848" y="2907792"/>
            <a:ext cx="1920240" cy="457200"/>
          </a:xfrm>
          <a:prstGeom prst="rect">
            <a:avLst/>
          </a:prstGeom>
          <a:noFill/>
          <a:ln/>
        </p:spPr>
        <p:txBody>
          <a:bodyPr wrap="square" lIns="0" tIns="0" rIns="0" bIns="0" rtlCol="0" anchor="ctr"/>
          <a:lstStyle/>
          <a:p>
            <a:pPr marL="0" indent="0">
              <a:buNone/>
            </a:pPr>
            <a:r>
              <a:rPr lang="en-US" sz="1100" i="1" dirty="0">
                <a:solidFill>
                  <a:schemeClr val="accent1"/>
                </a:solidFill>
              </a:rPr>
              <a:t>Crowd badge on every visit</a:t>
            </a:r>
            <a:endParaRPr lang="en-US" sz="1100" dirty="0"/>
          </a:p>
        </p:txBody>
      </p:sp>
      <p:sp>
        <p:nvSpPr>
          <p:cNvPr id="30" name="Shape 23"/>
          <p:cNvSpPr/>
          <p:nvPr/>
        </p:nvSpPr>
        <p:spPr>
          <a:xfrm>
            <a:off x="3429000" y="2788920"/>
            <a:ext cx="0" cy="685800"/>
          </a:xfrm>
          <a:prstGeom prst="line">
            <a:avLst/>
          </a:prstGeom>
          <a:noFill/>
          <a:ln w="25400">
            <a:solidFill>
              <a:schemeClr val="accent5"/>
            </a:solidFill>
            <a:prstDash val="solid"/>
            <a:headEnd type="triangle"/>
          </a:ln>
        </p:spPr>
        <p:txBody>
          <a:bodyPr/>
          <a:lstStyle/>
          <a:p>
            <a:endParaRPr lang="en-US"/>
          </a:p>
        </p:txBody>
      </p:sp>
      <p:sp>
        <p:nvSpPr>
          <p:cNvPr id="31" name="Text 24"/>
          <p:cNvSpPr txBox="1"/>
          <p:nvPr/>
        </p:nvSpPr>
        <p:spPr>
          <a:xfrm>
            <a:off x="3538728" y="2907792"/>
            <a:ext cx="1920240" cy="457200"/>
          </a:xfrm>
          <a:prstGeom prst="rect">
            <a:avLst/>
          </a:prstGeom>
          <a:noFill/>
          <a:ln/>
        </p:spPr>
        <p:txBody>
          <a:bodyPr wrap="square" lIns="0" tIns="0" rIns="0" bIns="0" rtlCol="0" anchor="ctr"/>
          <a:lstStyle/>
          <a:p>
            <a:pPr marL="0" indent="0">
              <a:buNone/>
            </a:pPr>
            <a:r>
              <a:rPr lang="en-US" sz="1100" i="1" dirty="0">
                <a:solidFill>
                  <a:schemeClr val="accent1"/>
                </a:solidFill>
              </a:rPr>
              <a:t>Centres become itinerary stops</a:t>
            </a:r>
            <a:endParaRPr lang="en-US" sz="1100" dirty="0"/>
          </a:p>
        </p:txBody>
      </p:sp>
      <p:sp>
        <p:nvSpPr>
          <p:cNvPr id="32" name="Shape 25"/>
          <p:cNvSpPr/>
          <p:nvPr/>
        </p:nvSpPr>
        <p:spPr>
          <a:xfrm>
            <a:off x="6080760" y="2788920"/>
            <a:ext cx="0" cy="685800"/>
          </a:xfrm>
          <a:prstGeom prst="line">
            <a:avLst/>
          </a:prstGeom>
          <a:noFill/>
          <a:ln w="25400">
            <a:solidFill>
              <a:schemeClr val="accent5"/>
            </a:solidFill>
            <a:prstDash val="solid"/>
            <a:headEnd type="triangle"/>
          </a:ln>
        </p:spPr>
        <p:txBody>
          <a:bodyPr/>
          <a:lstStyle/>
          <a:p>
            <a:endParaRPr lang="en-US"/>
          </a:p>
        </p:txBody>
      </p:sp>
      <p:sp>
        <p:nvSpPr>
          <p:cNvPr id="33" name="Text 26"/>
          <p:cNvSpPr txBox="1"/>
          <p:nvPr/>
        </p:nvSpPr>
        <p:spPr>
          <a:xfrm>
            <a:off x="6190488" y="2907792"/>
            <a:ext cx="1920240" cy="457200"/>
          </a:xfrm>
          <a:prstGeom prst="rect">
            <a:avLst/>
          </a:prstGeom>
          <a:noFill/>
          <a:ln/>
        </p:spPr>
        <p:txBody>
          <a:bodyPr wrap="square" lIns="0" tIns="0" rIns="0" bIns="0" rtlCol="0" anchor="ctr"/>
          <a:lstStyle/>
          <a:p>
            <a:pPr marL="0" indent="0">
              <a:buNone/>
            </a:pPr>
            <a:r>
              <a:rPr lang="en-US" sz="1100" i="1" dirty="0">
                <a:solidFill>
                  <a:schemeClr val="accent1"/>
                </a:solidFill>
              </a:rPr>
              <a:t>GPS + incident type</a:t>
            </a:r>
            <a:endParaRPr lang="en-US" sz="1100" dirty="0"/>
          </a:p>
        </p:txBody>
      </p:sp>
      <p:sp>
        <p:nvSpPr>
          <p:cNvPr id="34" name="Shared backend"/>
          <p:cNvSpPr/>
          <p:nvPr/>
        </p:nvSpPr>
        <p:spPr>
          <a:xfrm>
            <a:off x="548640" y="5074920"/>
            <a:ext cx="7498080" cy="960120"/>
          </a:xfrm>
          <a:prstGeom prst="roundRect">
            <a:avLst>
              <a:gd name="adj" fmla="val 11429"/>
            </a:avLst>
          </a:prstGeom>
          <a:solidFill>
            <a:schemeClr val="accent1"/>
          </a:solidFill>
          <a:ln/>
        </p:spPr>
        <p:txBody>
          <a:bodyPr/>
          <a:lstStyle/>
          <a:p>
            <a:endParaRPr lang="en-US"/>
          </a:p>
        </p:txBody>
      </p:sp>
      <p:sp>
        <p:nvSpPr>
          <p:cNvPr id="35" name="Shape 28"/>
          <p:cNvSpPr/>
          <p:nvPr/>
        </p:nvSpPr>
        <p:spPr>
          <a:xfrm>
            <a:off x="731520" y="5212080"/>
            <a:ext cx="685800" cy="685800"/>
          </a:xfrm>
          <a:prstGeom prst="ellipse">
            <a:avLst/>
          </a:prstGeom>
          <a:solidFill>
            <a:schemeClr val="tx2"/>
          </a:solidFill>
          <a:ln/>
        </p:spPr>
        <p:txBody>
          <a:bodyPr/>
          <a:lstStyle/>
          <a:p>
            <a:endParaRPr lang="en-US"/>
          </a:p>
        </p:txBody>
      </p:sp>
      <p:pic>
        <p:nvPicPr>
          <p:cNvPr id="36" name="Image 5" descr="preencoded.png"/>
          <p:cNvPicPr>
            <a:picLocks noChangeAspect="1"/>
          </p:cNvPicPr>
          <p:nvPr/>
        </p:nvPicPr>
        <p:blipFill>
          <a:blip r:embed="rId8"/>
          <a:stretch>
            <a:fillRect/>
          </a:stretch>
        </p:blipFill>
        <p:spPr>
          <a:xfrm>
            <a:off x="902970" y="5383530"/>
            <a:ext cx="342900" cy="342900"/>
          </a:xfrm>
          <a:prstGeom prst="rect">
            <a:avLst/>
          </a:prstGeom>
        </p:spPr>
      </p:pic>
      <p:sp>
        <p:nvSpPr>
          <p:cNvPr id="37" name="Text 29"/>
          <p:cNvSpPr txBox="1"/>
          <p:nvPr/>
        </p:nvSpPr>
        <p:spPr>
          <a:xfrm>
            <a:off x="1600200" y="5138928"/>
            <a:ext cx="6309360" cy="822960"/>
          </a:xfrm>
          <a:prstGeom prst="rect">
            <a:avLst/>
          </a:prstGeom>
          <a:noFill/>
          <a:ln/>
        </p:spPr>
        <p:txBody>
          <a:bodyPr wrap="square" lIns="0" tIns="0" rIns="0" bIns="0" rtlCol="0" anchor="ctr"/>
          <a:lstStyle/>
          <a:p>
            <a:pPr marL="0" indent="0">
              <a:buNone/>
            </a:pPr>
            <a:r>
              <a:rPr lang="en-US" sz="1500" b="1" dirty="0">
                <a:solidFill>
                  <a:schemeClr val="bg1"/>
                </a:solidFill>
              </a:rPr>
              <a:t>One shared backend and dataset</a:t>
            </a:r>
            <a:endParaRPr lang="en-US" sz="1400" dirty="0"/>
          </a:p>
          <a:p>
            <a:pPr marL="0" indent="0">
              <a:buNone/>
            </a:pPr>
            <a:r>
              <a:rPr lang="en-US" sz="1200" dirty="0">
                <a:solidFill>
                  <a:schemeClr val="bg1"/>
                </a:solidFill>
              </a:rPr>
              <a:t>Shared tourist profile  ·  verified attraction &amp; hotel catalogue  ·  one API</a:t>
            </a:r>
            <a:endParaRPr lang="en-US" sz="1400" dirty="0"/>
          </a:p>
        </p:txBody>
      </p:sp>
      <p:sp>
        <p:nvSpPr>
          <p:cNvPr id="38" name="Text 30"/>
          <p:cNvSpPr txBox="1"/>
          <p:nvPr/>
        </p:nvSpPr>
        <p:spPr>
          <a:xfrm>
            <a:off x="8503920" y="1691640"/>
            <a:ext cx="3139135" cy="365760"/>
          </a:xfrm>
          <a:prstGeom prst="rect">
            <a:avLst/>
          </a:prstGeom>
          <a:noFill/>
          <a:ln/>
        </p:spPr>
        <p:txBody>
          <a:bodyPr wrap="square" lIns="0" tIns="0" rIns="0" bIns="0" rtlCol="0" anchor="t"/>
          <a:lstStyle/>
          <a:p>
            <a:pPr marL="0" indent="0">
              <a:buNone/>
            </a:pPr>
            <a:r>
              <a:rPr lang="en-US" sz="1600" b="1" dirty="0">
                <a:solidFill>
                  <a:schemeClr val="tx2"/>
                </a:solidFill>
              </a:rPr>
              <a:t>Why it's better than existing tools</a:t>
            </a:r>
            <a:endParaRPr lang="en-US" sz="1600" dirty="0"/>
          </a:p>
        </p:txBody>
      </p:sp>
      <p:sp>
        <p:nvSpPr>
          <p:cNvPr id="39" name="Shape 31"/>
          <p:cNvSpPr/>
          <p:nvPr/>
        </p:nvSpPr>
        <p:spPr>
          <a:xfrm>
            <a:off x="8503920" y="2194560"/>
            <a:ext cx="457200" cy="457200"/>
          </a:xfrm>
          <a:prstGeom prst="ellipse">
            <a:avLst/>
          </a:prstGeom>
          <a:solidFill>
            <a:schemeClr val="accent1"/>
          </a:solidFill>
          <a:ln/>
        </p:spPr>
        <p:txBody>
          <a:bodyPr/>
          <a:lstStyle/>
          <a:p>
            <a:endParaRPr lang="en-US"/>
          </a:p>
        </p:txBody>
      </p:sp>
      <p:pic>
        <p:nvPicPr>
          <p:cNvPr id="40" name="Image 6" descr="preencoded.png"/>
          <p:cNvPicPr>
            <a:picLocks noChangeAspect="1"/>
          </p:cNvPicPr>
          <p:nvPr/>
        </p:nvPicPr>
        <p:blipFill>
          <a:blip r:embed="rId9"/>
          <a:stretch>
            <a:fillRect/>
          </a:stretch>
        </p:blipFill>
        <p:spPr>
          <a:xfrm>
            <a:off x="8618220" y="2308860"/>
            <a:ext cx="228600" cy="228600"/>
          </a:xfrm>
          <a:prstGeom prst="rect">
            <a:avLst/>
          </a:prstGeom>
        </p:spPr>
      </p:pic>
      <p:sp>
        <p:nvSpPr>
          <p:cNvPr id="41" name="Text 32"/>
          <p:cNvSpPr txBox="1"/>
          <p:nvPr/>
        </p:nvSpPr>
        <p:spPr>
          <a:xfrm>
            <a:off x="9098280" y="2176272"/>
            <a:ext cx="2544775" cy="274320"/>
          </a:xfrm>
          <a:prstGeom prst="rect">
            <a:avLst/>
          </a:prstGeom>
          <a:noFill/>
          <a:ln/>
        </p:spPr>
        <p:txBody>
          <a:bodyPr wrap="square" lIns="0" tIns="0" rIns="0" bIns="0" rtlCol="0" anchor="t"/>
          <a:lstStyle/>
          <a:p>
            <a:pPr marL="0" indent="0">
              <a:buNone/>
            </a:pPr>
            <a:r>
              <a:rPr lang="en-US" sz="1300" b="1" dirty="0">
                <a:solidFill>
                  <a:schemeClr val="tx2"/>
                </a:solidFill>
              </a:rPr>
              <a:t>Integrated</a:t>
            </a:r>
            <a:endParaRPr lang="en-US" sz="1300" dirty="0"/>
          </a:p>
        </p:txBody>
      </p:sp>
      <p:sp>
        <p:nvSpPr>
          <p:cNvPr id="42" name="Text 33"/>
          <p:cNvSpPr txBox="1"/>
          <p:nvPr/>
        </p:nvSpPr>
        <p:spPr>
          <a:xfrm>
            <a:off x="9098280" y="2468880"/>
            <a:ext cx="2544775" cy="594360"/>
          </a:xfrm>
          <a:prstGeom prst="rect">
            <a:avLst/>
          </a:prstGeom>
          <a:noFill/>
          <a:ln/>
        </p:spPr>
        <p:txBody>
          <a:bodyPr wrap="square" lIns="0" tIns="0" rIns="0" bIns="0" rtlCol="0" anchor="t"/>
          <a:lstStyle/>
          <a:p>
            <a:pPr marL="0" indent="0">
              <a:buNone/>
            </a:pPr>
            <a:r>
              <a:rPr lang="en-US" sz="1100" dirty="0">
                <a:solidFill>
                  <a:schemeClr val="accent5"/>
                </a:solidFill>
              </a:rPr>
              <a:t>Modules feed each other instead of four separate apps</a:t>
            </a:r>
            <a:endParaRPr lang="en-US" sz="1100" dirty="0"/>
          </a:p>
        </p:txBody>
      </p:sp>
      <p:sp>
        <p:nvSpPr>
          <p:cNvPr id="43" name="Shape 34"/>
          <p:cNvSpPr/>
          <p:nvPr/>
        </p:nvSpPr>
        <p:spPr>
          <a:xfrm>
            <a:off x="8503920" y="3163824"/>
            <a:ext cx="457200" cy="457200"/>
          </a:xfrm>
          <a:prstGeom prst="ellipse">
            <a:avLst/>
          </a:prstGeom>
          <a:solidFill>
            <a:schemeClr val="accent1"/>
          </a:solidFill>
          <a:ln/>
        </p:spPr>
        <p:txBody>
          <a:bodyPr/>
          <a:lstStyle/>
          <a:p>
            <a:endParaRPr lang="en-US"/>
          </a:p>
        </p:txBody>
      </p:sp>
      <p:pic>
        <p:nvPicPr>
          <p:cNvPr id="44" name="Image 7" descr="preencoded.png"/>
          <p:cNvPicPr>
            <a:picLocks noChangeAspect="1"/>
          </p:cNvPicPr>
          <p:nvPr/>
        </p:nvPicPr>
        <p:blipFill>
          <a:blip r:embed="rId10"/>
          <a:stretch>
            <a:fillRect/>
          </a:stretch>
        </p:blipFill>
        <p:spPr>
          <a:xfrm>
            <a:off x="8618220" y="3278124"/>
            <a:ext cx="228600" cy="228600"/>
          </a:xfrm>
          <a:prstGeom prst="rect">
            <a:avLst/>
          </a:prstGeom>
        </p:spPr>
      </p:pic>
      <p:sp>
        <p:nvSpPr>
          <p:cNvPr id="45" name="Text 35"/>
          <p:cNvSpPr txBox="1"/>
          <p:nvPr/>
        </p:nvSpPr>
        <p:spPr>
          <a:xfrm>
            <a:off x="9098280" y="3145536"/>
            <a:ext cx="2544775" cy="274320"/>
          </a:xfrm>
          <a:prstGeom prst="rect">
            <a:avLst/>
          </a:prstGeom>
          <a:noFill/>
          <a:ln/>
        </p:spPr>
        <p:txBody>
          <a:bodyPr wrap="square" lIns="0" tIns="0" rIns="0" bIns="0" rtlCol="0" anchor="t"/>
          <a:lstStyle/>
          <a:p>
            <a:pPr marL="0" indent="0">
              <a:buNone/>
            </a:pPr>
            <a:r>
              <a:rPr lang="en-US" sz="1300" b="1" dirty="0">
                <a:solidFill>
                  <a:schemeClr val="tx2"/>
                </a:solidFill>
              </a:rPr>
              <a:t>Grounded, not generative</a:t>
            </a:r>
            <a:endParaRPr lang="en-US" sz="1300" dirty="0"/>
          </a:p>
        </p:txBody>
      </p:sp>
      <p:sp>
        <p:nvSpPr>
          <p:cNvPr id="46" name="Text 36"/>
          <p:cNvSpPr txBox="1"/>
          <p:nvPr/>
        </p:nvSpPr>
        <p:spPr>
          <a:xfrm>
            <a:off x="9098280" y="3438144"/>
            <a:ext cx="2544775" cy="594360"/>
          </a:xfrm>
          <a:prstGeom prst="rect">
            <a:avLst/>
          </a:prstGeom>
          <a:noFill/>
          <a:ln/>
        </p:spPr>
        <p:txBody>
          <a:bodyPr wrap="square" lIns="0" tIns="0" rIns="0" bIns="0" rtlCol="0" anchor="t"/>
          <a:lstStyle/>
          <a:p>
            <a:pPr marL="0" indent="0">
              <a:buNone/>
            </a:pPr>
            <a:r>
              <a:rPr lang="en-US" sz="1100" dirty="0">
                <a:solidFill>
                  <a:schemeClr val="accent5"/>
                </a:solidFill>
              </a:rPr>
              <a:t>Plans use only a verified catalogue, so no hallucinated places</a:t>
            </a:r>
            <a:endParaRPr lang="en-US" sz="1100" dirty="0"/>
          </a:p>
        </p:txBody>
      </p:sp>
      <p:sp>
        <p:nvSpPr>
          <p:cNvPr id="47" name="Shape 37"/>
          <p:cNvSpPr/>
          <p:nvPr/>
        </p:nvSpPr>
        <p:spPr>
          <a:xfrm>
            <a:off x="8503920" y="4133088"/>
            <a:ext cx="457200" cy="457200"/>
          </a:xfrm>
          <a:prstGeom prst="ellipse">
            <a:avLst/>
          </a:prstGeom>
          <a:solidFill>
            <a:schemeClr val="accent1"/>
          </a:solidFill>
          <a:ln/>
        </p:spPr>
        <p:txBody>
          <a:bodyPr/>
          <a:lstStyle/>
          <a:p>
            <a:endParaRPr lang="en-US"/>
          </a:p>
        </p:txBody>
      </p:sp>
      <p:pic>
        <p:nvPicPr>
          <p:cNvPr id="48" name="Image 8" descr="preencoded.png"/>
          <p:cNvPicPr>
            <a:picLocks noChangeAspect="1"/>
          </p:cNvPicPr>
          <p:nvPr/>
        </p:nvPicPr>
        <p:blipFill>
          <a:blip r:embed="rId11"/>
          <a:stretch>
            <a:fillRect/>
          </a:stretch>
        </p:blipFill>
        <p:spPr>
          <a:xfrm>
            <a:off x="8618220" y="4247388"/>
            <a:ext cx="228600" cy="228600"/>
          </a:xfrm>
          <a:prstGeom prst="rect">
            <a:avLst/>
          </a:prstGeom>
        </p:spPr>
      </p:pic>
      <p:sp>
        <p:nvSpPr>
          <p:cNvPr id="49" name="Text 38"/>
          <p:cNvSpPr txBox="1"/>
          <p:nvPr/>
        </p:nvSpPr>
        <p:spPr>
          <a:xfrm>
            <a:off x="9098280" y="4114800"/>
            <a:ext cx="2544775" cy="274320"/>
          </a:xfrm>
          <a:prstGeom prst="rect">
            <a:avLst/>
          </a:prstGeom>
          <a:noFill/>
          <a:ln/>
        </p:spPr>
        <p:txBody>
          <a:bodyPr wrap="square" lIns="0" tIns="0" rIns="0" bIns="0" rtlCol="0" anchor="t"/>
          <a:lstStyle/>
          <a:p>
            <a:pPr marL="0" indent="0">
              <a:buNone/>
            </a:pPr>
            <a:r>
              <a:rPr lang="en-US" sz="1300" b="1" dirty="0">
                <a:solidFill>
                  <a:schemeClr val="tx2"/>
                </a:solidFill>
              </a:rPr>
              <a:t>Explainable</a:t>
            </a:r>
            <a:endParaRPr lang="en-US" sz="1300" dirty="0"/>
          </a:p>
        </p:txBody>
      </p:sp>
      <p:sp>
        <p:nvSpPr>
          <p:cNvPr id="50" name="Text 39"/>
          <p:cNvSpPr txBox="1"/>
          <p:nvPr/>
        </p:nvSpPr>
        <p:spPr>
          <a:xfrm>
            <a:off x="9098280" y="4407408"/>
            <a:ext cx="2544775" cy="594360"/>
          </a:xfrm>
          <a:prstGeom prst="rect">
            <a:avLst/>
          </a:prstGeom>
          <a:noFill/>
          <a:ln/>
        </p:spPr>
        <p:txBody>
          <a:bodyPr wrap="square" lIns="0" tIns="0" rIns="0" bIns="0" rtlCol="0" anchor="t"/>
          <a:lstStyle/>
          <a:p>
            <a:pPr marL="0" indent="0">
              <a:buNone/>
            </a:pPr>
            <a:r>
              <a:rPr lang="en-US" sz="1100" dirty="0">
                <a:solidFill>
                  <a:schemeClr val="accent5"/>
                </a:solidFill>
              </a:rPr>
              <a:t>SHAP crowd explanations, per-factor wellness match %, transparent SOS risk rules</a:t>
            </a:r>
            <a:endParaRPr lang="en-US" sz="1100" dirty="0"/>
          </a:p>
        </p:txBody>
      </p:sp>
      <p:sp>
        <p:nvSpPr>
          <p:cNvPr id="51" name="Shape 40"/>
          <p:cNvSpPr/>
          <p:nvPr/>
        </p:nvSpPr>
        <p:spPr>
          <a:xfrm>
            <a:off x="8503920" y="5102352"/>
            <a:ext cx="457200" cy="457200"/>
          </a:xfrm>
          <a:prstGeom prst="ellipse">
            <a:avLst/>
          </a:prstGeom>
          <a:solidFill>
            <a:schemeClr val="accent1"/>
          </a:solidFill>
          <a:ln/>
        </p:spPr>
        <p:txBody>
          <a:bodyPr/>
          <a:lstStyle/>
          <a:p>
            <a:endParaRPr lang="en-US"/>
          </a:p>
        </p:txBody>
      </p:sp>
      <p:pic>
        <p:nvPicPr>
          <p:cNvPr id="52" name="Image 9" descr="preencoded.png"/>
          <p:cNvPicPr>
            <a:picLocks noChangeAspect="1"/>
          </p:cNvPicPr>
          <p:nvPr/>
        </p:nvPicPr>
        <p:blipFill>
          <a:blip r:embed="rId12"/>
          <a:stretch>
            <a:fillRect/>
          </a:stretch>
        </p:blipFill>
        <p:spPr>
          <a:xfrm>
            <a:off x="8618220" y="5216652"/>
            <a:ext cx="228600" cy="228600"/>
          </a:xfrm>
          <a:prstGeom prst="rect">
            <a:avLst/>
          </a:prstGeom>
        </p:spPr>
      </p:pic>
      <p:sp>
        <p:nvSpPr>
          <p:cNvPr id="53" name="Text 41"/>
          <p:cNvSpPr txBox="1"/>
          <p:nvPr/>
        </p:nvSpPr>
        <p:spPr>
          <a:xfrm>
            <a:off x="9098280" y="5084064"/>
            <a:ext cx="2544775" cy="274320"/>
          </a:xfrm>
          <a:prstGeom prst="rect">
            <a:avLst/>
          </a:prstGeom>
          <a:noFill/>
          <a:ln/>
        </p:spPr>
        <p:txBody>
          <a:bodyPr wrap="square" lIns="0" tIns="0" rIns="0" bIns="0" rtlCol="0" anchor="t"/>
          <a:lstStyle/>
          <a:p>
            <a:pPr marL="0" indent="0">
              <a:buNone/>
            </a:pPr>
            <a:r>
              <a:rPr lang="en-US" sz="1300" b="1" dirty="0">
                <a:solidFill>
                  <a:schemeClr val="tx2"/>
                </a:solidFill>
              </a:rPr>
              <a:t>Honestly evaluated</a:t>
            </a:r>
            <a:endParaRPr lang="en-US" sz="1300" dirty="0"/>
          </a:p>
        </p:txBody>
      </p:sp>
      <p:sp>
        <p:nvSpPr>
          <p:cNvPr id="54" name="Text 42"/>
          <p:cNvSpPr txBox="1"/>
          <p:nvPr/>
        </p:nvSpPr>
        <p:spPr>
          <a:xfrm>
            <a:off x="9098280" y="5376672"/>
            <a:ext cx="2544775" cy="594360"/>
          </a:xfrm>
          <a:prstGeom prst="rect">
            <a:avLst/>
          </a:prstGeom>
          <a:noFill/>
          <a:ln/>
        </p:spPr>
        <p:txBody>
          <a:bodyPr wrap="square" lIns="0" tIns="0" rIns="0" bIns="0" rtlCol="0" anchor="t"/>
          <a:lstStyle/>
          <a:p>
            <a:pPr marL="0" indent="0">
              <a:buNone/>
            </a:pPr>
            <a:r>
              <a:rPr lang="en-US" sz="1100" dirty="0">
                <a:solidFill>
                  <a:schemeClr val="accent5"/>
                </a:solidFill>
              </a:rPr>
              <a:t>Unseen-site holdout, baselines and disclosed limits</a:t>
            </a:r>
            <a:endParaRPr lang="en-US" sz="1100" dirty="0"/>
          </a:p>
        </p:txBody>
      </p:sp>
      <p:sp>
        <p:nvSpPr>
          <p:cNvPr id="5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5"/>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Kicker"/>
          <p:cNvSpPr txBox="1"/>
          <p:nvPr/>
        </p:nvSpPr>
        <p:spPr>
          <a:xfrm>
            <a:off x="548640" y="384048"/>
            <a:ext cx="9144000" cy="274320"/>
          </a:xfrm>
          <a:prstGeom prst="rect">
            <a:avLst/>
          </a:prstGeom>
          <a:noFill/>
          <a:ln/>
        </p:spPr>
        <p:txBody>
          <a:bodyPr wrap="square" lIns="0" tIns="0" rIns="0" bIns="0" rtlCol="0" anchor="ctr"/>
          <a:lstStyle/>
          <a:p>
            <a:pPr marL="0" indent="0">
              <a:buNone/>
            </a:pPr>
            <a:r>
              <a:rPr lang="en-US" sz="1200" b="1" kern="0" spc="200" dirty="0">
                <a:solidFill>
                  <a:schemeClr val="accent1"/>
                </a:solidFill>
              </a:rPr>
              <a:t>INDIVIDUAL COMPONENT  ·  IT22108654  ·  De Silva D.S.K</a:t>
            </a:r>
            <a:endParaRPr lang="en-US" sz="1200" dirty="0"/>
          </a:p>
        </p:txBody>
      </p:sp>
      <p:sp>
        <p:nvSpPr>
          <p:cNvPr id="3" name="Title"/>
          <p:cNvSpPr txBox="1"/>
          <p:nvPr/>
        </p:nvSpPr>
        <p:spPr>
          <a:xfrm>
            <a:off x="548640" y="658368"/>
            <a:ext cx="9144000" cy="640080"/>
          </a:xfrm>
          <a:prstGeom prst="rect">
            <a:avLst/>
          </a:prstGeom>
          <a:noFill/>
          <a:ln/>
        </p:spPr>
        <p:txBody>
          <a:bodyPr wrap="square" lIns="0" tIns="0" rIns="0" bIns="0" rtlCol="0" anchor="ctr"/>
          <a:lstStyle/>
          <a:p>
            <a:pPr marL="0" indent="0">
              <a:buNone/>
            </a:pPr>
            <a:r>
              <a:rPr lang="en-US" sz="3000" b="1" dirty="0">
                <a:solidFill>
                  <a:schemeClr val="tx2"/>
                </a:solidFill>
                <a:latin typeface="Arial" pitchFamily="34" charset="0"/>
                <a:ea typeface="Arial" pitchFamily="34" charset="-122"/>
                <a:cs typeface="Arial" pitchFamily="34" charset="-120"/>
              </a:rPr>
              <a:t>SOS Emergency Safety System</a:t>
            </a:r>
            <a:endParaRPr lang="en-US" sz="3000" dirty="0"/>
          </a:p>
        </p:txBody>
      </p:sp>
      <p:sp>
        <p:nvSpPr>
          <p:cNvPr id="4" name="Tagline"/>
          <p:cNvSpPr txBox="1"/>
          <p:nvPr/>
        </p:nvSpPr>
        <p:spPr>
          <a:xfrm>
            <a:off x="548640" y="1298448"/>
            <a:ext cx="9144000" cy="365760"/>
          </a:xfrm>
          <a:prstGeom prst="rect">
            <a:avLst/>
          </a:prstGeom>
          <a:noFill/>
          <a:ln/>
        </p:spPr>
        <p:txBody>
          <a:bodyPr wrap="square" lIns="0" tIns="0" rIns="0" bIns="0" rtlCol="0" anchor="ctr"/>
          <a:lstStyle/>
          <a:p>
            <a:pPr marL="0" indent="0">
              <a:buNone/>
            </a:pPr>
            <a:r>
              <a:rPr lang="en-US" sz="1500" i="1" dirty="0">
                <a:solidFill>
                  <a:schemeClr val="accent5"/>
                </a:solidFill>
              </a:rPr>
              <a:t>AI-assisted tourist emergency detection and police response platform</a:t>
            </a:r>
            <a:endParaRPr lang="en-US" sz="1500" dirty="0"/>
          </a:p>
        </p:txBody>
      </p:sp>
      <p:pic>
        <p:nvPicPr>
          <p:cNvPr id="5" name="Image 0" descr="/home/claude/work/h_dsk.jpg"/>
          <p:cNvPicPr>
            <a:picLocks noChangeAspect="1"/>
          </p:cNvPicPr>
          <p:nvPr/>
        </p:nvPicPr>
        <p:blipFill>
          <a:blip r:embed="rId3"/>
          <a:stretch>
            <a:fillRect/>
          </a:stretch>
        </p:blipFill>
        <p:spPr>
          <a:xfrm>
            <a:off x="10287000" y="365760"/>
            <a:ext cx="1325880" cy="1325880"/>
          </a:xfrm>
          <a:prstGeom prst="ellipse">
            <a:avLst/>
          </a:prstGeom>
        </p:spPr>
      </p:pic>
      <p:sp>
        <p:nvSpPr>
          <p:cNvPr id="6" name="Step 1"/>
          <p:cNvSpPr/>
          <p:nvPr/>
        </p:nvSpPr>
        <p:spPr>
          <a:xfrm>
            <a:off x="548640" y="1965960"/>
            <a:ext cx="1962851" cy="2286000"/>
          </a:xfrm>
          <a:prstGeom prst="roundRect">
            <a:avLst>
              <a:gd name="adj" fmla="val 5590"/>
            </a:avLst>
          </a:prstGeom>
          <a:solidFill>
            <a:schemeClr val="bg2"/>
          </a:solidFill>
          <a:ln/>
        </p:spPr>
        <p:txBody>
          <a:bodyPr/>
          <a:lstStyle/>
          <a:p>
            <a:endParaRPr lang="en-US"/>
          </a:p>
        </p:txBody>
      </p:sp>
      <p:sp>
        <p:nvSpPr>
          <p:cNvPr id="7" name="Shape 4"/>
          <p:cNvSpPr/>
          <p:nvPr/>
        </p:nvSpPr>
        <p:spPr>
          <a:xfrm>
            <a:off x="731520" y="2148840"/>
            <a:ext cx="594360" cy="594360"/>
          </a:xfrm>
          <a:prstGeom prst="ellipse">
            <a:avLst/>
          </a:prstGeom>
          <a:solidFill>
            <a:schemeClr val="accent1"/>
          </a:solidFill>
          <a:ln/>
        </p:spPr>
        <p:txBody>
          <a:bodyPr/>
          <a:lstStyle/>
          <a:p>
            <a:endParaRPr lang="en-US"/>
          </a:p>
        </p:txBody>
      </p:sp>
      <p:pic>
        <p:nvPicPr>
          <p:cNvPr id="8" name="Image 1" descr="preencoded.png"/>
          <p:cNvPicPr>
            <a:picLocks noChangeAspect="1"/>
          </p:cNvPicPr>
          <p:nvPr/>
        </p:nvPicPr>
        <p:blipFill>
          <a:blip r:embed="rId4"/>
          <a:stretch>
            <a:fillRect/>
          </a:stretch>
        </p:blipFill>
        <p:spPr>
          <a:xfrm>
            <a:off x="880110" y="2297430"/>
            <a:ext cx="297180" cy="297180"/>
          </a:xfrm>
          <a:prstGeom prst="rect">
            <a:avLst/>
          </a:prstGeom>
        </p:spPr>
      </p:pic>
      <p:sp>
        <p:nvSpPr>
          <p:cNvPr id="9" name="Text 5"/>
          <p:cNvSpPr txBox="1"/>
          <p:nvPr/>
        </p:nvSpPr>
        <p:spPr>
          <a:xfrm>
            <a:off x="2008571" y="2148840"/>
            <a:ext cx="320040" cy="320040"/>
          </a:xfrm>
          <a:prstGeom prst="rect">
            <a:avLst/>
          </a:prstGeom>
          <a:noFill/>
          <a:ln/>
        </p:spPr>
        <p:txBody>
          <a:bodyPr wrap="square" lIns="0" tIns="0" rIns="0" bIns="0" rtlCol="0" anchor="t"/>
          <a:lstStyle/>
          <a:p>
            <a:pPr marL="0" indent="0" algn="r">
              <a:buNone/>
            </a:pPr>
            <a:r>
              <a:rPr lang="en-US" sz="1400" b="1" dirty="0">
                <a:solidFill>
                  <a:schemeClr val="accent5"/>
                </a:solidFill>
              </a:rPr>
              <a:t>1</a:t>
            </a:r>
            <a:endParaRPr lang="en-US" sz="1400" dirty="0"/>
          </a:p>
        </p:txBody>
      </p:sp>
      <p:sp>
        <p:nvSpPr>
          <p:cNvPr id="10" name="Text 6"/>
          <p:cNvSpPr txBox="1"/>
          <p:nvPr/>
        </p:nvSpPr>
        <p:spPr>
          <a:xfrm>
            <a:off x="731520" y="2880360"/>
            <a:ext cx="1642811" cy="457200"/>
          </a:xfrm>
          <a:prstGeom prst="rect">
            <a:avLst/>
          </a:prstGeom>
          <a:noFill/>
          <a:ln/>
        </p:spPr>
        <p:txBody>
          <a:bodyPr wrap="square" lIns="0" tIns="0" rIns="0" bIns="0" rtlCol="0" anchor="t"/>
          <a:lstStyle/>
          <a:p>
            <a:pPr marL="0" indent="0">
              <a:buNone/>
            </a:pPr>
            <a:r>
              <a:rPr lang="en-US" sz="1400" b="1" dirty="0">
                <a:solidFill>
                  <a:schemeClr val="tx2"/>
                </a:solidFill>
              </a:rPr>
              <a:t>Tourist triggers SOS</a:t>
            </a:r>
            <a:endParaRPr lang="en-US" sz="1400" dirty="0"/>
          </a:p>
        </p:txBody>
      </p:sp>
      <p:sp>
        <p:nvSpPr>
          <p:cNvPr id="11" name="Text 7"/>
          <p:cNvSpPr txBox="1"/>
          <p:nvPr/>
        </p:nvSpPr>
        <p:spPr>
          <a:xfrm>
            <a:off x="731520" y="3337560"/>
            <a:ext cx="1642811" cy="868680"/>
          </a:xfrm>
          <a:prstGeom prst="rect">
            <a:avLst/>
          </a:prstGeom>
          <a:noFill/>
          <a:ln/>
        </p:spPr>
        <p:txBody>
          <a:bodyPr wrap="square" lIns="0" tIns="0" rIns="0" bIns="0" rtlCol="0" anchor="t"/>
          <a:lstStyle/>
          <a:p>
            <a:pPr marL="0" indent="0">
              <a:buNone/>
            </a:pPr>
            <a:r>
              <a:rPr lang="en-US" sz="1200" dirty="0">
                <a:solidFill>
                  <a:schemeClr val="tx1"/>
                </a:solidFill>
              </a:rPr>
              <a:t>One tap or voice, sent with live GPS location</a:t>
            </a:r>
            <a:endParaRPr lang="en-US" sz="1200" dirty="0"/>
          </a:p>
        </p:txBody>
      </p:sp>
      <p:sp>
        <p:nvSpPr>
          <p:cNvPr id="12" name="Shape 8"/>
          <p:cNvSpPr/>
          <p:nvPr/>
        </p:nvSpPr>
        <p:spPr>
          <a:xfrm>
            <a:off x="2584643" y="2999232"/>
            <a:ext cx="173736" cy="219456"/>
          </a:xfrm>
          <a:prstGeom prst="chevron">
            <a:avLst/>
          </a:prstGeom>
          <a:solidFill>
            <a:schemeClr val="accent3"/>
          </a:solidFill>
          <a:ln/>
        </p:spPr>
        <p:txBody>
          <a:bodyPr/>
          <a:lstStyle/>
          <a:p>
            <a:endParaRPr lang="en-US"/>
          </a:p>
        </p:txBody>
      </p:sp>
      <p:sp>
        <p:nvSpPr>
          <p:cNvPr id="13" name="Step 2"/>
          <p:cNvSpPr/>
          <p:nvPr/>
        </p:nvSpPr>
        <p:spPr>
          <a:xfrm>
            <a:off x="2831531" y="1965960"/>
            <a:ext cx="1962851" cy="2286000"/>
          </a:xfrm>
          <a:prstGeom prst="roundRect">
            <a:avLst>
              <a:gd name="adj" fmla="val 5590"/>
            </a:avLst>
          </a:prstGeom>
          <a:solidFill>
            <a:schemeClr val="bg2"/>
          </a:solidFill>
          <a:ln/>
        </p:spPr>
        <p:txBody>
          <a:bodyPr/>
          <a:lstStyle/>
          <a:p>
            <a:endParaRPr lang="en-US"/>
          </a:p>
        </p:txBody>
      </p:sp>
      <p:sp>
        <p:nvSpPr>
          <p:cNvPr id="14" name="Shape 10"/>
          <p:cNvSpPr/>
          <p:nvPr/>
        </p:nvSpPr>
        <p:spPr>
          <a:xfrm>
            <a:off x="3014411" y="2148840"/>
            <a:ext cx="594360" cy="594360"/>
          </a:xfrm>
          <a:prstGeom prst="ellipse">
            <a:avLst/>
          </a:prstGeom>
          <a:solidFill>
            <a:schemeClr val="accent1"/>
          </a:solidFill>
          <a:ln/>
        </p:spPr>
        <p:txBody>
          <a:bodyPr/>
          <a:lstStyle/>
          <a:p>
            <a:endParaRPr lang="en-US"/>
          </a:p>
        </p:txBody>
      </p:sp>
      <p:pic>
        <p:nvPicPr>
          <p:cNvPr id="15" name="Image 2" descr="preencoded.png"/>
          <p:cNvPicPr>
            <a:picLocks noChangeAspect="1"/>
          </p:cNvPicPr>
          <p:nvPr/>
        </p:nvPicPr>
        <p:blipFill>
          <a:blip r:embed="rId5"/>
          <a:stretch>
            <a:fillRect/>
          </a:stretch>
        </p:blipFill>
        <p:spPr>
          <a:xfrm>
            <a:off x="3163001" y="2297430"/>
            <a:ext cx="297180" cy="297180"/>
          </a:xfrm>
          <a:prstGeom prst="rect">
            <a:avLst/>
          </a:prstGeom>
        </p:spPr>
      </p:pic>
      <p:sp>
        <p:nvSpPr>
          <p:cNvPr id="16" name="Text 11"/>
          <p:cNvSpPr txBox="1"/>
          <p:nvPr/>
        </p:nvSpPr>
        <p:spPr>
          <a:xfrm>
            <a:off x="4291462" y="2148840"/>
            <a:ext cx="320040" cy="320040"/>
          </a:xfrm>
          <a:prstGeom prst="rect">
            <a:avLst/>
          </a:prstGeom>
          <a:noFill/>
          <a:ln/>
        </p:spPr>
        <p:txBody>
          <a:bodyPr wrap="square" lIns="0" tIns="0" rIns="0" bIns="0" rtlCol="0" anchor="t"/>
          <a:lstStyle/>
          <a:p>
            <a:pPr marL="0" indent="0" algn="r">
              <a:buNone/>
            </a:pPr>
            <a:r>
              <a:rPr lang="en-US" sz="1400" b="1" dirty="0">
                <a:solidFill>
                  <a:schemeClr val="accent5"/>
                </a:solidFill>
              </a:rPr>
              <a:t>2</a:t>
            </a:r>
            <a:endParaRPr lang="en-US" sz="1400" dirty="0"/>
          </a:p>
        </p:txBody>
      </p:sp>
      <p:sp>
        <p:nvSpPr>
          <p:cNvPr id="17" name="Text 12"/>
          <p:cNvSpPr txBox="1"/>
          <p:nvPr/>
        </p:nvSpPr>
        <p:spPr>
          <a:xfrm>
            <a:off x="3014411" y="2880360"/>
            <a:ext cx="1642811" cy="457200"/>
          </a:xfrm>
          <a:prstGeom prst="rect">
            <a:avLst/>
          </a:prstGeom>
          <a:noFill/>
          <a:ln/>
        </p:spPr>
        <p:txBody>
          <a:bodyPr wrap="square" lIns="0" tIns="0" rIns="0" bIns="0" rtlCol="0" anchor="t"/>
          <a:lstStyle/>
          <a:p>
            <a:pPr marL="0" indent="0">
              <a:buNone/>
            </a:pPr>
            <a:r>
              <a:rPr lang="en-US" sz="1400" b="1" dirty="0">
                <a:solidFill>
                  <a:schemeClr val="tx2"/>
                </a:solidFill>
              </a:rPr>
              <a:t>Speech to text + translate</a:t>
            </a:r>
            <a:endParaRPr lang="en-US" sz="1400" dirty="0"/>
          </a:p>
        </p:txBody>
      </p:sp>
      <p:sp>
        <p:nvSpPr>
          <p:cNvPr id="18" name="Text 13"/>
          <p:cNvSpPr txBox="1"/>
          <p:nvPr/>
        </p:nvSpPr>
        <p:spPr>
          <a:xfrm>
            <a:off x="3014411" y="3337560"/>
            <a:ext cx="1642811" cy="868680"/>
          </a:xfrm>
          <a:prstGeom prst="rect">
            <a:avLst/>
          </a:prstGeom>
          <a:noFill/>
          <a:ln/>
        </p:spPr>
        <p:txBody>
          <a:bodyPr wrap="square" lIns="0" tIns="0" rIns="0" bIns="0" rtlCol="0" anchor="t"/>
          <a:lstStyle/>
          <a:p>
            <a:pPr marL="0" indent="0">
              <a:buNone/>
            </a:pPr>
            <a:r>
              <a:rPr lang="en-US" sz="1200" dirty="0">
                <a:solidFill>
                  <a:schemeClr val="tx1"/>
                </a:solidFill>
              </a:rPr>
              <a:t>Whisper speech-to-text; Sinhala / Tamil translation</a:t>
            </a:r>
            <a:endParaRPr lang="en-US" sz="1200" dirty="0"/>
          </a:p>
        </p:txBody>
      </p:sp>
      <p:sp>
        <p:nvSpPr>
          <p:cNvPr id="19" name="Shape 14"/>
          <p:cNvSpPr/>
          <p:nvPr/>
        </p:nvSpPr>
        <p:spPr>
          <a:xfrm>
            <a:off x="4867534" y="2999232"/>
            <a:ext cx="173736" cy="219456"/>
          </a:xfrm>
          <a:prstGeom prst="chevron">
            <a:avLst/>
          </a:prstGeom>
          <a:solidFill>
            <a:schemeClr val="accent3"/>
          </a:solidFill>
          <a:ln/>
        </p:spPr>
        <p:txBody>
          <a:bodyPr/>
          <a:lstStyle/>
          <a:p>
            <a:endParaRPr lang="en-US"/>
          </a:p>
        </p:txBody>
      </p:sp>
      <p:sp>
        <p:nvSpPr>
          <p:cNvPr id="20" name="Step 3"/>
          <p:cNvSpPr/>
          <p:nvPr/>
        </p:nvSpPr>
        <p:spPr>
          <a:xfrm>
            <a:off x="5114422" y="1965960"/>
            <a:ext cx="1962851" cy="2286000"/>
          </a:xfrm>
          <a:prstGeom prst="roundRect">
            <a:avLst>
              <a:gd name="adj" fmla="val 5590"/>
            </a:avLst>
          </a:prstGeom>
          <a:solidFill>
            <a:schemeClr val="bg2"/>
          </a:solidFill>
          <a:ln/>
        </p:spPr>
        <p:txBody>
          <a:bodyPr/>
          <a:lstStyle/>
          <a:p>
            <a:endParaRPr lang="en-US"/>
          </a:p>
        </p:txBody>
      </p:sp>
      <p:sp>
        <p:nvSpPr>
          <p:cNvPr id="21" name="Shape 16"/>
          <p:cNvSpPr/>
          <p:nvPr/>
        </p:nvSpPr>
        <p:spPr>
          <a:xfrm>
            <a:off x="5297302" y="2148840"/>
            <a:ext cx="594360" cy="594360"/>
          </a:xfrm>
          <a:prstGeom prst="ellipse">
            <a:avLst/>
          </a:prstGeom>
          <a:solidFill>
            <a:schemeClr val="accent1"/>
          </a:solidFill>
          <a:ln/>
        </p:spPr>
        <p:txBody>
          <a:bodyPr/>
          <a:lstStyle/>
          <a:p>
            <a:endParaRPr lang="en-US"/>
          </a:p>
        </p:txBody>
      </p:sp>
      <p:pic>
        <p:nvPicPr>
          <p:cNvPr id="22" name="Image 3" descr="preencoded.png"/>
          <p:cNvPicPr>
            <a:picLocks noChangeAspect="1"/>
          </p:cNvPicPr>
          <p:nvPr/>
        </p:nvPicPr>
        <p:blipFill>
          <a:blip r:embed="rId6"/>
          <a:stretch>
            <a:fillRect/>
          </a:stretch>
        </p:blipFill>
        <p:spPr>
          <a:xfrm>
            <a:off x="5445892" y="2297430"/>
            <a:ext cx="297180" cy="297180"/>
          </a:xfrm>
          <a:prstGeom prst="rect">
            <a:avLst/>
          </a:prstGeom>
        </p:spPr>
      </p:pic>
      <p:sp>
        <p:nvSpPr>
          <p:cNvPr id="23" name="Text 17"/>
          <p:cNvSpPr txBox="1"/>
          <p:nvPr/>
        </p:nvSpPr>
        <p:spPr>
          <a:xfrm>
            <a:off x="6574353" y="2148840"/>
            <a:ext cx="320040" cy="320040"/>
          </a:xfrm>
          <a:prstGeom prst="rect">
            <a:avLst/>
          </a:prstGeom>
          <a:noFill/>
          <a:ln/>
        </p:spPr>
        <p:txBody>
          <a:bodyPr wrap="square" lIns="0" tIns="0" rIns="0" bIns="0" rtlCol="0" anchor="t"/>
          <a:lstStyle/>
          <a:p>
            <a:pPr marL="0" indent="0" algn="r">
              <a:buNone/>
            </a:pPr>
            <a:r>
              <a:rPr lang="en-US" sz="1400" b="1" dirty="0">
                <a:solidFill>
                  <a:schemeClr val="accent5"/>
                </a:solidFill>
              </a:rPr>
              <a:t>3</a:t>
            </a:r>
            <a:endParaRPr lang="en-US" sz="1400" dirty="0"/>
          </a:p>
        </p:txBody>
      </p:sp>
      <p:sp>
        <p:nvSpPr>
          <p:cNvPr id="24" name="Text 18"/>
          <p:cNvSpPr txBox="1"/>
          <p:nvPr/>
        </p:nvSpPr>
        <p:spPr>
          <a:xfrm>
            <a:off x="5297302" y="2880360"/>
            <a:ext cx="1642811" cy="457200"/>
          </a:xfrm>
          <a:prstGeom prst="rect">
            <a:avLst/>
          </a:prstGeom>
          <a:noFill/>
          <a:ln/>
        </p:spPr>
        <p:txBody>
          <a:bodyPr wrap="square" lIns="0" tIns="0" rIns="0" bIns="0" rtlCol="0" anchor="t"/>
          <a:lstStyle/>
          <a:p>
            <a:pPr marL="0" indent="0">
              <a:buNone/>
            </a:pPr>
            <a:r>
              <a:rPr lang="en-US" sz="1400" b="1" dirty="0">
                <a:solidFill>
                  <a:schemeClr val="tx2"/>
                </a:solidFill>
              </a:rPr>
              <a:t>Classify the incident</a:t>
            </a:r>
            <a:endParaRPr lang="en-US" sz="1400" dirty="0"/>
          </a:p>
        </p:txBody>
      </p:sp>
      <p:sp>
        <p:nvSpPr>
          <p:cNvPr id="25" name="Text 19"/>
          <p:cNvSpPr txBox="1"/>
          <p:nvPr/>
        </p:nvSpPr>
        <p:spPr>
          <a:xfrm>
            <a:off x="5297302" y="3337560"/>
            <a:ext cx="1642811" cy="868680"/>
          </a:xfrm>
          <a:prstGeom prst="rect">
            <a:avLst/>
          </a:prstGeom>
          <a:noFill/>
          <a:ln/>
        </p:spPr>
        <p:txBody>
          <a:bodyPr wrap="square" lIns="0" tIns="0" rIns="0" bIns="0" rtlCol="0" anchor="t"/>
          <a:lstStyle/>
          <a:p>
            <a:pPr marL="0" indent="0">
              <a:buNone/>
            </a:pPr>
            <a:r>
              <a:rPr lang="en-US" sz="1200" dirty="0">
                <a:solidFill>
                  <a:schemeClr val="tx1"/>
                </a:solidFill>
              </a:rPr>
              <a:t>Random Forest (TF-IDF + lexicon features) picks 1 of 15 incident types</a:t>
            </a:r>
            <a:endParaRPr lang="en-US" sz="1200" dirty="0"/>
          </a:p>
        </p:txBody>
      </p:sp>
      <p:sp>
        <p:nvSpPr>
          <p:cNvPr id="26" name="Shape 20"/>
          <p:cNvSpPr/>
          <p:nvPr/>
        </p:nvSpPr>
        <p:spPr>
          <a:xfrm>
            <a:off x="7150425" y="2999232"/>
            <a:ext cx="173736" cy="219456"/>
          </a:xfrm>
          <a:prstGeom prst="chevron">
            <a:avLst/>
          </a:prstGeom>
          <a:solidFill>
            <a:schemeClr val="accent3"/>
          </a:solidFill>
          <a:ln/>
        </p:spPr>
        <p:txBody>
          <a:bodyPr/>
          <a:lstStyle/>
          <a:p>
            <a:endParaRPr lang="en-US"/>
          </a:p>
        </p:txBody>
      </p:sp>
      <p:sp>
        <p:nvSpPr>
          <p:cNvPr id="27" name="Step 4"/>
          <p:cNvSpPr/>
          <p:nvPr/>
        </p:nvSpPr>
        <p:spPr>
          <a:xfrm>
            <a:off x="7397313" y="1965960"/>
            <a:ext cx="1962851" cy="2286000"/>
          </a:xfrm>
          <a:prstGeom prst="roundRect">
            <a:avLst>
              <a:gd name="adj" fmla="val 5590"/>
            </a:avLst>
          </a:prstGeom>
          <a:solidFill>
            <a:schemeClr val="bg2"/>
          </a:solidFill>
          <a:ln/>
        </p:spPr>
        <p:txBody>
          <a:bodyPr/>
          <a:lstStyle/>
          <a:p>
            <a:endParaRPr lang="en-US"/>
          </a:p>
        </p:txBody>
      </p:sp>
      <p:sp>
        <p:nvSpPr>
          <p:cNvPr id="28" name="Shape 22"/>
          <p:cNvSpPr/>
          <p:nvPr/>
        </p:nvSpPr>
        <p:spPr>
          <a:xfrm>
            <a:off x="7580193" y="2148840"/>
            <a:ext cx="594360" cy="594360"/>
          </a:xfrm>
          <a:prstGeom prst="ellipse">
            <a:avLst/>
          </a:prstGeom>
          <a:solidFill>
            <a:schemeClr val="accent1"/>
          </a:solidFill>
          <a:ln/>
        </p:spPr>
        <p:txBody>
          <a:bodyPr/>
          <a:lstStyle/>
          <a:p>
            <a:endParaRPr lang="en-US"/>
          </a:p>
        </p:txBody>
      </p:sp>
      <p:pic>
        <p:nvPicPr>
          <p:cNvPr id="29" name="Image 4" descr="preencoded.png"/>
          <p:cNvPicPr>
            <a:picLocks noChangeAspect="1"/>
          </p:cNvPicPr>
          <p:nvPr/>
        </p:nvPicPr>
        <p:blipFill>
          <a:blip r:embed="rId7"/>
          <a:stretch>
            <a:fillRect/>
          </a:stretch>
        </p:blipFill>
        <p:spPr>
          <a:xfrm>
            <a:off x="7728783" y="2297430"/>
            <a:ext cx="297180" cy="297180"/>
          </a:xfrm>
          <a:prstGeom prst="rect">
            <a:avLst/>
          </a:prstGeom>
        </p:spPr>
      </p:pic>
      <p:sp>
        <p:nvSpPr>
          <p:cNvPr id="30" name="Text 23"/>
          <p:cNvSpPr txBox="1"/>
          <p:nvPr/>
        </p:nvSpPr>
        <p:spPr>
          <a:xfrm>
            <a:off x="8857244" y="2148840"/>
            <a:ext cx="320040" cy="320040"/>
          </a:xfrm>
          <a:prstGeom prst="rect">
            <a:avLst/>
          </a:prstGeom>
          <a:noFill/>
          <a:ln/>
        </p:spPr>
        <p:txBody>
          <a:bodyPr wrap="square" lIns="0" tIns="0" rIns="0" bIns="0" rtlCol="0" anchor="t"/>
          <a:lstStyle/>
          <a:p>
            <a:pPr marL="0" indent="0" algn="r">
              <a:buNone/>
            </a:pPr>
            <a:r>
              <a:rPr lang="en-US" sz="1400" b="1" dirty="0">
                <a:solidFill>
                  <a:schemeClr val="accent5"/>
                </a:solidFill>
              </a:rPr>
              <a:t>4</a:t>
            </a:r>
            <a:endParaRPr lang="en-US" sz="1400" dirty="0"/>
          </a:p>
        </p:txBody>
      </p:sp>
      <p:sp>
        <p:nvSpPr>
          <p:cNvPr id="31" name="Text 24"/>
          <p:cNvSpPr txBox="1"/>
          <p:nvPr/>
        </p:nvSpPr>
        <p:spPr>
          <a:xfrm>
            <a:off x="7580193" y="2880360"/>
            <a:ext cx="1642811" cy="457200"/>
          </a:xfrm>
          <a:prstGeom prst="rect">
            <a:avLst/>
          </a:prstGeom>
          <a:noFill/>
          <a:ln/>
        </p:spPr>
        <p:txBody>
          <a:bodyPr wrap="square" lIns="0" tIns="0" rIns="0" bIns="0" rtlCol="0" anchor="t"/>
          <a:lstStyle/>
          <a:p>
            <a:pPr marL="0" indent="0">
              <a:buNone/>
            </a:pPr>
            <a:r>
              <a:rPr lang="en-US" sz="1400" b="1" dirty="0">
                <a:solidFill>
                  <a:schemeClr val="tx2"/>
                </a:solidFill>
              </a:rPr>
              <a:t>Route to nearest station</a:t>
            </a:r>
            <a:endParaRPr lang="en-US" sz="1400" dirty="0"/>
          </a:p>
        </p:txBody>
      </p:sp>
      <p:sp>
        <p:nvSpPr>
          <p:cNvPr id="32" name="Text 25"/>
          <p:cNvSpPr txBox="1"/>
          <p:nvPr/>
        </p:nvSpPr>
        <p:spPr>
          <a:xfrm>
            <a:off x="7580193" y="3337560"/>
            <a:ext cx="1642811" cy="868680"/>
          </a:xfrm>
          <a:prstGeom prst="rect">
            <a:avLst/>
          </a:prstGeom>
          <a:noFill/>
          <a:ln/>
        </p:spPr>
        <p:txBody>
          <a:bodyPr wrap="square" lIns="0" tIns="0" rIns="0" bIns="0" rtlCol="0" anchor="t"/>
          <a:lstStyle/>
          <a:p>
            <a:pPr marL="0" indent="0">
              <a:buNone/>
            </a:pPr>
            <a:r>
              <a:rPr lang="en-US" sz="1200" dirty="0">
                <a:solidFill>
                  <a:schemeClr val="tx1"/>
                </a:solidFill>
              </a:rPr>
              <a:t>Haversine distance to the closest police station</a:t>
            </a:r>
            <a:endParaRPr lang="en-US" sz="1200" dirty="0"/>
          </a:p>
        </p:txBody>
      </p:sp>
      <p:sp>
        <p:nvSpPr>
          <p:cNvPr id="33" name="Shape 26"/>
          <p:cNvSpPr/>
          <p:nvPr/>
        </p:nvSpPr>
        <p:spPr>
          <a:xfrm>
            <a:off x="9433316" y="2999232"/>
            <a:ext cx="173736" cy="219456"/>
          </a:xfrm>
          <a:prstGeom prst="chevron">
            <a:avLst/>
          </a:prstGeom>
          <a:solidFill>
            <a:schemeClr val="accent3"/>
          </a:solidFill>
          <a:ln/>
        </p:spPr>
        <p:txBody>
          <a:bodyPr/>
          <a:lstStyle/>
          <a:p>
            <a:endParaRPr lang="en-US"/>
          </a:p>
        </p:txBody>
      </p:sp>
      <p:sp>
        <p:nvSpPr>
          <p:cNvPr id="34" name="Step 5"/>
          <p:cNvSpPr/>
          <p:nvPr/>
        </p:nvSpPr>
        <p:spPr>
          <a:xfrm>
            <a:off x="9680204" y="1965960"/>
            <a:ext cx="1962851" cy="2286000"/>
          </a:xfrm>
          <a:prstGeom prst="roundRect">
            <a:avLst>
              <a:gd name="adj" fmla="val 5590"/>
            </a:avLst>
          </a:prstGeom>
          <a:solidFill>
            <a:schemeClr val="bg2"/>
          </a:solidFill>
          <a:ln/>
        </p:spPr>
        <p:txBody>
          <a:bodyPr/>
          <a:lstStyle/>
          <a:p>
            <a:endParaRPr lang="en-US"/>
          </a:p>
        </p:txBody>
      </p:sp>
      <p:sp>
        <p:nvSpPr>
          <p:cNvPr id="35" name="Shape 28"/>
          <p:cNvSpPr/>
          <p:nvPr/>
        </p:nvSpPr>
        <p:spPr>
          <a:xfrm>
            <a:off x="9863084" y="2148840"/>
            <a:ext cx="594360" cy="594360"/>
          </a:xfrm>
          <a:prstGeom prst="ellipse">
            <a:avLst/>
          </a:prstGeom>
          <a:solidFill>
            <a:schemeClr val="accent3"/>
          </a:solidFill>
          <a:ln/>
        </p:spPr>
        <p:txBody>
          <a:bodyPr/>
          <a:lstStyle/>
          <a:p>
            <a:endParaRPr lang="en-US"/>
          </a:p>
        </p:txBody>
      </p:sp>
      <p:pic>
        <p:nvPicPr>
          <p:cNvPr id="36" name="Image 5" descr="preencoded.png"/>
          <p:cNvPicPr>
            <a:picLocks noChangeAspect="1"/>
          </p:cNvPicPr>
          <p:nvPr/>
        </p:nvPicPr>
        <p:blipFill>
          <a:blip r:embed="rId8"/>
          <a:stretch>
            <a:fillRect/>
          </a:stretch>
        </p:blipFill>
        <p:spPr>
          <a:xfrm>
            <a:off x="10011674" y="2297430"/>
            <a:ext cx="297180" cy="297180"/>
          </a:xfrm>
          <a:prstGeom prst="rect">
            <a:avLst/>
          </a:prstGeom>
        </p:spPr>
      </p:pic>
      <p:sp>
        <p:nvSpPr>
          <p:cNvPr id="37" name="Text 29"/>
          <p:cNvSpPr txBox="1"/>
          <p:nvPr/>
        </p:nvSpPr>
        <p:spPr>
          <a:xfrm>
            <a:off x="11140135" y="2148840"/>
            <a:ext cx="320040" cy="320040"/>
          </a:xfrm>
          <a:prstGeom prst="rect">
            <a:avLst/>
          </a:prstGeom>
          <a:noFill/>
          <a:ln/>
        </p:spPr>
        <p:txBody>
          <a:bodyPr wrap="square" lIns="0" tIns="0" rIns="0" bIns="0" rtlCol="0" anchor="t"/>
          <a:lstStyle/>
          <a:p>
            <a:pPr marL="0" indent="0" algn="r">
              <a:buNone/>
            </a:pPr>
            <a:r>
              <a:rPr lang="en-US" sz="1400" b="1" dirty="0">
                <a:solidFill>
                  <a:schemeClr val="accent5"/>
                </a:solidFill>
              </a:rPr>
              <a:t>5</a:t>
            </a:r>
            <a:endParaRPr lang="en-US" sz="1400" dirty="0"/>
          </a:p>
        </p:txBody>
      </p:sp>
      <p:sp>
        <p:nvSpPr>
          <p:cNvPr id="38" name="Text 30"/>
          <p:cNvSpPr txBox="1"/>
          <p:nvPr/>
        </p:nvSpPr>
        <p:spPr>
          <a:xfrm>
            <a:off x="9863084" y="2880360"/>
            <a:ext cx="1642811" cy="457200"/>
          </a:xfrm>
          <a:prstGeom prst="rect">
            <a:avLst/>
          </a:prstGeom>
          <a:noFill/>
          <a:ln/>
        </p:spPr>
        <p:txBody>
          <a:bodyPr wrap="square" lIns="0" tIns="0" rIns="0" bIns="0" rtlCol="0" anchor="t"/>
          <a:lstStyle/>
          <a:p>
            <a:pPr marL="0" indent="0">
              <a:buNone/>
            </a:pPr>
            <a:r>
              <a:rPr lang="en-US" sz="1400" b="1" dirty="0">
                <a:solidFill>
                  <a:schemeClr val="tx2"/>
                </a:solidFill>
              </a:rPr>
              <a:t>Police dashboard</a:t>
            </a:r>
            <a:endParaRPr lang="en-US" sz="1400" dirty="0"/>
          </a:p>
        </p:txBody>
      </p:sp>
      <p:sp>
        <p:nvSpPr>
          <p:cNvPr id="39" name="Text 31"/>
          <p:cNvSpPr txBox="1"/>
          <p:nvPr/>
        </p:nvSpPr>
        <p:spPr>
          <a:xfrm>
            <a:off x="9863084" y="3337560"/>
            <a:ext cx="1642811" cy="868680"/>
          </a:xfrm>
          <a:prstGeom prst="rect">
            <a:avLst/>
          </a:prstGeom>
          <a:noFill/>
          <a:ln/>
        </p:spPr>
        <p:txBody>
          <a:bodyPr wrap="square" lIns="0" tIns="0" rIns="0" bIns="0" rtlCol="0" anchor="t"/>
          <a:lstStyle/>
          <a:p>
            <a:pPr marL="0" indent="0">
              <a:buNone/>
            </a:pPr>
            <a:r>
              <a:rPr lang="en-US" sz="1200" dirty="0">
                <a:solidFill>
                  <a:schemeClr val="tx1"/>
                </a:solidFill>
              </a:rPr>
              <a:t>Live map, acknowledge, status, analytics; separate overstay alert for officer review</a:t>
            </a:r>
            <a:endParaRPr lang="en-US" sz="1200" dirty="0"/>
          </a:p>
        </p:txBody>
      </p:sp>
      <p:pic>
        <p:nvPicPr>
          <p:cNvPr id="40" name="Image 6" descr="/home/claude/work/police.jpg"/>
          <p:cNvPicPr>
            <a:picLocks noChangeAspect="1"/>
          </p:cNvPicPr>
          <p:nvPr/>
        </p:nvPicPr>
        <p:blipFill>
          <a:blip r:embed="rId9"/>
          <a:srcRect/>
          <a:stretch/>
        </p:blipFill>
        <p:spPr>
          <a:xfrm>
            <a:off x="548640" y="4526280"/>
            <a:ext cx="2834640" cy="1691640"/>
          </a:xfrm>
          <a:prstGeom prst="rect">
            <a:avLst/>
          </a:prstGeom>
        </p:spPr>
      </p:pic>
      <p:sp>
        <p:nvSpPr>
          <p:cNvPr id="41" name="Shape 32"/>
          <p:cNvSpPr/>
          <p:nvPr/>
        </p:nvSpPr>
        <p:spPr>
          <a:xfrm>
            <a:off x="3657600" y="4526280"/>
            <a:ext cx="4937760" cy="1691640"/>
          </a:xfrm>
          <a:prstGeom prst="roundRect">
            <a:avLst>
              <a:gd name="adj" fmla="val 6486"/>
            </a:avLst>
          </a:prstGeom>
          <a:solidFill>
            <a:schemeClr val="bg1"/>
          </a:solidFill>
          <a:ln w="9525">
            <a:solidFill>
              <a:srgbClr val="DCE6E2"/>
            </a:solidFill>
            <a:prstDash val="solid"/>
          </a:ln>
        </p:spPr>
        <p:txBody>
          <a:bodyPr/>
          <a:lstStyle/>
          <a:p>
            <a:endParaRPr lang="en-US"/>
          </a:p>
        </p:txBody>
      </p:sp>
      <p:sp>
        <p:nvSpPr>
          <p:cNvPr id="42" name="Shape 33"/>
          <p:cNvSpPr/>
          <p:nvPr/>
        </p:nvSpPr>
        <p:spPr>
          <a:xfrm>
            <a:off x="3840480" y="4709160"/>
            <a:ext cx="457200" cy="457200"/>
          </a:xfrm>
          <a:prstGeom prst="ellipse">
            <a:avLst/>
          </a:prstGeom>
          <a:solidFill>
            <a:schemeClr val="accent3"/>
          </a:solidFill>
          <a:ln/>
        </p:spPr>
        <p:txBody>
          <a:bodyPr/>
          <a:lstStyle/>
          <a:p>
            <a:endParaRPr lang="en-US"/>
          </a:p>
        </p:txBody>
      </p:sp>
      <p:pic>
        <p:nvPicPr>
          <p:cNvPr id="43" name="Image 7" descr="preencoded.png"/>
          <p:cNvPicPr>
            <a:picLocks noChangeAspect="1"/>
          </p:cNvPicPr>
          <p:nvPr/>
        </p:nvPicPr>
        <p:blipFill>
          <a:blip r:embed="rId10"/>
          <a:stretch>
            <a:fillRect/>
          </a:stretch>
        </p:blipFill>
        <p:spPr>
          <a:xfrm>
            <a:off x="3954780" y="4823460"/>
            <a:ext cx="228600" cy="228600"/>
          </a:xfrm>
          <a:prstGeom prst="rect">
            <a:avLst/>
          </a:prstGeom>
        </p:spPr>
      </p:pic>
      <p:sp>
        <p:nvSpPr>
          <p:cNvPr id="44" name="Text 34"/>
          <p:cNvSpPr txBox="1"/>
          <p:nvPr/>
        </p:nvSpPr>
        <p:spPr>
          <a:xfrm>
            <a:off x="4434840" y="4727448"/>
            <a:ext cx="4023360" cy="411480"/>
          </a:xfrm>
          <a:prstGeom prst="rect">
            <a:avLst/>
          </a:prstGeom>
          <a:noFill/>
          <a:ln/>
        </p:spPr>
        <p:txBody>
          <a:bodyPr wrap="square" lIns="0" tIns="0" rIns="0" bIns="0" rtlCol="0" anchor="ctr"/>
          <a:lstStyle/>
          <a:p>
            <a:pPr marL="0" indent="0">
              <a:buNone/>
            </a:pPr>
            <a:r>
              <a:rPr lang="en-US" sz="1500" b="1" dirty="0">
                <a:solidFill>
                  <a:schemeClr val="tx2"/>
                </a:solidFill>
              </a:rPr>
              <a:t>How it fits the platform</a:t>
            </a:r>
            <a:endParaRPr lang="en-US" sz="1500" dirty="0"/>
          </a:p>
        </p:txBody>
      </p:sp>
      <p:sp>
        <p:nvSpPr>
          <p:cNvPr id="45" name="Text 35"/>
          <p:cNvSpPr txBox="1"/>
          <p:nvPr/>
        </p:nvSpPr>
        <p:spPr>
          <a:xfrm>
            <a:off x="3840480" y="5257800"/>
            <a:ext cx="4572000" cy="868680"/>
          </a:xfrm>
          <a:prstGeom prst="rect">
            <a:avLst/>
          </a:prstGeom>
          <a:noFill/>
          <a:ln/>
        </p:spPr>
        <p:txBody>
          <a:bodyPr wrap="square" lIns="0" tIns="0" rIns="0" bIns="0" rtlCol="0" anchor="t"/>
          <a:lstStyle/>
          <a:p>
            <a:pPr marL="0" indent="0">
              <a:buNone/>
            </a:pPr>
            <a:r>
              <a:rPr lang="en-US" sz="1300" dirty="0">
                <a:solidFill>
                  <a:schemeClr val="tx1"/>
                </a:solidFill>
              </a:rPr>
              <a:t>SOS location and incident type go straight to the police dashboard. It shares the backend and tourist profile with the other three modules.</a:t>
            </a:r>
            <a:endParaRPr lang="en-US" sz="1300" dirty="0"/>
          </a:p>
        </p:txBody>
      </p:sp>
      <p:sp>
        <p:nvSpPr>
          <p:cNvPr id="46" name="Key result"/>
          <p:cNvSpPr/>
          <p:nvPr/>
        </p:nvSpPr>
        <p:spPr>
          <a:xfrm>
            <a:off x="8869680" y="4526280"/>
            <a:ext cx="2773375" cy="1691640"/>
          </a:xfrm>
          <a:prstGeom prst="roundRect">
            <a:avLst>
              <a:gd name="adj" fmla="val 6486"/>
            </a:avLst>
          </a:prstGeom>
          <a:solidFill>
            <a:schemeClr val="tx2"/>
          </a:solidFill>
          <a:ln/>
        </p:spPr>
        <p:txBody>
          <a:bodyPr/>
          <a:lstStyle/>
          <a:p>
            <a:endParaRPr lang="en-US"/>
          </a:p>
        </p:txBody>
      </p:sp>
      <p:sp>
        <p:nvSpPr>
          <p:cNvPr id="47" name="Text 37"/>
          <p:cNvSpPr txBox="1"/>
          <p:nvPr/>
        </p:nvSpPr>
        <p:spPr>
          <a:xfrm>
            <a:off x="9098280" y="4663440"/>
            <a:ext cx="2316175" cy="228600"/>
          </a:xfrm>
          <a:prstGeom prst="rect">
            <a:avLst/>
          </a:prstGeom>
          <a:noFill/>
          <a:ln/>
        </p:spPr>
        <p:txBody>
          <a:bodyPr wrap="square" lIns="0" tIns="0" rIns="0" bIns="0" rtlCol="0" anchor="t"/>
          <a:lstStyle/>
          <a:p>
            <a:pPr marL="0" indent="0">
              <a:buNone/>
            </a:pPr>
            <a:r>
              <a:rPr lang="en-US" sz="1000" b="1" kern="0" spc="200" dirty="0">
                <a:solidFill>
                  <a:schemeClr val="accent6"/>
                </a:solidFill>
              </a:rPr>
              <a:t>KEY RESULT</a:t>
            </a:r>
            <a:endParaRPr lang="en-US" sz="1000" dirty="0"/>
          </a:p>
        </p:txBody>
      </p:sp>
      <p:sp>
        <p:nvSpPr>
          <p:cNvPr id="48" name="Text 38"/>
          <p:cNvSpPr txBox="1"/>
          <p:nvPr/>
        </p:nvSpPr>
        <p:spPr>
          <a:xfrm>
            <a:off x="9098280" y="4892040"/>
            <a:ext cx="2316175" cy="640080"/>
          </a:xfrm>
          <a:prstGeom prst="rect">
            <a:avLst/>
          </a:prstGeom>
          <a:noFill/>
          <a:ln/>
        </p:spPr>
        <p:txBody>
          <a:bodyPr wrap="square" lIns="0" tIns="0" rIns="0" bIns="0" rtlCol="0" anchor="ctr"/>
          <a:lstStyle/>
          <a:p>
            <a:pPr marL="0" indent="0">
              <a:buNone/>
            </a:pPr>
            <a:r>
              <a:rPr lang="en-US" sz="3600" b="1" dirty="0">
                <a:solidFill>
                  <a:schemeClr val="bg1"/>
                </a:solidFill>
                <a:latin typeface="Arial" pitchFamily="34" charset="0"/>
                <a:ea typeface="Arial" pitchFamily="34" charset="-122"/>
                <a:cs typeface="Arial" pitchFamily="34" charset="-120"/>
              </a:rPr>
              <a:t>0.923</a:t>
            </a:r>
            <a:endParaRPr lang="en-US" sz="3600" dirty="0"/>
          </a:p>
        </p:txBody>
      </p:sp>
      <p:sp>
        <p:nvSpPr>
          <p:cNvPr id="49" name="Text 39"/>
          <p:cNvSpPr txBox="1"/>
          <p:nvPr/>
        </p:nvSpPr>
        <p:spPr>
          <a:xfrm>
            <a:off x="9098280" y="5550408"/>
            <a:ext cx="2316175" cy="594360"/>
          </a:xfrm>
          <a:prstGeom prst="rect">
            <a:avLst/>
          </a:prstGeom>
          <a:noFill/>
          <a:ln/>
        </p:spPr>
        <p:txBody>
          <a:bodyPr wrap="square" lIns="0" tIns="0" rIns="0" bIns="0" rtlCol="0" anchor="t"/>
          <a:lstStyle/>
          <a:p>
            <a:pPr marL="0" indent="0">
              <a:buNone/>
            </a:pPr>
            <a:r>
              <a:rPr lang="en-US" sz="1100" dirty="0">
                <a:solidFill>
                  <a:srgbClr val="CFE0DB"/>
                </a:solidFill>
              </a:rPr>
              <a:t>Random Forest macro-F1 vs 0.783 keyword baseline (5-fold CV, 1,943 messages)</a:t>
            </a:r>
            <a:endParaRPr lang="en-US" sz="1100" dirty="0"/>
          </a:p>
        </p:txBody>
      </p:sp>
      <p:sp>
        <p:nvSpPr>
          <p:cNvPr id="50"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5"/>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Kicker"/>
          <p:cNvSpPr txBox="1"/>
          <p:nvPr/>
        </p:nvSpPr>
        <p:spPr>
          <a:xfrm>
            <a:off x="548640" y="384048"/>
            <a:ext cx="9144000" cy="274320"/>
          </a:xfrm>
          <a:prstGeom prst="rect">
            <a:avLst/>
          </a:prstGeom>
          <a:noFill/>
          <a:ln/>
        </p:spPr>
        <p:txBody>
          <a:bodyPr wrap="square" lIns="0" tIns="0" rIns="0" bIns="0" rtlCol="0" anchor="ctr"/>
          <a:lstStyle/>
          <a:p>
            <a:pPr marL="0" indent="0">
              <a:buNone/>
            </a:pPr>
            <a:r>
              <a:rPr lang="en-US" sz="1200" b="1" kern="0" spc="200" dirty="0">
                <a:solidFill>
                  <a:schemeClr val="accent1"/>
                </a:solidFill>
              </a:rPr>
              <a:t>INDIVIDUAL COMPONENT  ·  IT22225092  ·  Wanniarachchi P.M.R</a:t>
            </a:r>
            <a:endParaRPr lang="en-US" sz="1200" dirty="0"/>
          </a:p>
        </p:txBody>
      </p:sp>
      <p:sp>
        <p:nvSpPr>
          <p:cNvPr id="3" name="Title"/>
          <p:cNvSpPr txBox="1"/>
          <p:nvPr/>
        </p:nvSpPr>
        <p:spPr>
          <a:xfrm>
            <a:off x="548640" y="658368"/>
            <a:ext cx="9144000" cy="640080"/>
          </a:xfrm>
          <a:prstGeom prst="rect">
            <a:avLst/>
          </a:prstGeom>
          <a:noFill/>
          <a:ln/>
        </p:spPr>
        <p:txBody>
          <a:bodyPr wrap="square" lIns="0" tIns="0" rIns="0" bIns="0" rtlCol="0" anchor="ctr"/>
          <a:lstStyle/>
          <a:p>
            <a:pPr marL="0" indent="0">
              <a:buNone/>
            </a:pPr>
            <a:r>
              <a:rPr lang="en-US" sz="3000" b="1" dirty="0">
                <a:solidFill>
                  <a:schemeClr val="tx2"/>
                </a:solidFill>
                <a:latin typeface="Arial" pitchFamily="34" charset="0"/>
                <a:ea typeface="Arial" pitchFamily="34" charset="-122"/>
                <a:cs typeface="Arial" pitchFamily="34" charset="-120"/>
              </a:rPr>
              <a:t>Personalised Sri Lanka Itinerary Planner</a:t>
            </a:r>
            <a:endParaRPr lang="en-US" sz="3000" dirty="0"/>
          </a:p>
        </p:txBody>
      </p:sp>
      <p:sp>
        <p:nvSpPr>
          <p:cNvPr id="4" name="Tagline"/>
          <p:cNvSpPr txBox="1"/>
          <p:nvPr/>
        </p:nvSpPr>
        <p:spPr>
          <a:xfrm>
            <a:off x="548640" y="1298448"/>
            <a:ext cx="9144000" cy="365760"/>
          </a:xfrm>
          <a:prstGeom prst="rect">
            <a:avLst/>
          </a:prstGeom>
          <a:noFill/>
          <a:ln/>
        </p:spPr>
        <p:txBody>
          <a:bodyPr wrap="square" lIns="0" tIns="0" rIns="0" bIns="0" rtlCol="0" anchor="ctr"/>
          <a:lstStyle/>
          <a:p>
            <a:pPr marL="0" indent="0">
              <a:buNone/>
            </a:pPr>
            <a:r>
              <a:rPr lang="en-US" sz="1500" i="1" dirty="0">
                <a:solidFill>
                  <a:schemeClr val="accent5"/>
                </a:solidFill>
              </a:rPr>
              <a:t>From a few traveller inputs to a full day-by-day plan with hotels and a budget split</a:t>
            </a:r>
            <a:endParaRPr lang="en-US" sz="1500" dirty="0"/>
          </a:p>
        </p:txBody>
      </p:sp>
      <p:sp>
        <p:nvSpPr>
          <p:cNvPr id="5" name="Shape 3"/>
          <p:cNvSpPr/>
          <p:nvPr/>
        </p:nvSpPr>
        <p:spPr>
          <a:xfrm>
            <a:off x="10287000" y="365760"/>
            <a:ext cx="1325880" cy="1325880"/>
          </a:xfrm>
          <a:prstGeom prst="ellipse">
            <a:avLst/>
          </a:prstGeom>
          <a:solidFill>
            <a:schemeClr val="accent2"/>
          </a:solidFill>
          <a:ln/>
        </p:spPr>
        <p:txBody>
          <a:bodyPr/>
          <a:lstStyle/>
          <a:p>
            <a:endParaRPr lang="en-US"/>
          </a:p>
        </p:txBody>
      </p:sp>
      <p:sp>
        <p:nvSpPr>
          <p:cNvPr id="6" name="Text 4"/>
          <p:cNvSpPr txBox="1"/>
          <p:nvPr/>
        </p:nvSpPr>
        <p:spPr>
          <a:xfrm>
            <a:off x="10287000" y="365760"/>
            <a:ext cx="1325880" cy="1325880"/>
          </a:xfrm>
          <a:prstGeom prst="rect">
            <a:avLst/>
          </a:prstGeom>
          <a:noFill/>
          <a:ln/>
        </p:spPr>
        <p:txBody>
          <a:bodyPr wrap="square" lIns="0" tIns="0" rIns="0" bIns="0" rtlCol="0" anchor="ctr"/>
          <a:lstStyle/>
          <a:p>
            <a:pPr marL="0" indent="0" algn="ctr">
              <a:buNone/>
            </a:pPr>
            <a:r>
              <a:rPr lang="en-US" sz="2600" b="1" dirty="0">
                <a:solidFill>
                  <a:schemeClr val="bg1"/>
                </a:solidFill>
              </a:rPr>
              <a:t>PMR</a:t>
            </a:r>
            <a:endParaRPr lang="en-US" sz="2600" dirty="0"/>
          </a:p>
        </p:txBody>
      </p:sp>
      <p:sp>
        <p:nvSpPr>
          <p:cNvPr id="7" name="Step 1"/>
          <p:cNvSpPr/>
          <p:nvPr/>
        </p:nvSpPr>
        <p:spPr>
          <a:xfrm>
            <a:off x="548640" y="1965960"/>
            <a:ext cx="1962851" cy="2286000"/>
          </a:xfrm>
          <a:prstGeom prst="roundRect">
            <a:avLst>
              <a:gd name="adj" fmla="val 5590"/>
            </a:avLst>
          </a:prstGeom>
          <a:solidFill>
            <a:schemeClr val="bg2"/>
          </a:solidFill>
          <a:ln/>
        </p:spPr>
        <p:txBody>
          <a:bodyPr/>
          <a:lstStyle/>
          <a:p>
            <a:endParaRPr lang="en-US"/>
          </a:p>
        </p:txBody>
      </p:sp>
      <p:sp>
        <p:nvSpPr>
          <p:cNvPr id="8" name="Shape 6"/>
          <p:cNvSpPr/>
          <p:nvPr/>
        </p:nvSpPr>
        <p:spPr>
          <a:xfrm>
            <a:off x="731520" y="2148840"/>
            <a:ext cx="594360" cy="594360"/>
          </a:xfrm>
          <a:prstGeom prst="ellipse">
            <a:avLst/>
          </a:prstGeom>
          <a:solidFill>
            <a:schemeClr val="accent1"/>
          </a:solidFill>
          <a:ln/>
        </p:spPr>
        <p:txBody>
          <a:bodyPr/>
          <a:lstStyle/>
          <a:p>
            <a:endParaRPr lang="en-US"/>
          </a:p>
        </p:txBody>
      </p:sp>
      <p:pic>
        <p:nvPicPr>
          <p:cNvPr id="9" name="Image 0" descr="preencoded.png"/>
          <p:cNvPicPr>
            <a:picLocks noChangeAspect="1"/>
          </p:cNvPicPr>
          <p:nvPr/>
        </p:nvPicPr>
        <p:blipFill>
          <a:blip r:embed="rId3"/>
          <a:stretch>
            <a:fillRect/>
          </a:stretch>
        </p:blipFill>
        <p:spPr>
          <a:xfrm>
            <a:off x="880110" y="2297430"/>
            <a:ext cx="297180" cy="297180"/>
          </a:xfrm>
          <a:prstGeom prst="rect">
            <a:avLst/>
          </a:prstGeom>
        </p:spPr>
      </p:pic>
      <p:sp>
        <p:nvSpPr>
          <p:cNvPr id="10" name="Text 7"/>
          <p:cNvSpPr txBox="1"/>
          <p:nvPr/>
        </p:nvSpPr>
        <p:spPr>
          <a:xfrm>
            <a:off x="2008571" y="2148840"/>
            <a:ext cx="320040" cy="320040"/>
          </a:xfrm>
          <a:prstGeom prst="rect">
            <a:avLst/>
          </a:prstGeom>
          <a:noFill/>
          <a:ln/>
        </p:spPr>
        <p:txBody>
          <a:bodyPr wrap="square" lIns="0" tIns="0" rIns="0" bIns="0" rtlCol="0" anchor="t"/>
          <a:lstStyle/>
          <a:p>
            <a:pPr marL="0" indent="0" algn="r">
              <a:buNone/>
            </a:pPr>
            <a:r>
              <a:rPr lang="en-US" sz="1400" b="1" dirty="0">
                <a:solidFill>
                  <a:schemeClr val="accent5"/>
                </a:solidFill>
              </a:rPr>
              <a:t>1</a:t>
            </a:r>
            <a:endParaRPr lang="en-US" sz="1400" dirty="0"/>
          </a:p>
        </p:txBody>
      </p:sp>
      <p:sp>
        <p:nvSpPr>
          <p:cNvPr id="11" name="Text 8"/>
          <p:cNvSpPr txBox="1"/>
          <p:nvPr/>
        </p:nvSpPr>
        <p:spPr>
          <a:xfrm>
            <a:off x="731520" y="2880360"/>
            <a:ext cx="1642811" cy="457200"/>
          </a:xfrm>
          <a:prstGeom prst="rect">
            <a:avLst/>
          </a:prstGeom>
          <a:noFill/>
          <a:ln/>
        </p:spPr>
        <p:txBody>
          <a:bodyPr wrap="square" lIns="0" tIns="0" rIns="0" bIns="0" rtlCol="0" anchor="t"/>
          <a:lstStyle/>
          <a:p>
            <a:pPr marL="0" indent="0">
              <a:buNone/>
            </a:pPr>
            <a:r>
              <a:rPr lang="en-US" sz="1400" b="1" dirty="0">
                <a:solidFill>
                  <a:schemeClr val="tx2"/>
                </a:solidFill>
              </a:rPr>
              <a:t>Traveller inputs</a:t>
            </a:r>
            <a:endParaRPr lang="en-US" sz="1400" dirty="0"/>
          </a:p>
        </p:txBody>
      </p:sp>
      <p:sp>
        <p:nvSpPr>
          <p:cNvPr id="12" name="Text 9"/>
          <p:cNvSpPr txBox="1"/>
          <p:nvPr/>
        </p:nvSpPr>
        <p:spPr>
          <a:xfrm>
            <a:off x="731520" y="3337560"/>
            <a:ext cx="1642811" cy="868680"/>
          </a:xfrm>
          <a:prstGeom prst="rect">
            <a:avLst/>
          </a:prstGeom>
          <a:noFill/>
          <a:ln/>
        </p:spPr>
        <p:txBody>
          <a:bodyPr wrap="square" lIns="0" tIns="0" rIns="0" bIns="0" rtlCol="0" anchor="t"/>
          <a:lstStyle/>
          <a:p>
            <a:pPr marL="0" indent="0">
              <a:buNone/>
            </a:pPr>
            <a:r>
              <a:rPr lang="en-US" sz="1200" dirty="0">
                <a:solidFill>
                  <a:schemeClr val="tx1"/>
                </a:solidFill>
              </a:rPr>
              <a:t>Dates, total budget, free-text experience, comfort level, meal plan</a:t>
            </a:r>
            <a:endParaRPr lang="en-US" sz="1200" dirty="0"/>
          </a:p>
        </p:txBody>
      </p:sp>
      <p:sp>
        <p:nvSpPr>
          <p:cNvPr id="13" name="Shape 10"/>
          <p:cNvSpPr/>
          <p:nvPr/>
        </p:nvSpPr>
        <p:spPr>
          <a:xfrm>
            <a:off x="2584643" y="2999232"/>
            <a:ext cx="173736" cy="219456"/>
          </a:xfrm>
          <a:prstGeom prst="chevron">
            <a:avLst/>
          </a:prstGeom>
          <a:solidFill>
            <a:schemeClr val="accent2"/>
          </a:solidFill>
          <a:ln/>
        </p:spPr>
        <p:txBody>
          <a:bodyPr/>
          <a:lstStyle/>
          <a:p>
            <a:endParaRPr lang="en-US"/>
          </a:p>
        </p:txBody>
      </p:sp>
      <p:sp>
        <p:nvSpPr>
          <p:cNvPr id="14" name="Step 2"/>
          <p:cNvSpPr/>
          <p:nvPr/>
        </p:nvSpPr>
        <p:spPr>
          <a:xfrm>
            <a:off x="2831531" y="1965960"/>
            <a:ext cx="1962851" cy="2286000"/>
          </a:xfrm>
          <a:prstGeom prst="roundRect">
            <a:avLst>
              <a:gd name="adj" fmla="val 5590"/>
            </a:avLst>
          </a:prstGeom>
          <a:solidFill>
            <a:schemeClr val="bg2"/>
          </a:solidFill>
          <a:ln/>
        </p:spPr>
        <p:txBody>
          <a:bodyPr/>
          <a:lstStyle/>
          <a:p>
            <a:endParaRPr lang="en-US"/>
          </a:p>
        </p:txBody>
      </p:sp>
      <p:sp>
        <p:nvSpPr>
          <p:cNvPr id="15" name="Shape 12"/>
          <p:cNvSpPr/>
          <p:nvPr/>
        </p:nvSpPr>
        <p:spPr>
          <a:xfrm>
            <a:off x="3014411" y="2148840"/>
            <a:ext cx="594360" cy="594360"/>
          </a:xfrm>
          <a:prstGeom prst="ellipse">
            <a:avLst/>
          </a:prstGeom>
          <a:solidFill>
            <a:schemeClr val="accent1"/>
          </a:solidFill>
          <a:ln/>
        </p:spPr>
        <p:txBody>
          <a:bodyPr/>
          <a:lstStyle/>
          <a:p>
            <a:endParaRPr lang="en-US"/>
          </a:p>
        </p:txBody>
      </p:sp>
      <p:pic>
        <p:nvPicPr>
          <p:cNvPr id="16" name="Image 1" descr="preencoded.png"/>
          <p:cNvPicPr>
            <a:picLocks noChangeAspect="1"/>
          </p:cNvPicPr>
          <p:nvPr/>
        </p:nvPicPr>
        <p:blipFill>
          <a:blip r:embed="rId4"/>
          <a:stretch>
            <a:fillRect/>
          </a:stretch>
        </p:blipFill>
        <p:spPr>
          <a:xfrm>
            <a:off x="3163001" y="2297430"/>
            <a:ext cx="297180" cy="297180"/>
          </a:xfrm>
          <a:prstGeom prst="rect">
            <a:avLst/>
          </a:prstGeom>
        </p:spPr>
      </p:pic>
      <p:sp>
        <p:nvSpPr>
          <p:cNvPr id="17" name="Text 13"/>
          <p:cNvSpPr txBox="1"/>
          <p:nvPr/>
        </p:nvSpPr>
        <p:spPr>
          <a:xfrm>
            <a:off x="4291462" y="2148840"/>
            <a:ext cx="320040" cy="320040"/>
          </a:xfrm>
          <a:prstGeom prst="rect">
            <a:avLst/>
          </a:prstGeom>
          <a:noFill/>
          <a:ln/>
        </p:spPr>
        <p:txBody>
          <a:bodyPr wrap="square" lIns="0" tIns="0" rIns="0" bIns="0" rtlCol="0" anchor="t"/>
          <a:lstStyle/>
          <a:p>
            <a:pPr marL="0" indent="0" algn="r">
              <a:buNone/>
            </a:pPr>
            <a:r>
              <a:rPr lang="en-US" sz="1400" b="1" dirty="0">
                <a:solidFill>
                  <a:schemeClr val="accent5"/>
                </a:solidFill>
              </a:rPr>
              <a:t>2</a:t>
            </a:r>
            <a:endParaRPr lang="en-US" sz="1400" dirty="0"/>
          </a:p>
        </p:txBody>
      </p:sp>
      <p:sp>
        <p:nvSpPr>
          <p:cNvPr id="18" name="Text 14"/>
          <p:cNvSpPr txBox="1"/>
          <p:nvPr/>
        </p:nvSpPr>
        <p:spPr>
          <a:xfrm>
            <a:off x="3014411" y="2880360"/>
            <a:ext cx="1642811" cy="457200"/>
          </a:xfrm>
          <a:prstGeom prst="rect">
            <a:avLst/>
          </a:prstGeom>
          <a:noFill/>
          <a:ln/>
        </p:spPr>
        <p:txBody>
          <a:bodyPr wrap="square" lIns="0" tIns="0" rIns="0" bIns="0" rtlCol="0" anchor="t"/>
          <a:lstStyle/>
          <a:p>
            <a:pPr marL="0" indent="0">
              <a:buNone/>
            </a:pPr>
            <a:r>
              <a:rPr lang="en-US" sz="1400" b="1" dirty="0">
                <a:solidFill>
                  <a:schemeClr val="tx2"/>
                </a:solidFill>
              </a:rPr>
              <a:t>Rank attractions</a:t>
            </a:r>
            <a:endParaRPr lang="en-US" sz="1400" dirty="0"/>
          </a:p>
        </p:txBody>
      </p:sp>
      <p:sp>
        <p:nvSpPr>
          <p:cNvPr id="19" name="Text 15"/>
          <p:cNvSpPr txBox="1"/>
          <p:nvPr/>
        </p:nvSpPr>
        <p:spPr>
          <a:xfrm>
            <a:off x="3014411" y="3337560"/>
            <a:ext cx="1642811" cy="868680"/>
          </a:xfrm>
          <a:prstGeom prst="rect">
            <a:avLst/>
          </a:prstGeom>
          <a:noFill/>
          <a:ln/>
        </p:spPr>
        <p:txBody>
          <a:bodyPr wrap="square" lIns="0" tIns="0" rIns="0" bIns="0" rtlCol="0" anchor="t"/>
          <a:lstStyle/>
          <a:p>
            <a:pPr marL="0" indent="0">
              <a:buNone/>
            </a:pPr>
            <a:r>
              <a:rPr lang="en-US" sz="1200" dirty="0">
                <a:solidFill>
                  <a:schemeClr val="tx1"/>
                </a:solidFill>
              </a:rPr>
              <a:t>Random Forest ranks attractions by relevance</a:t>
            </a:r>
            <a:endParaRPr lang="en-US" sz="1200" dirty="0"/>
          </a:p>
        </p:txBody>
      </p:sp>
      <p:sp>
        <p:nvSpPr>
          <p:cNvPr id="20" name="Shape 16"/>
          <p:cNvSpPr/>
          <p:nvPr/>
        </p:nvSpPr>
        <p:spPr>
          <a:xfrm>
            <a:off x="4867534" y="2999232"/>
            <a:ext cx="173736" cy="219456"/>
          </a:xfrm>
          <a:prstGeom prst="chevron">
            <a:avLst/>
          </a:prstGeom>
          <a:solidFill>
            <a:schemeClr val="accent2"/>
          </a:solidFill>
          <a:ln/>
        </p:spPr>
        <p:txBody>
          <a:bodyPr/>
          <a:lstStyle/>
          <a:p>
            <a:endParaRPr lang="en-US"/>
          </a:p>
        </p:txBody>
      </p:sp>
      <p:sp>
        <p:nvSpPr>
          <p:cNvPr id="21" name="Step 3"/>
          <p:cNvSpPr/>
          <p:nvPr/>
        </p:nvSpPr>
        <p:spPr>
          <a:xfrm>
            <a:off x="5114422" y="1965960"/>
            <a:ext cx="1962851" cy="2286000"/>
          </a:xfrm>
          <a:prstGeom prst="roundRect">
            <a:avLst>
              <a:gd name="adj" fmla="val 5590"/>
            </a:avLst>
          </a:prstGeom>
          <a:solidFill>
            <a:schemeClr val="bg2"/>
          </a:solidFill>
          <a:ln/>
        </p:spPr>
        <p:txBody>
          <a:bodyPr/>
          <a:lstStyle/>
          <a:p>
            <a:endParaRPr lang="en-US"/>
          </a:p>
        </p:txBody>
      </p:sp>
      <p:sp>
        <p:nvSpPr>
          <p:cNvPr id="22" name="Shape 18"/>
          <p:cNvSpPr/>
          <p:nvPr/>
        </p:nvSpPr>
        <p:spPr>
          <a:xfrm>
            <a:off x="5297302" y="2148840"/>
            <a:ext cx="594360" cy="594360"/>
          </a:xfrm>
          <a:prstGeom prst="ellipse">
            <a:avLst/>
          </a:prstGeom>
          <a:solidFill>
            <a:schemeClr val="accent1"/>
          </a:solidFill>
          <a:ln/>
        </p:spPr>
        <p:txBody>
          <a:bodyPr/>
          <a:lstStyle/>
          <a:p>
            <a:endParaRPr lang="en-US"/>
          </a:p>
        </p:txBody>
      </p:sp>
      <p:pic>
        <p:nvPicPr>
          <p:cNvPr id="23" name="Image 2" descr="preencoded.png"/>
          <p:cNvPicPr>
            <a:picLocks noChangeAspect="1"/>
          </p:cNvPicPr>
          <p:nvPr/>
        </p:nvPicPr>
        <p:blipFill>
          <a:blip r:embed="rId5"/>
          <a:stretch>
            <a:fillRect/>
          </a:stretch>
        </p:blipFill>
        <p:spPr>
          <a:xfrm>
            <a:off x="5445892" y="2297430"/>
            <a:ext cx="297180" cy="297180"/>
          </a:xfrm>
          <a:prstGeom prst="rect">
            <a:avLst/>
          </a:prstGeom>
        </p:spPr>
      </p:pic>
      <p:sp>
        <p:nvSpPr>
          <p:cNvPr id="24" name="Text 19"/>
          <p:cNvSpPr txBox="1"/>
          <p:nvPr/>
        </p:nvSpPr>
        <p:spPr>
          <a:xfrm>
            <a:off x="6574353" y="2148840"/>
            <a:ext cx="320040" cy="320040"/>
          </a:xfrm>
          <a:prstGeom prst="rect">
            <a:avLst/>
          </a:prstGeom>
          <a:noFill/>
          <a:ln/>
        </p:spPr>
        <p:txBody>
          <a:bodyPr wrap="square" lIns="0" tIns="0" rIns="0" bIns="0" rtlCol="0" anchor="t"/>
          <a:lstStyle/>
          <a:p>
            <a:pPr marL="0" indent="0" algn="r">
              <a:buNone/>
            </a:pPr>
            <a:r>
              <a:rPr lang="en-US" sz="1400" b="1" dirty="0">
                <a:solidFill>
                  <a:schemeClr val="accent5"/>
                </a:solidFill>
              </a:rPr>
              <a:t>3</a:t>
            </a:r>
            <a:endParaRPr lang="en-US" sz="1400" dirty="0"/>
          </a:p>
        </p:txBody>
      </p:sp>
      <p:sp>
        <p:nvSpPr>
          <p:cNvPr id="25" name="Text 20"/>
          <p:cNvSpPr txBox="1"/>
          <p:nvPr/>
        </p:nvSpPr>
        <p:spPr>
          <a:xfrm>
            <a:off x="5297302" y="2880360"/>
            <a:ext cx="1642811" cy="457200"/>
          </a:xfrm>
          <a:prstGeom prst="rect">
            <a:avLst/>
          </a:prstGeom>
          <a:noFill/>
          <a:ln/>
        </p:spPr>
        <p:txBody>
          <a:bodyPr wrap="square" lIns="0" tIns="0" rIns="0" bIns="0" rtlCol="0" anchor="t"/>
          <a:lstStyle/>
          <a:p>
            <a:pPr marL="0" indent="0">
              <a:buNone/>
            </a:pPr>
            <a:r>
              <a:rPr lang="en-US" sz="1400" b="1" dirty="0">
                <a:solidFill>
                  <a:schemeClr val="tx2"/>
                </a:solidFill>
              </a:rPr>
              <a:t>Schedule visits</a:t>
            </a:r>
            <a:endParaRPr lang="en-US" sz="1400" dirty="0"/>
          </a:p>
        </p:txBody>
      </p:sp>
      <p:sp>
        <p:nvSpPr>
          <p:cNvPr id="26" name="Text 21"/>
          <p:cNvSpPr txBox="1"/>
          <p:nvPr/>
        </p:nvSpPr>
        <p:spPr>
          <a:xfrm>
            <a:off x="5297302" y="3337560"/>
            <a:ext cx="1642811" cy="868680"/>
          </a:xfrm>
          <a:prstGeom prst="rect">
            <a:avLst/>
          </a:prstGeom>
          <a:noFill/>
          <a:ln/>
        </p:spPr>
        <p:txBody>
          <a:bodyPr wrap="square" lIns="0" tIns="0" rIns="0" bIns="0" rtlCol="0" anchor="t"/>
          <a:lstStyle/>
          <a:p>
            <a:pPr marL="0" indent="0">
              <a:buNone/>
            </a:pPr>
            <a:r>
              <a:rPr lang="en-US" sz="1200" dirty="0">
                <a:solidFill>
                  <a:schemeClr val="tx1"/>
                </a:solidFill>
              </a:rPr>
              <a:t>Random Forest picks visit times with no overlaps</a:t>
            </a:r>
            <a:endParaRPr lang="en-US" sz="1200" dirty="0"/>
          </a:p>
        </p:txBody>
      </p:sp>
      <p:sp>
        <p:nvSpPr>
          <p:cNvPr id="27" name="Shape 22"/>
          <p:cNvSpPr/>
          <p:nvPr/>
        </p:nvSpPr>
        <p:spPr>
          <a:xfrm>
            <a:off x="7150425" y="2999232"/>
            <a:ext cx="173736" cy="219456"/>
          </a:xfrm>
          <a:prstGeom prst="chevron">
            <a:avLst/>
          </a:prstGeom>
          <a:solidFill>
            <a:schemeClr val="accent2"/>
          </a:solidFill>
          <a:ln/>
        </p:spPr>
        <p:txBody>
          <a:bodyPr/>
          <a:lstStyle/>
          <a:p>
            <a:endParaRPr lang="en-US"/>
          </a:p>
        </p:txBody>
      </p:sp>
      <p:sp>
        <p:nvSpPr>
          <p:cNvPr id="28" name="Step 4"/>
          <p:cNvSpPr/>
          <p:nvPr/>
        </p:nvSpPr>
        <p:spPr>
          <a:xfrm>
            <a:off x="7397313" y="1965960"/>
            <a:ext cx="1962851" cy="2286000"/>
          </a:xfrm>
          <a:prstGeom prst="roundRect">
            <a:avLst>
              <a:gd name="adj" fmla="val 5590"/>
            </a:avLst>
          </a:prstGeom>
          <a:solidFill>
            <a:schemeClr val="bg2"/>
          </a:solidFill>
          <a:ln/>
        </p:spPr>
        <p:txBody>
          <a:bodyPr/>
          <a:lstStyle/>
          <a:p>
            <a:endParaRPr lang="en-US"/>
          </a:p>
        </p:txBody>
      </p:sp>
      <p:sp>
        <p:nvSpPr>
          <p:cNvPr id="29" name="Shape 24"/>
          <p:cNvSpPr/>
          <p:nvPr/>
        </p:nvSpPr>
        <p:spPr>
          <a:xfrm>
            <a:off x="7580193" y="2148840"/>
            <a:ext cx="594360" cy="594360"/>
          </a:xfrm>
          <a:prstGeom prst="ellipse">
            <a:avLst/>
          </a:prstGeom>
          <a:solidFill>
            <a:schemeClr val="accent1"/>
          </a:solidFill>
          <a:ln/>
        </p:spPr>
        <p:txBody>
          <a:bodyPr/>
          <a:lstStyle/>
          <a:p>
            <a:endParaRPr lang="en-US"/>
          </a:p>
        </p:txBody>
      </p:sp>
      <p:pic>
        <p:nvPicPr>
          <p:cNvPr id="30" name="Image 3" descr="preencoded.png"/>
          <p:cNvPicPr>
            <a:picLocks noChangeAspect="1"/>
          </p:cNvPicPr>
          <p:nvPr/>
        </p:nvPicPr>
        <p:blipFill>
          <a:blip r:embed="rId6"/>
          <a:stretch>
            <a:fillRect/>
          </a:stretch>
        </p:blipFill>
        <p:spPr>
          <a:xfrm>
            <a:off x="7728783" y="2297430"/>
            <a:ext cx="297180" cy="297180"/>
          </a:xfrm>
          <a:prstGeom prst="rect">
            <a:avLst/>
          </a:prstGeom>
        </p:spPr>
      </p:pic>
      <p:sp>
        <p:nvSpPr>
          <p:cNvPr id="31" name="Text 25"/>
          <p:cNvSpPr txBox="1"/>
          <p:nvPr/>
        </p:nvSpPr>
        <p:spPr>
          <a:xfrm>
            <a:off x="8857244" y="2148840"/>
            <a:ext cx="320040" cy="320040"/>
          </a:xfrm>
          <a:prstGeom prst="rect">
            <a:avLst/>
          </a:prstGeom>
          <a:noFill/>
          <a:ln/>
        </p:spPr>
        <p:txBody>
          <a:bodyPr wrap="square" lIns="0" tIns="0" rIns="0" bIns="0" rtlCol="0" anchor="t"/>
          <a:lstStyle/>
          <a:p>
            <a:pPr marL="0" indent="0" algn="r">
              <a:buNone/>
            </a:pPr>
            <a:r>
              <a:rPr lang="en-US" sz="1400" b="1" dirty="0">
                <a:solidFill>
                  <a:schemeClr val="accent5"/>
                </a:solidFill>
              </a:rPr>
              <a:t>4</a:t>
            </a:r>
            <a:endParaRPr lang="en-US" sz="1400" dirty="0"/>
          </a:p>
        </p:txBody>
      </p:sp>
      <p:sp>
        <p:nvSpPr>
          <p:cNvPr id="32" name="Text 26"/>
          <p:cNvSpPr txBox="1"/>
          <p:nvPr/>
        </p:nvSpPr>
        <p:spPr>
          <a:xfrm>
            <a:off x="7580193" y="2880360"/>
            <a:ext cx="1642811" cy="457200"/>
          </a:xfrm>
          <a:prstGeom prst="rect">
            <a:avLst/>
          </a:prstGeom>
          <a:noFill/>
          <a:ln/>
        </p:spPr>
        <p:txBody>
          <a:bodyPr wrap="square" lIns="0" tIns="0" rIns="0" bIns="0" rtlCol="0" anchor="t"/>
          <a:lstStyle/>
          <a:p>
            <a:pPr marL="0" indent="0">
              <a:buNone/>
            </a:pPr>
            <a:r>
              <a:rPr lang="en-US" sz="1400" b="1" dirty="0">
                <a:solidFill>
                  <a:schemeClr val="tx2"/>
                </a:solidFill>
              </a:rPr>
              <a:t>Match hotels</a:t>
            </a:r>
            <a:endParaRPr lang="en-US" sz="1400" dirty="0"/>
          </a:p>
        </p:txBody>
      </p:sp>
      <p:sp>
        <p:nvSpPr>
          <p:cNvPr id="33" name="Text 27"/>
          <p:cNvSpPr txBox="1"/>
          <p:nvPr/>
        </p:nvSpPr>
        <p:spPr>
          <a:xfrm>
            <a:off x="7580193" y="3337560"/>
            <a:ext cx="1642811" cy="868680"/>
          </a:xfrm>
          <a:prstGeom prst="rect">
            <a:avLst/>
          </a:prstGeom>
          <a:noFill/>
          <a:ln/>
        </p:spPr>
        <p:txBody>
          <a:bodyPr wrap="square" lIns="0" tIns="0" rIns="0" bIns="0" rtlCol="0" anchor="t"/>
          <a:lstStyle/>
          <a:p>
            <a:pPr marL="0" indent="0">
              <a:buNone/>
            </a:pPr>
            <a:r>
              <a:rPr lang="en-US" sz="1200" dirty="0">
                <a:solidFill>
                  <a:schemeClr val="tx1"/>
                </a:solidFill>
              </a:rPr>
              <a:t>Random Forest scores distance, price, rating, comfort</a:t>
            </a:r>
            <a:endParaRPr lang="en-US" sz="1200" dirty="0"/>
          </a:p>
        </p:txBody>
      </p:sp>
      <p:sp>
        <p:nvSpPr>
          <p:cNvPr id="34" name="Shape 28"/>
          <p:cNvSpPr/>
          <p:nvPr/>
        </p:nvSpPr>
        <p:spPr>
          <a:xfrm>
            <a:off x="9433316" y="2999232"/>
            <a:ext cx="173736" cy="219456"/>
          </a:xfrm>
          <a:prstGeom prst="chevron">
            <a:avLst/>
          </a:prstGeom>
          <a:solidFill>
            <a:schemeClr val="accent2"/>
          </a:solidFill>
          <a:ln/>
        </p:spPr>
        <p:txBody>
          <a:bodyPr/>
          <a:lstStyle/>
          <a:p>
            <a:endParaRPr lang="en-US"/>
          </a:p>
        </p:txBody>
      </p:sp>
      <p:sp>
        <p:nvSpPr>
          <p:cNvPr id="35" name="Step 5"/>
          <p:cNvSpPr/>
          <p:nvPr/>
        </p:nvSpPr>
        <p:spPr>
          <a:xfrm>
            <a:off x="9680204" y="1965960"/>
            <a:ext cx="1962851" cy="2286000"/>
          </a:xfrm>
          <a:prstGeom prst="roundRect">
            <a:avLst>
              <a:gd name="adj" fmla="val 5590"/>
            </a:avLst>
          </a:prstGeom>
          <a:solidFill>
            <a:schemeClr val="bg2"/>
          </a:solidFill>
          <a:ln/>
        </p:spPr>
        <p:txBody>
          <a:bodyPr/>
          <a:lstStyle/>
          <a:p>
            <a:endParaRPr lang="en-US"/>
          </a:p>
        </p:txBody>
      </p:sp>
      <p:sp>
        <p:nvSpPr>
          <p:cNvPr id="36" name="Shape 30"/>
          <p:cNvSpPr/>
          <p:nvPr/>
        </p:nvSpPr>
        <p:spPr>
          <a:xfrm>
            <a:off x="9863084" y="2148840"/>
            <a:ext cx="594360" cy="594360"/>
          </a:xfrm>
          <a:prstGeom prst="ellipse">
            <a:avLst/>
          </a:prstGeom>
          <a:solidFill>
            <a:schemeClr val="accent2"/>
          </a:solidFill>
          <a:ln/>
        </p:spPr>
        <p:txBody>
          <a:bodyPr/>
          <a:lstStyle/>
          <a:p>
            <a:endParaRPr lang="en-US"/>
          </a:p>
        </p:txBody>
      </p:sp>
      <p:pic>
        <p:nvPicPr>
          <p:cNvPr id="37" name="Image 4" descr="preencoded.png"/>
          <p:cNvPicPr>
            <a:picLocks noChangeAspect="1"/>
          </p:cNvPicPr>
          <p:nvPr/>
        </p:nvPicPr>
        <p:blipFill>
          <a:blip r:embed="rId7"/>
          <a:stretch>
            <a:fillRect/>
          </a:stretch>
        </p:blipFill>
        <p:spPr>
          <a:xfrm>
            <a:off x="10011674" y="2297430"/>
            <a:ext cx="297180" cy="297180"/>
          </a:xfrm>
          <a:prstGeom prst="rect">
            <a:avLst/>
          </a:prstGeom>
        </p:spPr>
      </p:pic>
      <p:sp>
        <p:nvSpPr>
          <p:cNvPr id="38" name="Text 31"/>
          <p:cNvSpPr txBox="1"/>
          <p:nvPr/>
        </p:nvSpPr>
        <p:spPr>
          <a:xfrm>
            <a:off x="11140135" y="2148840"/>
            <a:ext cx="320040" cy="320040"/>
          </a:xfrm>
          <a:prstGeom prst="rect">
            <a:avLst/>
          </a:prstGeom>
          <a:noFill/>
          <a:ln/>
        </p:spPr>
        <p:txBody>
          <a:bodyPr wrap="square" lIns="0" tIns="0" rIns="0" bIns="0" rtlCol="0" anchor="t"/>
          <a:lstStyle/>
          <a:p>
            <a:pPr marL="0" indent="0" algn="r">
              <a:buNone/>
            </a:pPr>
            <a:r>
              <a:rPr lang="en-US" sz="1400" b="1" dirty="0">
                <a:solidFill>
                  <a:schemeClr val="accent5"/>
                </a:solidFill>
              </a:rPr>
              <a:t>5</a:t>
            </a:r>
            <a:endParaRPr lang="en-US" sz="1400" dirty="0"/>
          </a:p>
        </p:txBody>
      </p:sp>
      <p:sp>
        <p:nvSpPr>
          <p:cNvPr id="39" name="Text 32"/>
          <p:cNvSpPr txBox="1"/>
          <p:nvPr/>
        </p:nvSpPr>
        <p:spPr>
          <a:xfrm>
            <a:off x="9863084" y="2880360"/>
            <a:ext cx="1642811" cy="457200"/>
          </a:xfrm>
          <a:prstGeom prst="rect">
            <a:avLst/>
          </a:prstGeom>
          <a:noFill/>
          <a:ln/>
        </p:spPr>
        <p:txBody>
          <a:bodyPr wrap="square" lIns="0" tIns="0" rIns="0" bIns="0" rtlCol="0" anchor="t"/>
          <a:lstStyle/>
          <a:p>
            <a:pPr marL="0" indent="0">
              <a:buNone/>
            </a:pPr>
            <a:r>
              <a:rPr lang="en-US" sz="1400" b="1" dirty="0">
                <a:solidFill>
                  <a:schemeClr val="tx2"/>
                </a:solidFill>
              </a:rPr>
              <a:t>Full trip plan</a:t>
            </a:r>
            <a:endParaRPr lang="en-US" sz="1400" dirty="0"/>
          </a:p>
        </p:txBody>
      </p:sp>
      <p:sp>
        <p:nvSpPr>
          <p:cNvPr id="40" name="Text 33"/>
          <p:cNvSpPr txBox="1"/>
          <p:nvPr/>
        </p:nvSpPr>
        <p:spPr>
          <a:xfrm>
            <a:off x="9863084" y="3337560"/>
            <a:ext cx="1642811" cy="868680"/>
          </a:xfrm>
          <a:prstGeom prst="rect">
            <a:avLst/>
          </a:prstGeom>
          <a:noFill/>
          <a:ln/>
        </p:spPr>
        <p:txBody>
          <a:bodyPr wrap="square" lIns="0" tIns="0" rIns="0" bIns="0" rtlCol="0" anchor="t"/>
          <a:lstStyle/>
          <a:p>
            <a:pPr marL="0" indent="0">
              <a:buNone/>
            </a:pPr>
            <a:r>
              <a:rPr lang="en-US" sz="1200" dirty="0">
                <a:solidFill>
                  <a:schemeClr val="tx1"/>
                </a:solidFill>
              </a:rPr>
              <a:t>Arrival, sightseeing and departure days + budget split; export to Excel or PDF</a:t>
            </a:r>
            <a:endParaRPr lang="en-US" sz="1200" dirty="0"/>
          </a:p>
        </p:txBody>
      </p:sp>
      <p:pic>
        <p:nvPicPr>
          <p:cNvPr id="41" name="Image 5" descr="/home/claude/work/map.jpg"/>
          <p:cNvPicPr>
            <a:picLocks noChangeAspect="1"/>
          </p:cNvPicPr>
          <p:nvPr/>
        </p:nvPicPr>
        <p:blipFill>
          <a:blip r:embed="rId8"/>
          <a:srcRect/>
          <a:stretch/>
        </p:blipFill>
        <p:spPr>
          <a:xfrm>
            <a:off x="548640" y="4526280"/>
            <a:ext cx="2834640" cy="1691640"/>
          </a:xfrm>
          <a:prstGeom prst="rect">
            <a:avLst/>
          </a:prstGeom>
        </p:spPr>
      </p:pic>
      <p:sp>
        <p:nvSpPr>
          <p:cNvPr id="42" name="Shape 34"/>
          <p:cNvSpPr/>
          <p:nvPr/>
        </p:nvSpPr>
        <p:spPr>
          <a:xfrm>
            <a:off x="3657600" y="4526280"/>
            <a:ext cx="4937760" cy="1691640"/>
          </a:xfrm>
          <a:prstGeom prst="roundRect">
            <a:avLst>
              <a:gd name="adj" fmla="val 6486"/>
            </a:avLst>
          </a:prstGeom>
          <a:solidFill>
            <a:schemeClr val="bg1"/>
          </a:solidFill>
          <a:ln w="9525">
            <a:solidFill>
              <a:srgbClr val="DCE6E2"/>
            </a:solidFill>
            <a:prstDash val="solid"/>
          </a:ln>
        </p:spPr>
        <p:txBody>
          <a:bodyPr/>
          <a:lstStyle/>
          <a:p>
            <a:endParaRPr lang="en-US"/>
          </a:p>
        </p:txBody>
      </p:sp>
      <p:sp>
        <p:nvSpPr>
          <p:cNvPr id="43" name="Shape 35"/>
          <p:cNvSpPr/>
          <p:nvPr/>
        </p:nvSpPr>
        <p:spPr>
          <a:xfrm>
            <a:off x="3840480" y="4709160"/>
            <a:ext cx="457200" cy="457200"/>
          </a:xfrm>
          <a:prstGeom prst="ellipse">
            <a:avLst/>
          </a:prstGeom>
          <a:solidFill>
            <a:schemeClr val="accent2"/>
          </a:solidFill>
          <a:ln/>
        </p:spPr>
        <p:txBody>
          <a:bodyPr/>
          <a:lstStyle/>
          <a:p>
            <a:endParaRPr lang="en-US"/>
          </a:p>
        </p:txBody>
      </p:sp>
      <p:pic>
        <p:nvPicPr>
          <p:cNvPr id="44" name="Image 6" descr="preencoded.png"/>
          <p:cNvPicPr>
            <a:picLocks noChangeAspect="1"/>
          </p:cNvPicPr>
          <p:nvPr/>
        </p:nvPicPr>
        <p:blipFill>
          <a:blip r:embed="rId9"/>
          <a:stretch>
            <a:fillRect/>
          </a:stretch>
        </p:blipFill>
        <p:spPr>
          <a:xfrm>
            <a:off x="3954780" y="4823460"/>
            <a:ext cx="228600" cy="228600"/>
          </a:xfrm>
          <a:prstGeom prst="rect">
            <a:avLst/>
          </a:prstGeom>
        </p:spPr>
      </p:pic>
      <p:sp>
        <p:nvSpPr>
          <p:cNvPr id="45" name="Text 36"/>
          <p:cNvSpPr txBox="1"/>
          <p:nvPr/>
        </p:nvSpPr>
        <p:spPr>
          <a:xfrm>
            <a:off x="4434840" y="4727448"/>
            <a:ext cx="4023360" cy="411480"/>
          </a:xfrm>
          <a:prstGeom prst="rect">
            <a:avLst/>
          </a:prstGeom>
          <a:noFill/>
          <a:ln/>
        </p:spPr>
        <p:txBody>
          <a:bodyPr wrap="square" lIns="0" tIns="0" rIns="0" bIns="0" rtlCol="0" anchor="ctr"/>
          <a:lstStyle/>
          <a:p>
            <a:pPr marL="0" indent="0">
              <a:buNone/>
            </a:pPr>
            <a:r>
              <a:rPr lang="en-US" sz="1500" b="1" dirty="0">
                <a:solidFill>
                  <a:schemeClr val="tx2"/>
                </a:solidFill>
              </a:rPr>
              <a:t>How it fits the platform</a:t>
            </a:r>
            <a:endParaRPr lang="en-US" sz="1500" dirty="0"/>
          </a:p>
        </p:txBody>
      </p:sp>
      <p:sp>
        <p:nvSpPr>
          <p:cNvPr id="46" name="Text 37"/>
          <p:cNvSpPr txBox="1"/>
          <p:nvPr/>
        </p:nvSpPr>
        <p:spPr>
          <a:xfrm>
            <a:off x="3840480" y="5257800"/>
            <a:ext cx="4572000" cy="868680"/>
          </a:xfrm>
          <a:prstGeom prst="rect">
            <a:avLst/>
          </a:prstGeom>
          <a:noFill/>
          <a:ln/>
        </p:spPr>
        <p:txBody>
          <a:bodyPr wrap="square" lIns="0" tIns="0" rIns="0" bIns="0" rtlCol="0" anchor="t"/>
          <a:lstStyle/>
          <a:p>
            <a:pPr marL="0" indent="0">
              <a:buNone/>
            </a:pPr>
            <a:r>
              <a:rPr lang="en-US" sz="1300" dirty="0">
                <a:solidFill>
                  <a:schemeClr val="tx1"/>
                </a:solidFill>
              </a:rPr>
              <a:t>Each planned visit shows a Low / Medium / High crowd badge from the risk module's ranking, matched by attraction name.</a:t>
            </a:r>
            <a:endParaRPr lang="en-US" sz="1300" dirty="0"/>
          </a:p>
        </p:txBody>
      </p:sp>
      <p:sp>
        <p:nvSpPr>
          <p:cNvPr id="47" name="Key result"/>
          <p:cNvSpPr/>
          <p:nvPr/>
        </p:nvSpPr>
        <p:spPr>
          <a:xfrm>
            <a:off x="8869680" y="4526280"/>
            <a:ext cx="2773375" cy="1691640"/>
          </a:xfrm>
          <a:prstGeom prst="roundRect">
            <a:avLst>
              <a:gd name="adj" fmla="val 6486"/>
            </a:avLst>
          </a:prstGeom>
          <a:solidFill>
            <a:schemeClr val="tx2"/>
          </a:solidFill>
          <a:ln/>
        </p:spPr>
        <p:txBody>
          <a:bodyPr/>
          <a:lstStyle/>
          <a:p>
            <a:endParaRPr lang="en-US"/>
          </a:p>
        </p:txBody>
      </p:sp>
      <p:sp>
        <p:nvSpPr>
          <p:cNvPr id="48" name="Text 39"/>
          <p:cNvSpPr txBox="1"/>
          <p:nvPr/>
        </p:nvSpPr>
        <p:spPr>
          <a:xfrm>
            <a:off x="9098280" y="4663440"/>
            <a:ext cx="2316175" cy="228600"/>
          </a:xfrm>
          <a:prstGeom prst="rect">
            <a:avLst/>
          </a:prstGeom>
          <a:noFill/>
          <a:ln/>
        </p:spPr>
        <p:txBody>
          <a:bodyPr wrap="square" lIns="0" tIns="0" rIns="0" bIns="0" rtlCol="0" anchor="t"/>
          <a:lstStyle/>
          <a:p>
            <a:pPr marL="0" indent="0">
              <a:buNone/>
            </a:pPr>
            <a:r>
              <a:rPr lang="en-US" sz="1000" b="1" kern="0" spc="200" dirty="0">
                <a:solidFill>
                  <a:schemeClr val="accent6"/>
                </a:solidFill>
              </a:rPr>
              <a:t>KEY RESULT</a:t>
            </a:r>
            <a:endParaRPr lang="en-US" sz="1000" dirty="0"/>
          </a:p>
        </p:txBody>
      </p:sp>
      <p:sp>
        <p:nvSpPr>
          <p:cNvPr id="49" name="Text 40"/>
          <p:cNvSpPr txBox="1"/>
          <p:nvPr/>
        </p:nvSpPr>
        <p:spPr>
          <a:xfrm>
            <a:off x="9098280" y="4892040"/>
            <a:ext cx="2316175" cy="640080"/>
          </a:xfrm>
          <a:prstGeom prst="rect">
            <a:avLst/>
          </a:prstGeom>
          <a:noFill/>
          <a:ln/>
        </p:spPr>
        <p:txBody>
          <a:bodyPr wrap="square" lIns="0" tIns="0" rIns="0" bIns="0" rtlCol="0" anchor="ctr"/>
          <a:lstStyle/>
          <a:p>
            <a:pPr marL="0" indent="0">
              <a:buNone/>
            </a:pPr>
            <a:r>
              <a:rPr lang="en-US" sz="3600" b="1" dirty="0">
                <a:solidFill>
                  <a:schemeClr val="bg1"/>
                </a:solidFill>
                <a:latin typeface="Arial" pitchFamily="34" charset="0"/>
                <a:ea typeface="Arial" pitchFamily="34" charset="-122"/>
                <a:cs typeface="Arial" pitchFamily="34" charset="-120"/>
              </a:rPr>
              <a:t>0.865</a:t>
            </a:r>
            <a:endParaRPr lang="en-US" sz="3600" dirty="0"/>
          </a:p>
        </p:txBody>
      </p:sp>
      <p:sp>
        <p:nvSpPr>
          <p:cNvPr id="50" name="Text 41"/>
          <p:cNvSpPr txBox="1"/>
          <p:nvPr/>
        </p:nvSpPr>
        <p:spPr>
          <a:xfrm>
            <a:off x="9098280" y="5550408"/>
            <a:ext cx="2316175" cy="594360"/>
          </a:xfrm>
          <a:prstGeom prst="rect">
            <a:avLst/>
          </a:prstGeom>
          <a:noFill/>
          <a:ln/>
        </p:spPr>
        <p:txBody>
          <a:bodyPr wrap="square" lIns="0" tIns="0" rIns="0" bIns="0" rtlCol="0" anchor="t"/>
          <a:lstStyle/>
          <a:p>
            <a:pPr marL="0" indent="0">
              <a:buNone/>
            </a:pPr>
            <a:r>
              <a:rPr lang="en-US" sz="1100" dirty="0">
                <a:solidFill>
                  <a:srgbClr val="CFE0DB"/>
                </a:solidFill>
              </a:rPr>
              <a:t>Attraction ranking NDCG@10 (5-fold CV)</a:t>
            </a:r>
            <a:endParaRPr lang="en-US" sz="1100" dirty="0"/>
          </a:p>
        </p:txBody>
      </p:sp>
      <p:sp>
        <p:nvSpPr>
          <p:cNvPr id="51"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5"/>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Kicker"/>
          <p:cNvSpPr txBox="1"/>
          <p:nvPr/>
        </p:nvSpPr>
        <p:spPr>
          <a:xfrm>
            <a:off x="548640" y="384048"/>
            <a:ext cx="9144000" cy="274320"/>
          </a:xfrm>
          <a:prstGeom prst="rect">
            <a:avLst/>
          </a:prstGeom>
          <a:noFill/>
          <a:ln/>
        </p:spPr>
        <p:txBody>
          <a:bodyPr wrap="square" lIns="0" tIns="0" rIns="0" bIns="0" rtlCol="0" anchor="ctr"/>
          <a:lstStyle/>
          <a:p>
            <a:pPr marL="0" indent="0">
              <a:buNone/>
            </a:pPr>
            <a:r>
              <a:rPr lang="en-US" sz="1200" b="1" kern="0" spc="200" dirty="0">
                <a:solidFill>
                  <a:schemeClr val="accent1"/>
                </a:solidFill>
              </a:rPr>
              <a:t>INDIVIDUAL COMPONENT  ·  IT22108586  ·  De Silva D.C.M</a:t>
            </a:r>
            <a:endParaRPr lang="en-US" sz="1200" dirty="0"/>
          </a:p>
        </p:txBody>
      </p:sp>
      <p:sp>
        <p:nvSpPr>
          <p:cNvPr id="3" name="Title"/>
          <p:cNvSpPr txBox="1"/>
          <p:nvPr/>
        </p:nvSpPr>
        <p:spPr>
          <a:xfrm>
            <a:off x="548640" y="658368"/>
            <a:ext cx="9144000" cy="640080"/>
          </a:xfrm>
          <a:prstGeom prst="rect">
            <a:avLst/>
          </a:prstGeom>
          <a:noFill/>
          <a:ln/>
        </p:spPr>
        <p:txBody>
          <a:bodyPr wrap="square" lIns="0" tIns="0" rIns="0" bIns="0" rtlCol="0" anchor="ctr"/>
          <a:lstStyle/>
          <a:p>
            <a:pPr marL="0" indent="0">
              <a:buNone/>
            </a:pPr>
            <a:r>
              <a:rPr lang="en-US" sz="3000" b="1" dirty="0">
                <a:solidFill>
                  <a:schemeClr val="tx2"/>
                </a:solidFill>
                <a:latin typeface="Arial" pitchFamily="34" charset="0"/>
                <a:ea typeface="Arial" pitchFamily="34" charset="-122"/>
                <a:cs typeface="Arial" pitchFamily="34" charset="-120"/>
              </a:rPr>
              <a:t>Ayurvedic &amp; Spiritual Wellness Matching</a:t>
            </a:r>
            <a:endParaRPr lang="en-US" sz="3000" dirty="0"/>
          </a:p>
        </p:txBody>
      </p:sp>
      <p:sp>
        <p:nvSpPr>
          <p:cNvPr id="4" name="Tagline"/>
          <p:cNvSpPr txBox="1"/>
          <p:nvPr/>
        </p:nvSpPr>
        <p:spPr>
          <a:xfrm>
            <a:off x="548640" y="1298448"/>
            <a:ext cx="9144000" cy="365760"/>
          </a:xfrm>
          <a:prstGeom prst="rect">
            <a:avLst/>
          </a:prstGeom>
          <a:noFill/>
          <a:ln/>
        </p:spPr>
        <p:txBody>
          <a:bodyPr wrap="square" lIns="0" tIns="0" rIns="0" bIns="0" rtlCol="0" anchor="ctr"/>
          <a:lstStyle/>
          <a:p>
            <a:pPr marL="0" indent="0">
              <a:buNone/>
            </a:pPr>
            <a:r>
              <a:rPr lang="en-US" sz="1500" i="1" dirty="0">
                <a:solidFill>
                  <a:schemeClr val="accent5"/>
                </a:solidFill>
              </a:rPr>
              <a:t>AI-based Ayurvedic and spiritual wellness tourism matching system</a:t>
            </a:r>
            <a:endParaRPr lang="en-US" sz="1500" dirty="0"/>
          </a:p>
        </p:txBody>
      </p:sp>
      <p:pic>
        <p:nvPicPr>
          <p:cNvPr id="5" name="Image 0" descr="/home/claude/work/h_dcm.jpg"/>
          <p:cNvPicPr>
            <a:picLocks noChangeAspect="1"/>
          </p:cNvPicPr>
          <p:nvPr/>
        </p:nvPicPr>
        <p:blipFill>
          <a:blip r:embed="rId3"/>
          <a:stretch>
            <a:fillRect/>
          </a:stretch>
        </p:blipFill>
        <p:spPr>
          <a:xfrm>
            <a:off x="10287000" y="365760"/>
            <a:ext cx="1325880" cy="1325880"/>
          </a:xfrm>
          <a:prstGeom prst="ellipse">
            <a:avLst/>
          </a:prstGeom>
        </p:spPr>
      </p:pic>
      <p:sp>
        <p:nvSpPr>
          <p:cNvPr id="6" name="Step 1"/>
          <p:cNvSpPr/>
          <p:nvPr/>
        </p:nvSpPr>
        <p:spPr>
          <a:xfrm>
            <a:off x="548640" y="1965960"/>
            <a:ext cx="2533574" cy="2286000"/>
          </a:xfrm>
          <a:prstGeom prst="roundRect">
            <a:avLst>
              <a:gd name="adj" fmla="val 4800"/>
            </a:avLst>
          </a:prstGeom>
          <a:solidFill>
            <a:schemeClr val="bg2"/>
          </a:solidFill>
          <a:ln/>
        </p:spPr>
        <p:txBody>
          <a:bodyPr/>
          <a:lstStyle/>
          <a:p>
            <a:endParaRPr lang="en-US"/>
          </a:p>
        </p:txBody>
      </p:sp>
      <p:sp>
        <p:nvSpPr>
          <p:cNvPr id="7" name="Shape 4"/>
          <p:cNvSpPr/>
          <p:nvPr/>
        </p:nvSpPr>
        <p:spPr>
          <a:xfrm>
            <a:off x="731520" y="2148840"/>
            <a:ext cx="594360" cy="594360"/>
          </a:xfrm>
          <a:prstGeom prst="ellipse">
            <a:avLst/>
          </a:prstGeom>
          <a:solidFill>
            <a:schemeClr val="accent1"/>
          </a:solidFill>
          <a:ln/>
        </p:spPr>
        <p:txBody>
          <a:bodyPr/>
          <a:lstStyle/>
          <a:p>
            <a:endParaRPr lang="en-US"/>
          </a:p>
        </p:txBody>
      </p:sp>
      <p:pic>
        <p:nvPicPr>
          <p:cNvPr id="8" name="Image 1" descr="preencoded.png"/>
          <p:cNvPicPr>
            <a:picLocks noChangeAspect="1"/>
          </p:cNvPicPr>
          <p:nvPr/>
        </p:nvPicPr>
        <p:blipFill>
          <a:blip r:embed="rId4"/>
          <a:stretch>
            <a:fillRect/>
          </a:stretch>
        </p:blipFill>
        <p:spPr>
          <a:xfrm>
            <a:off x="880110" y="2297430"/>
            <a:ext cx="297180" cy="297180"/>
          </a:xfrm>
          <a:prstGeom prst="rect">
            <a:avLst/>
          </a:prstGeom>
        </p:spPr>
      </p:pic>
      <p:sp>
        <p:nvSpPr>
          <p:cNvPr id="9" name="Text 5"/>
          <p:cNvSpPr txBox="1"/>
          <p:nvPr/>
        </p:nvSpPr>
        <p:spPr>
          <a:xfrm>
            <a:off x="2579294" y="2148840"/>
            <a:ext cx="320040" cy="320040"/>
          </a:xfrm>
          <a:prstGeom prst="rect">
            <a:avLst/>
          </a:prstGeom>
          <a:noFill/>
          <a:ln/>
        </p:spPr>
        <p:txBody>
          <a:bodyPr wrap="square" lIns="0" tIns="0" rIns="0" bIns="0" rtlCol="0" anchor="t"/>
          <a:lstStyle/>
          <a:p>
            <a:pPr marL="0" indent="0" algn="r">
              <a:buNone/>
            </a:pPr>
            <a:r>
              <a:rPr lang="en-US" sz="1400" b="1" dirty="0">
                <a:solidFill>
                  <a:schemeClr val="accent5"/>
                </a:solidFill>
              </a:rPr>
              <a:t>1</a:t>
            </a:r>
            <a:endParaRPr lang="en-US" sz="1400" dirty="0"/>
          </a:p>
        </p:txBody>
      </p:sp>
      <p:sp>
        <p:nvSpPr>
          <p:cNvPr id="10" name="Text 6"/>
          <p:cNvSpPr txBox="1"/>
          <p:nvPr/>
        </p:nvSpPr>
        <p:spPr>
          <a:xfrm>
            <a:off x="731520" y="2880360"/>
            <a:ext cx="2213534" cy="457200"/>
          </a:xfrm>
          <a:prstGeom prst="rect">
            <a:avLst/>
          </a:prstGeom>
          <a:noFill/>
          <a:ln/>
        </p:spPr>
        <p:txBody>
          <a:bodyPr wrap="square" lIns="0" tIns="0" rIns="0" bIns="0" rtlCol="0" anchor="t"/>
          <a:lstStyle/>
          <a:p>
            <a:pPr marL="0" indent="0">
              <a:buNone/>
            </a:pPr>
            <a:r>
              <a:rPr lang="en-US" sz="1400" b="1" dirty="0">
                <a:solidFill>
                  <a:schemeClr val="tx2"/>
                </a:solidFill>
              </a:rPr>
              <a:t>Predict dosha</a:t>
            </a:r>
            <a:endParaRPr lang="en-US" sz="1400" dirty="0"/>
          </a:p>
        </p:txBody>
      </p:sp>
      <p:sp>
        <p:nvSpPr>
          <p:cNvPr id="11" name="Text 7"/>
          <p:cNvSpPr txBox="1"/>
          <p:nvPr/>
        </p:nvSpPr>
        <p:spPr>
          <a:xfrm>
            <a:off x="731520" y="3337560"/>
            <a:ext cx="2213534" cy="868680"/>
          </a:xfrm>
          <a:prstGeom prst="rect">
            <a:avLst/>
          </a:prstGeom>
          <a:noFill/>
          <a:ln/>
        </p:spPr>
        <p:txBody>
          <a:bodyPr wrap="square" lIns="0" tIns="0" rIns="0" bIns="0" rtlCol="0" anchor="t"/>
          <a:lstStyle/>
          <a:p>
            <a:pPr marL="0" indent="0">
              <a:buNone/>
            </a:pPr>
            <a:r>
              <a:rPr lang="en-US" sz="1200" dirty="0">
                <a:solidFill>
                  <a:schemeClr val="tx1"/>
                </a:solidFill>
              </a:rPr>
              <a:t>Random Forest predicts the tourist's dosha</a:t>
            </a:r>
            <a:endParaRPr lang="en-US" sz="1200" dirty="0"/>
          </a:p>
        </p:txBody>
      </p:sp>
      <p:sp>
        <p:nvSpPr>
          <p:cNvPr id="12" name="Shape 8"/>
          <p:cNvSpPr/>
          <p:nvPr/>
        </p:nvSpPr>
        <p:spPr>
          <a:xfrm>
            <a:off x="3155366" y="2999232"/>
            <a:ext cx="173736" cy="219456"/>
          </a:xfrm>
          <a:prstGeom prst="chevron">
            <a:avLst/>
          </a:prstGeom>
          <a:solidFill>
            <a:schemeClr val="accent4"/>
          </a:solidFill>
          <a:ln/>
        </p:spPr>
        <p:txBody>
          <a:bodyPr/>
          <a:lstStyle/>
          <a:p>
            <a:endParaRPr lang="en-US"/>
          </a:p>
        </p:txBody>
      </p:sp>
      <p:sp>
        <p:nvSpPr>
          <p:cNvPr id="13" name="Step 2"/>
          <p:cNvSpPr/>
          <p:nvPr/>
        </p:nvSpPr>
        <p:spPr>
          <a:xfrm>
            <a:off x="3402254" y="1965960"/>
            <a:ext cx="2533574" cy="2286000"/>
          </a:xfrm>
          <a:prstGeom prst="roundRect">
            <a:avLst>
              <a:gd name="adj" fmla="val 4800"/>
            </a:avLst>
          </a:prstGeom>
          <a:solidFill>
            <a:schemeClr val="bg2"/>
          </a:solidFill>
          <a:ln/>
        </p:spPr>
        <p:txBody>
          <a:bodyPr/>
          <a:lstStyle/>
          <a:p>
            <a:endParaRPr lang="en-US"/>
          </a:p>
        </p:txBody>
      </p:sp>
      <p:sp>
        <p:nvSpPr>
          <p:cNvPr id="14" name="Shape 10"/>
          <p:cNvSpPr/>
          <p:nvPr/>
        </p:nvSpPr>
        <p:spPr>
          <a:xfrm>
            <a:off x="3585134" y="2148840"/>
            <a:ext cx="594360" cy="594360"/>
          </a:xfrm>
          <a:prstGeom prst="ellipse">
            <a:avLst/>
          </a:prstGeom>
          <a:solidFill>
            <a:schemeClr val="accent1"/>
          </a:solidFill>
          <a:ln/>
        </p:spPr>
        <p:txBody>
          <a:bodyPr/>
          <a:lstStyle/>
          <a:p>
            <a:endParaRPr lang="en-US"/>
          </a:p>
        </p:txBody>
      </p:sp>
      <p:pic>
        <p:nvPicPr>
          <p:cNvPr id="15" name="Image 2" descr="preencoded.png"/>
          <p:cNvPicPr>
            <a:picLocks noChangeAspect="1"/>
          </p:cNvPicPr>
          <p:nvPr/>
        </p:nvPicPr>
        <p:blipFill>
          <a:blip r:embed="rId5"/>
          <a:stretch>
            <a:fillRect/>
          </a:stretch>
        </p:blipFill>
        <p:spPr>
          <a:xfrm>
            <a:off x="3733724" y="2297430"/>
            <a:ext cx="297180" cy="297180"/>
          </a:xfrm>
          <a:prstGeom prst="rect">
            <a:avLst/>
          </a:prstGeom>
        </p:spPr>
      </p:pic>
      <p:sp>
        <p:nvSpPr>
          <p:cNvPr id="16" name="Text 11"/>
          <p:cNvSpPr txBox="1"/>
          <p:nvPr/>
        </p:nvSpPr>
        <p:spPr>
          <a:xfrm>
            <a:off x="5432908" y="2148840"/>
            <a:ext cx="320040" cy="320040"/>
          </a:xfrm>
          <a:prstGeom prst="rect">
            <a:avLst/>
          </a:prstGeom>
          <a:noFill/>
          <a:ln/>
        </p:spPr>
        <p:txBody>
          <a:bodyPr wrap="square" lIns="0" tIns="0" rIns="0" bIns="0" rtlCol="0" anchor="t"/>
          <a:lstStyle/>
          <a:p>
            <a:pPr marL="0" indent="0" algn="r">
              <a:buNone/>
            </a:pPr>
            <a:r>
              <a:rPr lang="en-US" sz="1400" b="1" dirty="0">
                <a:solidFill>
                  <a:schemeClr val="accent5"/>
                </a:solidFill>
              </a:rPr>
              <a:t>2</a:t>
            </a:r>
            <a:endParaRPr lang="en-US" sz="1400" dirty="0"/>
          </a:p>
        </p:txBody>
      </p:sp>
      <p:sp>
        <p:nvSpPr>
          <p:cNvPr id="17" name="Text 12"/>
          <p:cNvSpPr txBox="1"/>
          <p:nvPr/>
        </p:nvSpPr>
        <p:spPr>
          <a:xfrm>
            <a:off x="3585134" y="2880360"/>
            <a:ext cx="2213534" cy="457200"/>
          </a:xfrm>
          <a:prstGeom prst="rect">
            <a:avLst/>
          </a:prstGeom>
          <a:noFill/>
          <a:ln/>
        </p:spPr>
        <p:txBody>
          <a:bodyPr wrap="square" lIns="0" tIns="0" rIns="0" bIns="0" rtlCol="0" anchor="t"/>
          <a:lstStyle/>
          <a:p>
            <a:pPr marL="0" indent="0">
              <a:buNone/>
            </a:pPr>
            <a:r>
              <a:rPr lang="en-US" sz="1400" b="1" dirty="0">
                <a:solidFill>
                  <a:schemeClr val="tx2"/>
                </a:solidFill>
              </a:rPr>
              <a:t>Understand symptoms</a:t>
            </a:r>
            <a:endParaRPr lang="en-US" sz="1400" dirty="0"/>
          </a:p>
        </p:txBody>
      </p:sp>
      <p:sp>
        <p:nvSpPr>
          <p:cNvPr id="18" name="Text 13"/>
          <p:cNvSpPr txBox="1"/>
          <p:nvPr/>
        </p:nvSpPr>
        <p:spPr>
          <a:xfrm>
            <a:off x="3585134" y="3337560"/>
            <a:ext cx="2213534" cy="868680"/>
          </a:xfrm>
          <a:prstGeom prst="rect">
            <a:avLst/>
          </a:prstGeom>
          <a:noFill/>
          <a:ln/>
        </p:spPr>
        <p:txBody>
          <a:bodyPr wrap="square" lIns="0" tIns="0" rIns="0" bIns="0" rtlCol="0" anchor="t"/>
          <a:lstStyle/>
          <a:p>
            <a:pPr marL="0" indent="0">
              <a:buNone/>
            </a:pPr>
            <a:r>
              <a:rPr lang="en-US" sz="1200" dirty="0">
                <a:solidFill>
                  <a:schemeClr val="tx1"/>
                </a:solidFill>
              </a:rPr>
              <a:t>Classifies symptoms written in 5 languages</a:t>
            </a:r>
            <a:endParaRPr lang="en-US" sz="1200" dirty="0"/>
          </a:p>
        </p:txBody>
      </p:sp>
      <p:sp>
        <p:nvSpPr>
          <p:cNvPr id="19" name="Shape 14"/>
          <p:cNvSpPr/>
          <p:nvPr/>
        </p:nvSpPr>
        <p:spPr>
          <a:xfrm>
            <a:off x="6008980" y="2999232"/>
            <a:ext cx="173736" cy="219456"/>
          </a:xfrm>
          <a:prstGeom prst="chevron">
            <a:avLst/>
          </a:prstGeom>
          <a:solidFill>
            <a:schemeClr val="accent4"/>
          </a:solidFill>
          <a:ln/>
        </p:spPr>
        <p:txBody>
          <a:bodyPr/>
          <a:lstStyle/>
          <a:p>
            <a:endParaRPr lang="en-US"/>
          </a:p>
        </p:txBody>
      </p:sp>
      <p:sp>
        <p:nvSpPr>
          <p:cNvPr id="20" name="Step 3"/>
          <p:cNvSpPr/>
          <p:nvPr/>
        </p:nvSpPr>
        <p:spPr>
          <a:xfrm>
            <a:off x="6255868" y="1965960"/>
            <a:ext cx="2533574" cy="2286000"/>
          </a:xfrm>
          <a:prstGeom prst="roundRect">
            <a:avLst>
              <a:gd name="adj" fmla="val 4800"/>
            </a:avLst>
          </a:prstGeom>
          <a:solidFill>
            <a:schemeClr val="bg2"/>
          </a:solidFill>
          <a:ln/>
        </p:spPr>
        <p:txBody>
          <a:bodyPr/>
          <a:lstStyle/>
          <a:p>
            <a:endParaRPr lang="en-US"/>
          </a:p>
        </p:txBody>
      </p:sp>
      <p:sp>
        <p:nvSpPr>
          <p:cNvPr id="21" name="Shape 16"/>
          <p:cNvSpPr/>
          <p:nvPr/>
        </p:nvSpPr>
        <p:spPr>
          <a:xfrm>
            <a:off x="6438748" y="2148840"/>
            <a:ext cx="594360" cy="594360"/>
          </a:xfrm>
          <a:prstGeom prst="ellipse">
            <a:avLst/>
          </a:prstGeom>
          <a:solidFill>
            <a:schemeClr val="accent1"/>
          </a:solidFill>
          <a:ln/>
        </p:spPr>
        <p:txBody>
          <a:bodyPr/>
          <a:lstStyle/>
          <a:p>
            <a:endParaRPr lang="en-US"/>
          </a:p>
        </p:txBody>
      </p:sp>
      <p:pic>
        <p:nvPicPr>
          <p:cNvPr id="22" name="Image 3" descr="preencoded.png"/>
          <p:cNvPicPr>
            <a:picLocks noChangeAspect="1"/>
          </p:cNvPicPr>
          <p:nvPr/>
        </p:nvPicPr>
        <p:blipFill>
          <a:blip r:embed="rId6"/>
          <a:stretch>
            <a:fillRect/>
          </a:stretch>
        </p:blipFill>
        <p:spPr>
          <a:xfrm>
            <a:off x="6587338" y="2297430"/>
            <a:ext cx="297180" cy="297180"/>
          </a:xfrm>
          <a:prstGeom prst="rect">
            <a:avLst/>
          </a:prstGeom>
        </p:spPr>
      </p:pic>
      <p:sp>
        <p:nvSpPr>
          <p:cNvPr id="23" name="Text 17"/>
          <p:cNvSpPr txBox="1"/>
          <p:nvPr/>
        </p:nvSpPr>
        <p:spPr>
          <a:xfrm>
            <a:off x="8286521" y="2148840"/>
            <a:ext cx="320040" cy="320040"/>
          </a:xfrm>
          <a:prstGeom prst="rect">
            <a:avLst/>
          </a:prstGeom>
          <a:noFill/>
          <a:ln/>
        </p:spPr>
        <p:txBody>
          <a:bodyPr wrap="square" lIns="0" tIns="0" rIns="0" bIns="0" rtlCol="0" anchor="t"/>
          <a:lstStyle/>
          <a:p>
            <a:pPr marL="0" indent="0" algn="r">
              <a:buNone/>
            </a:pPr>
            <a:r>
              <a:rPr lang="en-US" sz="1400" b="1" dirty="0">
                <a:solidFill>
                  <a:schemeClr val="accent5"/>
                </a:solidFill>
              </a:rPr>
              <a:t>3</a:t>
            </a:r>
            <a:endParaRPr lang="en-US" sz="1400" dirty="0"/>
          </a:p>
        </p:txBody>
      </p:sp>
      <p:sp>
        <p:nvSpPr>
          <p:cNvPr id="24" name="Text 18"/>
          <p:cNvSpPr txBox="1"/>
          <p:nvPr/>
        </p:nvSpPr>
        <p:spPr>
          <a:xfrm>
            <a:off x="6438748" y="2880360"/>
            <a:ext cx="2213534" cy="457200"/>
          </a:xfrm>
          <a:prstGeom prst="rect">
            <a:avLst/>
          </a:prstGeom>
          <a:noFill/>
          <a:ln/>
        </p:spPr>
        <p:txBody>
          <a:bodyPr wrap="square" lIns="0" tIns="0" rIns="0" bIns="0" rtlCol="0" anchor="t"/>
          <a:lstStyle/>
          <a:p>
            <a:pPr marL="0" indent="0">
              <a:buNone/>
            </a:pPr>
            <a:r>
              <a:rPr lang="en-US" sz="1400" b="1" dirty="0">
                <a:solidFill>
                  <a:schemeClr val="tx2"/>
                </a:solidFill>
              </a:rPr>
              <a:t>Screen for safety</a:t>
            </a:r>
            <a:endParaRPr lang="en-US" sz="1400" dirty="0"/>
          </a:p>
        </p:txBody>
      </p:sp>
      <p:sp>
        <p:nvSpPr>
          <p:cNvPr id="25" name="Text 19"/>
          <p:cNvSpPr txBox="1"/>
          <p:nvPr/>
        </p:nvSpPr>
        <p:spPr>
          <a:xfrm>
            <a:off x="6438748" y="3337560"/>
            <a:ext cx="2213534" cy="868680"/>
          </a:xfrm>
          <a:prstGeom prst="rect">
            <a:avLst/>
          </a:prstGeom>
          <a:noFill/>
          <a:ln/>
        </p:spPr>
        <p:txBody>
          <a:bodyPr wrap="square" lIns="0" tIns="0" rIns="0" bIns="0" rtlCol="0" anchor="t"/>
          <a:lstStyle/>
          <a:p>
            <a:pPr marL="0" indent="0">
              <a:buNone/>
            </a:pPr>
            <a:r>
              <a:rPr lang="en-US" sz="1200" dirty="0">
                <a:solidFill>
                  <a:schemeClr val="tx1"/>
                </a:solidFill>
              </a:rPr>
              <a:t>Screens centre reviews for safety concerns</a:t>
            </a:r>
            <a:endParaRPr lang="en-US" sz="1200" dirty="0"/>
          </a:p>
        </p:txBody>
      </p:sp>
      <p:sp>
        <p:nvSpPr>
          <p:cNvPr id="26" name="Shape 20"/>
          <p:cNvSpPr/>
          <p:nvPr/>
        </p:nvSpPr>
        <p:spPr>
          <a:xfrm>
            <a:off x="8862593" y="2999232"/>
            <a:ext cx="173736" cy="219456"/>
          </a:xfrm>
          <a:prstGeom prst="chevron">
            <a:avLst/>
          </a:prstGeom>
          <a:solidFill>
            <a:schemeClr val="accent4"/>
          </a:solidFill>
          <a:ln/>
        </p:spPr>
        <p:txBody>
          <a:bodyPr/>
          <a:lstStyle/>
          <a:p>
            <a:endParaRPr lang="en-US"/>
          </a:p>
        </p:txBody>
      </p:sp>
      <p:sp>
        <p:nvSpPr>
          <p:cNvPr id="27" name="Step 4"/>
          <p:cNvSpPr/>
          <p:nvPr/>
        </p:nvSpPr>
        <p:spPr>
          <a:xfrm>
            <a:off x="9109481" y="1965960"/>
            <a:ext cx="2533574" cy="2286000"/>
          </a:xfrm>
          <a:prstGeom prst="roundRect">
            <a:avLst>
              <a:gd name="adj" fmla="val 4800"/>
            </a:avLst>
          </a:prstGeom>
          <a:solidFill>
            <a:schemeClr val="bg2"/>
          </a:solidFill>
          <a:ln/>
        </p:spPr>
        <p:txBody>
          <a:bodyPr/>
          <a:lstStyle/>
          <a:p>
            <a:endParaRPr lang="en-US"/>
          </a:p>
        </p:txBody>
      </p:sp>
      <p:sp>
        <p:nvSpPr>
          <p:cNvPr id="28" name="Shape 22"/>
          <p:cNvSpPr/>
          <p:nvPr/>
        </p:nvSpPr>
        <p:spPr>
          <a:xfrm>
            <a:off x="9292361" y="2148840"/>
            <a:ext cx="594360" cy="594360"/>
          </a:xfrm>
          <a:prstGeom prst="ellipse">
            <a:avLst/>
          </a:prstGeom>
          <a:solidFill>
            <a:schemeClr val="accent4"/>
          </a:solidFill>
          <a:ln/>
        </p:spPr>
        <p:txBody>
          <a:bodyPr/>
          <a:lstStyle/>
          <a:p>
            <a:endParaRPr lang="en-US"/>
          </a:p>
        </p:txBody>
      </p:sp>
      <p:pic>
        <p:nvPicPr>
          <p:cNvPr id="29" name="Image 4" descr="preencoded.png"/>
          <p:cNvPicPr>
            <a:picLocks noChangeAspect="1"/>
          </p:cNvPicPr>
          <p:nvPr/>
        </p:nvPicPr>
        <p:blipFill>
          <a:blip r:embed="rId7"/>
          <a:stretch>
            <a:fillRect/>
          </a:stretch>
        </p:blipFill>
        <p:spPr>
          <a:xfrm>
            <a:off x="9440951" y="2297430"/>
            <a:ext cx="297180" cy="297180"/>
          </a:xfrm>
          <a:prstGeom prst="rect">
            <a:avLst/>
          </a:prstGeom>
        </p:spPr>
      </p:pic>
      <p:sp>
        <p:nvSpPr>
          <p:cNvPr id="30" name="Text 23"/>
          <p:cNvSpPr txBox="1"/>
          <p:nvPr/>
        </p:nvSpPr>
        <p:spPr>
          <a:xfrm>
            <a:off x="11140135" y="2148840"/>
            <a:ext cx="320040" cy="320040"/>
          </a:xfrm>
          <a:prstGeom prst="rect">
            <a:avLst/>
          </a:prstGeom>
          <a:noFill/>
          <a:ln/>
        </p:spPr>
        <p:txBody>
          <a:bodyPr wrap="square" lIns="0" tIns="0" rIns="0" bIns="0" rtlCol="0" anchor="t"/>
          <a:lstStyle/>
          <a:p>
            <a:pPr marL="0" indent="0" algn="r">
              <a:buNone/>
            </a:pPr>
            <a:r>
              <a:rPr lang="en-US" sz="1400" b="1" dirty="0">
                <a:solidFill>
                  <a:schemeClr val="accent5"/>
                </a:solidFill>
              </a:rPr>
              <a:t>4</a:t>
            </a:r>
            <a:endParaRPr lang="en-US" sz="1400" dirty="0"/>
          </a:p>
        </p:txBody>
      </p:sp>
      <p:sp>
        <p:nvSpPr>
          <p:cNvPr id="31" name="Text 24"/>
          <p:cNvSpPr txBox="1"/>
          <p:nvPr/>
        </p:nvSpPr>
        <p:spPr>
          <a:xfrm>
            <a:off x="9292361" y="2880360"/>
            <a:ext cx="2213534" cy="457200"/>
          </a:xfrm>
          <a:prstGeom prst="rect">
            <a:avLst/>
          </a:prstGeom>
          <a:noFill/>
          <a:ln/>
        </p:spPr>
        <p:txBody>
          <a:bodyPr wrap="square" lIns="0" tIns="0" rIns="0" bIns="0" rtlCol="0" anchor="t"/>
          <a:lstStyle/>
          <a:p>
            <a:pPr marL="0" indent="0">
              <a:buNone/>
            </a:pPr>
            <a:r>
              <a:rPr lang="en-US" sz="1400" b="1" dirty="0">
                <a:solidFill>
                  <a:schemeClr val="tx2"/>
                </a:solidFill>
              </a:rPr>
              <a:t>Match centres</a:t>
            </a:r>
            <a:endParaRPr lang="en-US" sz="1400" dirty="0"/>
          </a:p>
        </p:txBody>
      </p:sp>
      <p:sp>
        <p:nvSpPr>
          <p:cNvPr id="32" name="Text 25"/>
          <p:cNvSpPr txBox="1"/>
          <p:nvPr/>
        </p:nvSpPr>
        <p:spPr>
          <a:xfrm>
            <a:off x="9292361" y="3337560"/>
            <a:ext cx="2213534" cy="868680"/>
          </a:xfrm>
          <a:prstGeom prst="rect">
            <a:avLst/>
          </a:prstGeom>
          <a:noFill/>
          <a:ln/>
        </p:spPr>
        <p:txBody>
          <a:bodyPr wrap="square" lIns="0" tIns="0" rIns="0" bIns="0" rtlCol="0" anchor="t"/>
          <a:lstStyle/>
          <a:p>
            <a:pPr marL="0" indent="0">
              <a:buNone/>
            </a:pPr>
            <a:r>
              <a:rPr lang="en-US" sz="1200" dirty="0">
                <a:solidFill>
                  <a:schemeClr val="tx1"/>
                </a:solidFill>
              </a:rPr>
              <a:t>Recommends the best-matching Sri Lankan Ayurveda / meditation centres</a:t>
            </a:r>
            <a:endParaRPr lang="en-US" sz="1200" dirty="0"/>
          </a:p>
        </p:txBody>
      </p:sp>
      <p:pic>
        <p:nvPicPr>
          <p:cNvPr id="33" name="Image 5" descr="/home/claude/work/wellness.jpg"/>
          <p:cNvPicPr>
            <a:picLocks noChangeAspect="1"/>
          </p:cNvPicPr>
          <p:nvPr/>
        </p:nvPicPr>
        <p:blipFill>
          <a:blip r:embed="rId8"/>
          <a:srcRect/>
          <a:stretch/>
        </p:blipFill>
        <p:spPr>
          <a:xfrm>
            <a:off x="548640" y="4526280"/>
            <a:ext cx="2834640" cy="1691640"/>
          </a:xfrm>
          <a:prstGeom prst="rect">
            <a:avLst/>
          </a:prstGeom>
        </p:spPr>
      </p:pic>
      <p:sp>
        <p:nvSpPr>
          <p:cNvPr id="34" name="Shape 26"/>
          <p:cNvSpPr/>
          <p:nvPr/>
        </p:nvSpPr>
        <p:spPr>
          <a:xfrm>
            <a:off x="3657600" y="4526280"/>
            <a:ext cx="4937760" cy="1691640"/>
          </a:xfrm>
          <a:prstGeom prst="roundRect">
            <a:avLst>
              <a:gd name="adj" fmla="val 6486"/>
            </a:avLst>
          </a:prstGeom>
          <a:solidFill>
            <a:schemeClr val="bg1"/>
          </a:solidFill>
          <a:ln w="9525">
            <a:solidFill>
              <a:srgbClr val="DCE6E2"/>
            </a:solidFill>
            <a:prstDash val="solid"/>
          </a:ln>
        </p:spPr>
        <p:txBody>
          <a:bodyPr/>
          <a:lstStyle/>
          <a:p>
            <a:endParaRPr lang="en-US"/>
          </a:p>
        </p:txBody>
      </p:sp>
      <p:sp>
        <p:nvSpPr>
          <p:cNvPr id="35" name="Shape 27"/>
          <p:cNvSpPr/>
          <p:nvPr/>
        </p:nvSpPr>
        <p:spPr>
          <a:xfrm>
            <a:off x="3840480" y="4709160"/>
            <a:ext cx="457200" cy="457200"/>
          </a:xfrm>
          <a:prstGeom prst="ellipse">
            <a:avLst/>
          </a:prstGeom>
          <a:solidFill>
            <a:schemeClr val="accent4"/>
          </a:solidFill>
          <a:ln/>
        </p:spPr>
        <p:txBody>
          <a:bodyPr/>
          <a:lstStyle/>
          <a:p>
            <a:endParaRPr lang="en-US"/>
          </a:p>
        </p:txBody>
      </p:sp>
      <p:pic>
        <p:nvPicPr>
          <p:cNvPr id="36" name="Image 6" descr="preencoded.png"/>
          <p:cNvPicPr>
            <a:picLocks noChangeAspect="1"/>
          </p:cNvPicPr>
          <p:nvPr/>
        </p:nvPicPr>
        <p:blipFill>
          <a:blip r:embed="rId9"/>
          <a:stretch>
            <a:fillRect/>
          </a:stretch>
        </p:blipFill>
        <p:spPr>
          <a:xfrm>
            <a:off x="3954780" y="4823460"/>
            <a:ext cx="228600" cy="228600"/>
          </a:xfrm>
          <a:prstGeom prst="rect">
            <a:avLst/>
          </a:prstGeom>
        </p:spPr>
      </p:pic>
      <p:sp>
        <p:nvSpPr>
          <p:cNvPr id="37" name="Text 28"/>
          <p:cNvSpPr txBox="1"/>
          <p:nvPr/>
        </p:nvSpPr>
        <p:spPr>
          <a:xfrm>
            <a:off x="4434840" y="4727448"/>
            <a:ext cx="4023360" cy="411480"/>
          </a:xfrm>
          <a:prstGeom prst="rect">
            <a:avLst/>
          </a:prstGeom>
          <a:noFill/>
          <a:ln/>
        </p:spPr>
        <p:txBody>
          <a:bodyPr wrap="square" lIns="0" tIns="0" rIns="0" bIns="0" rtlCol="0" anchor="ctr"/>
          <a:lstStyle/>
          <a:p>
            <a:pPr marL="0" indent="0">
              <a:buNone/>
            </a:pPr>
            <a:r>
              <a:rPr lang="en-US" sz="1500" b="1" dirty="0">
                <a:solidFill>
                  <a:schemeClr val="tx2"/>
                </a:solidFill>
              </a:rPr>
              <a:t>How it fits the platform</a:t>
            </a:r>
            <a:endParaRPr lang="en-US" sz="1500" dirty="0"/>
          </a:p>
        </p:txBody>
      </p:sp>
      <p:sp>
        <p:nvSpPr>
          <p:cNvPr id="38" name="Text 29"/>
          <p:cNvSpPr txBox="1"/>
          <p:nvPr/>
        </p:nvSpPr>
        <p:spPr>
          <a:xfrm>
            <a:off x="3840480" y="5257800"/>
            <a:ext cx="4572000" cy="868680"/>
          </a:xfrm>
          <a:prstGeom prst="rect">
            <a:avLst/>
          </a:prstGeom>
          <a:noFill/>
          <a:ln/>
        </p:spPr>
        <p:txBody>
          <a:bodyPr wrap="square" lIns="0" tIns="0" rIns="0" bIns="0" rtlCol="0" anchor="t"/>
          <a:lstStyle/>
          <a:p>
            <a:pPr marL="0" indent="0">
              <a:buNone/>
            </a:pPr>
            <a:r>
              <a:rPr lang="en-US" sz="1300" dirty="0">
                <a:solidFill>
                  <a:schemeClr val="tx1"/>
                </a:solidFill>
              </a:rPr>
              <a:t>Verified wellness centres are offered as stops inside the traveller's itinerary.</a:t>
            </a:r>
            <a:endParaRPr lang="en-US" sz="1300" dirty="0"/>
          </a:p>
        </p:txBody>
      </p:sp>
      <p:sp>
        <p:nvSpPr>
          <p:cNvPr id="39" name="Key result"/>
          <p:cNvSpPr/>
          <p:nvPr/>
        </p:nvSpPr>
        <p:spPr>
          <a:xfrm>
            <a:off x="8869680" y="4526280"/>
            <a:ext cx="2773375" cy="1691640"/>
          </a:xfrm>
          <a:prstGeom prst="roundRect">
            <a:avLst>
              <a:gd name="adj" fmla="val 6486"/>
            </a:avLst>
          </a:prstGeom>
          <a:solidFill>
            <a:schemeClr val="tx2"/>
          </a:solidFill>
          <a:ln/>
        </p:spPr>
        <p:txBody>
          <a:bodyPr/>
          <a:lstStyle/>
          <a:p>
            <a:endParaRPr lang="en-US"/>
          </a:p>
        </p:txBody>
      </p:sp>
      <p:sp>
        <p:nvSpPr>
          <p:cNvPr id="40" name="Text 31"/>
          <p:cNvSpPr txBox="1"/>
          <p:nvPr/>
        </p:nvSpPr>
        <p:spPr>
          <a:xfrm>
            <a:off x="9098280" y="4663440"/>
            <a:ext cx="2316175" cy="228600"/>
          </a:xfrm>
          <a:prstGeom prst="rect">
            <a:avLst/>
          </a:prstGeom>
          <a:noFill/>
          <a:ln/>
        </p:spPr>
        <p:txBody>
          <a:bodyPr wrap="square" lIns="0" tIns="0" rIns="0" bIns="0" rtlCol="0" anchor="t"/>
          <a:lstStyle/>
          <a:p>
            <a:pPr marL="0" indent="0">
              <a:buNone/>
            </a:pPr>
            <a:r>
              <a:rPr lang="en-US" sz="1000" b="1" kern="0" spc="200" dirty="0">
                <a:solidFill>
                  <a:schemeClr val="accent6"/>
                </a:solidFill>
              </a:rPr>
              <a:t>KEY RESULT</a:t>
            </a:r>
            <a:endParaRPr lang="en-US" sz="1000" dirty="0"/>
          </a:p>
        </p:txBody>
      </p:sp>
      <p:sp>
        <p:nvSpPr>
          <p:cNvPr id="41" name="Text 32"/>
          <p:cNvSpPr txBox="1"/>
          <p:nvPr/>
        </p:nvSpPr>
        <p:spPr>
          <a:xfrm>
            <a:off x="9098280" y="4892040"/>
            <a:ext cx="2316175" cy="640080"/>
          </a:xfrm>
          <a:prstGeom prst="rect">
            <a:avLst/>
          </a:prstGeom>
          <a:noFill/>
          <a:ln/>
        </p:spPr>
        <p:txBody>
          <a:bodyPr wrap="square" lIns="0" tIns="0" rIns="0" bIns="0" rtlCol="0" anchor="ctr"/>
          <a:lstStyle/>
          <a:p>
            <a:pPr marL="0" indent="0">
              <a:buNone/>
            </a:pPr>
            <a:r>
              <a:rPr lang="en-US" sz="3600" b="1" dirty="0">
                <a:solidFill>
                  <a:schemeClr val="bg1"/>
                </a:solidFill>
                <a:latin typeface="Arial" pitchFamily="34" charset="0"/>
                <a:ea typeface="Arial" pitchFamily="34" charset="-122"/>
                <a:cs typeface="Arial" pitchFamily="34" charset="-120"/>
              </a:rPr>
              <a:t>81%</a:t>
            </a:r>
            <a:endParaRPr lang="en-US" sz="3600" dirty="0"/>
          </a:p>
        </p:txBody>
      </p:sp>
      <p:sp>
        <p:nvSpPr>
          <p:cNvPr id="42" name="Text 33"/>
          <p:cNvSpPr txBox="1"/>
          <p:nvPr/>
        </p:nvSpPr>
        <p:spPr>
          <a:xfrm>
            <a:off x="9098280" y="5550408"/>
            <a:ext cx="2316175" cy="594360"/>
          </a:xfrm>
          <a:prstGeom prst="rect">
            <a:avLst/>
          </a:prstGeom>
          <a:noFill/>
          <a:ln/>
        </p:spPr>
        <p:txBody>
          <a:bodyPr wrap="square" lIns="0" tIns="0" rIns="0" bIns="0" rtlCol="0" anchor="t"/>
          <a:lstStyle/>
          <a:p>
            <a:pPr marL="0" indent="0">
              <a:buNone/>
            </a:pPr>
            <a:r>
              <a:rPr lang="en-US" sz="1100" dirty="0">
                <a:solidFill>
                  <a:srgbClr val="CFE0DB"/>
                </a:solidFill>
              </a:rPr>
              <a:t>Dosha prediction accuracy (F1 0.794); 5-fold CV 84.3%</a:t>
            </a:r>
            <a:endParaRPr lang="en-US" sz="1100" dirty="0"/>
          </a:p>
        </p:txBody>
      </p:sp>
      <p:sp>
        <p:nvSpPr>
          <p:cNvPr id="43"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5"/>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Kicker"/>
          <p:cNvSpPr txBox="1"/>
          <p:nvPr/>
        </p:nvSpPr>
        <p:spPr>
          <a:xfrm>
            <a:off x="548640" y="384048"/>
            <a:ext cx="9144000" cy="274320"/>
          </a:xfrm>
          <a:prstGeom prst="rect">
            <a:avLst/>
          </a:prstGeom>
          <a:noFill/>
          <a:ln/>
        </p:spPr>
        <p:txBody>
          <a:bodyPr wrap="square" lIns="0" tIns="0" rIns="0" bIns="0" rtlCol="0" anchor="ctr"/>
          <a:lstStyle/>
          <a:p>
            <a:pPr marL="0" indent="0">
              <a:buNone/>
            </a:pPr>
            <a:r>
              <a:rPr lang="en-US" sz="1200" b="1" kern="0" spc="200" dirty="0">
                <a:solidFill>
                  <a:schemeClr val="accent1"/>
                </a:solidFill>
              </a:rPr>
              <a:t>INDIVIDUAL COMPONENT  ·  IT22090058  ·  Abinaya R</a:t>
            </a:r>
            <a:endParaRPr lang="en-US" sz="1200" dirty="0"/>
          </a:p>
        </p:txBody>
      </p:sp>
      <p:sp>
        <p:nvSpPr>
          <p:cNvPr id="3" name="Title"/>
          <p:cNvSpPr txBox="1"/>
          <p:nvPr/>
        </p:nvSpPr>
        <p:spPr>
          <a:xfrm>
            <a:off x="548640" y="658368"/>
            <a:ext cx="9144000" cy="640080"/>
          </a:xfrm>
          <a:prstGeom prst="rect">
            <a:avLst/>
          </a:prstGeom>
          <a:noFill/>
          <a:ln/>
        </p:spPr>
        <p:txBody>
          <a:bodyPr wrap="square" lIns="0" tIns="0" rIns="0" bIns="0" rtlCol="0" anchor="ctr"/>
          <a:lstStyle/>
          <a:p>
            <a:pPr marL="0" indent="0">
              <a:buNone/>
            </a:pPr>
            <a:r>
              <a:rPr lang="en-US" sz="3000" b="1" dirty="0">
                <a:solidFill>
                  <a:schemeClr val="tx2"/>
                </a:solidFill>
                <a:latin typeface="Arial" pitchFamily="34" charset="0"/>
                <a:ea typeface="Arial" pitchFamily="34" charset="-122"/>
                <a:cs typeface="Arial" pitchFamily="34" charset="-120"/>
              </a:rPr>
              <a:t>Tourism Risk &amp; Context Intelligence</a:t>
            </a:r>
            <a:endParaRPr lang="en-US" sz="3000" dirty="0"/>
          </a:p>
        </p:txBody>
      </p:sp>
      <p:sp>
        <p:nvSpPr>
          <p:cNvPr id="4" name="Tagline"/>
          <p:cNvSpPr txBox="1"/>
          <p:nvPr/>
        </p:nvSpPr>
        <p:spPr>
          <a:xfrm>
            <a:off x="548640" y="1298448"/>
            <a:ext cx="9144000" cy="365760"/>
          </a:xfrm>
          <a:prstGeom prst="rect">
            <a:avLst/>
          </a:prstGeom>
          <a:noFill/>
          <a:ln/>
        </p:spPr>
        <p:txBody>
          <a:bodyPr wrap="square" lIns="0" tIns="0" rIns="0" bIns="0" rtlCol="0" anchor="ctr"/>
          <a:lstStyle/>
          <a:p>
            <a:pPr marL="0" indent="0">
              <a:buNone/>
            </a:pPr>
            <a:r>
              <a:rPr lang="en-US" sz="1500" i="1" dirty="0">
                <a:solidFill>
                  <a:schemeClr val="accent5"/>
                </a:solidFill>
              </a:rPr>
              <a:t>Predicts how crowded a Sri Lankan tourist site will be on a chosen date, before you go</a:t>
            </a:r>
            <a:endParaRPr lang="en-US" sz="1500" dirty="0"/>
          </a:p>
        </p:txBody>
      </p:sp>
      <p:pic>
        <p:nvPicPr>
          <p:cNvPr id="5" name="Image 0" descr="/home/claude/work/h_abi.jpg"/>
          <p:cNvPicPr>
            <a:picLocks noChangeAspect="1"/>
          </p:cNvPicPr>
          <p:nvPr/>
        </p:nvPicPr>
        <p:blipFill>
          <a:blip r:embed="rId3"/>
          <a:stretch>
            <a:fillRect/>
          </a:stretch>
        </p:blipFill>
        <p:spPr>
          <a:xfrm>
            <a:off x="10241280" y="365760"/>
            <a:ext cx="1371600" cy="1371600"/>
          </a:xfrm>
          <a:prstGeom prst="ellipse">
            <a:avLst/>
          </a:prstGeom>
        </p:spPr>
      </p:pic>
      <p:sp>
        <p:nvSpPr>
          <p:cNvPr id="6" name="Step 1"/>
          <p:cNvSpPr/>
          <p:nvPr/>
        </p:nvSpPr>
        <p:spPr>
          <a:xfrm>
            <a:off x="548640" y="1965960"/>
            <a:ext cx="1962851" cy="2286000"/>
          </a:xfrm>
          <a:prstGeom prst="roundRect">
            <a:avLst>
              <a:gd name="adj" fmla="val 5590"/>
            </a:avLst>
          </a:prstGeom>
          <a:solidFill>
            <a:schemeClr val="bg2"/>
          </a:solidFill>
          <a:ln/>
        </p:spPr>
        <p:txBody>
          <a:bodyPr/>
          <a:lstStyle/>
          <a:p>
            <a:endParaRPr lang="en-US"/>
          </a:p>
        </p:txBody>
      </p:sp>
      <p:sp>
        <p:nvSpPr>
          <p:cNvPr id="7" name="Shape 4"/>
          <p:cNvSpPr/>
          <p:nvPr/>
        </p:nvSpPr>
        <p:spPr>
          <a:xfrm>
            <a:off x="731520" y="2148840"/>
            <a:ext cx="594360" cy="594360"/>
          </a:xfrm>
          <a:prstGeom prst="ellipse">
            <a:avLst/>
          </a:prstGeom>
          <a:solidFill>
            <a:schemeClr val="accent1"/>
          </a:solidFill>
          <a:ln/>
        </p:spPr>
        <p:txBody>
          <a:bodyPr/>
          <a:lstStyle/>
          <a:p>
            <a:endParaRPr lang="en-US"/>
          </a:p>
        </p:txBody>
      </p:sp>
      <p:pic>
        <p:nvPicPr>
          <p:cNvPr id="8" name="Image 1" descr="preencoded.png"/>
          <p:cNvPicPr>
            <a:picLocks noChangeAspect="1"/>
          </p:cNvPicPr>
          <p:nvPr/>
        </p:nvPicPr>
        <p:blipFill>
          <a:blip r:embed="rId4"/>
          <a:stretch>
            <a:fillRect/>
          </a:stretch>
        </p:blipFill>
        <p:spPr>
          <a:xfrm>
            <a:off x="880110" y="2297430"/>
            <a:ext cx="297180" cy="297180"/>
          </a:xfrm>
          <a:prstGeom prst="rect">
            <a:avLst/>
          </a:prstGeom>
        </p:spPr>
      </p:pic>
      <p:sp>
        <p:nvSpPr>
          <p:cNvPr id="9" name="Text 5"/>
          <p:cNvSpPr txBox="1"/>
          <p:nvPr/>
        </p:nvSpPr>
        <p:spPr>
          <a:xfrm>
            <a:off x="2008571" y="2148840"/>
            <a:ext cx="320040" cy="320040"/>
          </a:xfrm>
          <a:prstGeom prst="rect">
            <a:avLst/>
          </a:prstGeom>
          <a:noFill/>
          <a:ln/>
        </p:spPr>
        <p:txBody>
          <a:bodyPr wrap="square" lIns="0" tIns="0" rIns="0" bIns="0" rtlCol="0" anchor="t"/>
          <a:lstStyle/>
          <a:p>
            <a:pPr marL="0" indent="0" algn="r">
              <a:buNone/>
            </a:pPr>
            <a:r>
              <a:rPr lang="en-US" sz="1400" b="1" dirty="0">
                <a:solidFill>
                  <a:schemeClr val="accent5"/>
                </a:solidFill>
              </a:rPr>
              <a:t>1</a:t>
            </a:r>
            <a:endParaRPr lang="en-US" sz="1400" dirty="0"/>
          </a:p>
        </p:txBody>
      </p:sp>
      <p:sp>
        <p:nvSpPr>
          <p:cNvPr id="10" name="Text 6"/>
          <p:cNvSpPr txBox="1"/>
          <p:nvPr/>
        </p:nvSpPr>
        <p:spPr>
          <a:xfrm>
            <a:off x="731520" y="2880360"/>
            <a:ext cx="1642811" cy="457200"/>
          </a:xfrm>
          <a:prstGeom prst="rect">
            <a:avLst/>
          </a:prstGeom>
          <a:noFill/>
          <a:ln/>
        </p:spPr>
        <p:txBody>
          <a:bodyPr wrap="square" lIns="0" tIns="0" rIns="0" bIns="0" rtlCol="0" anchor="t"/>
          <a:lstStyle/>
          <a:p>
            <a:pPr marL="0" indent="0">
              <a:buNone/>
            </a:pPr>
            <a:r>
              <a:rPr lang="en-US" sz="1400" b="1" dirty="0">
                <a:solidFill>
                  <a:schemeClr val="tx2"/>
                </a:solidFill>
              </a:rPr>
              <a:t>Context features</a:t>
            </a:r>
            <a:endParaRPr lang="en-US" sz="1400" dirty="0"/>
          </a:p>
        </p:txBody>
      </p:sp>
      <p:sp>
        <p:nvSpPr>
          <p:cNvPr id="11" name="Text 7"/>
          <p:cNvSpPr txBox="1"/>
          <p:nvPr/>
        </p:nvSpPr>
        <p:spPr>
          <a:xfrm>
            <a:off x="731520" y="3337560"/>
            <a:ext cx="1642811" cy="868680"/>
          </a:xfrm>
          <a:prstGeom prst="rect">
            <a:avLst/>
          </a:prstGeom>
          <a:noFill/>
          <a:ln/>
        </p:spPr>
        <p:txBody>
          <a:bodyPr wrap="square" lIns="0" tIns="0" rIns="0" bIns="0" rtlCol="0" anchor="t"/>
          <a:lstStyle/>
          <a:p>
            <a:pPr marL="0" indent="0">
              <a:buNone/>
            </a:pPr>
            <a:r>
              <a:rPr lang="en-US" sz="1200" dirty="0">
                <a:solidFill>
                  <a:schemeClr val="tx1"/>
                </a:solidFill>
              </a:rPr>
              <a:t>Day, season, holidays &amp; festivals, weather, capacity, site type, district</a:t>
            </a:r>
            <a:endParaRPr lang="en-US" sz="1200" dirty="0"/>
          </a:p>
        </p:txBody>
      </p:sp>
      <p:sp>
        <p:nvSpPr>
          <p:cNvPr id="12" name="Shape 8"/>
          <p:cNvSpPr/>
          <p:nvPr/>
        </p:nvSpPr>
        <p:spPr>
          <a:xfrm>
            <a:off x="2584643" y="2999232"/>
            <a:ext cx="173736" cy="219456"/>
          </a:xfrm>
          <a:prstGeom prst="chevron">
            <a:avLst/>
          </a:prstGeom>
          <a:solidFill>
            <a:schemeClr val="accent2"/>
          </a:solidFill>
          <a:ln/>
        </p:spPr>
        <p:txBody>
          <a:bodyPr/>
          <a:lstStyle/>
          <a:p>
            <a:endParaRPr lang="en-US"/>
          </a:p>
        </p:txBody>
      </p:sp>
      <p:sp>
        <p:nvSpPr>
          <p:cNvPr id="13" name="Step 2"/>
          <p:cNvSpPr/>
          <p:nvPr/>
        </p:nvSpPr>
        <p:spPr>
          <a:xfrm>
            <a:off x="2831531" y="1965960"/>
            <a:ext cx="1962851" cy="2286000"/>
          </a:xfrm>
          <a:prstGeom prst="roundRect">
            <a:avLst>
              <a:gd name="adj" fmla="val 5590"/>
            </a:avLst>
          </a:prstGeom>
          <a:solidFill>
            <a:schemeClr val="bg2"/>
          </a:solidFill>
          <a:ln/>
        </p:spPr>
        <p:txBody>
          <a:bodyPr/>
          <a:lstStyle/>
          <a:p>
            <a:endParaRPr lang="en-US"/>
          </a:p>
        </p:txBody>
      </p:sp>
      <p:sp>
        <p:nvSpPr>
          <p:cNvPr id="14" name="Shape 10"/>
          <p:cNvSpPr/>
          <p:nvPr/>
        </p:nvSpPr>
        <p:spPr>
          <a:xfrm>
            <a:off x="3014411" y="2148840"/>
            <a:ext cx="594360" cy="594360"/>
          </a:xfrm>
          <a:prstGeom prst="ellipse">
            <a:avLst/>
          </a:prstGeom>
          <a:solidFill>
            <a:schemeClr val="accent1"/>
          </a:solidFill>
          <a:ln/>
        </p:spPr>
        <p:txBody>
          <a:bodyPr/>
          <a:lstStyle/>
          <a:p>
            <a:endParaRPr lang="en-US"/>
          </a:p>
        </p:txBody>
      </p:sp>
      <p:pic>
        <p:nvPicPr>
          <p:cNvPr id="15" name="Image 2" descr="preencoded.png"/>
          <p:cNvPicPr>
            <a:picLocks noChangeAspect="1"/>
          </p:cNvPicPr>
          <p:nvPr/>
        </p:nvPicPr>
        <p:blipFill>
          <a:blip r:embed="rId5"/>
          <a:stretch>
            <a:fillRect/>
          </a:stretch>
        </p:blipFill>
        <p:spPr>
          <a:xfrm>
            <a:off x="3163001" y="2297430"/>
            <a:ext cx="297180" cy="297180"/>
          </a:xfrm>
          <a:prstGeom prst="rect">
            <a:avLst/>
          </a:prstGeom>
        </p:spPr>
      </p:pic>
      <p:sp>
        <p:nvSpPr>
          <p:cNvPr id="16" name="Text 11"/>
          <p:cNvSpPr txBox="1"/>
          <p:nvPr/>
        </p:nvSpPr>
        <p:spPr>
          <a:xfrm>
            <a:off x="4291462" y="2148840"/>
            <a:ext cx="320040" cy="320040"/>
          </a:xfrm>
          <a:prstGeom prst="rect">
            <a:avLst/>
          </a:prstGeom>
          <a:noFill/>
          <a:ln/>
        </p:spPr>
        <p:txBody>
          <a:bodyPr wrap="square" lIns="0" tIns="0" rIns="0" bIns="0" rtlCol="0" anchor="t"/>
          <a:lstStyle/>
          <a:p>
            <a:pPr marL="0" indent="0" algn="r">
              <a:buNone/>
            </a:pPr>
            <a:r>
              <a:rPr lang="en-US" sz="1400" b="1" dirty="0">
                <a:solidFill>
                  <a:schemeClr val="accent5"/>
                </a:solidFill>
              </a:rPr>
              <a:t>2</a:t>
            </a:r>
            <a:endParaRPr lang="en-US" sz="1400" dirty="0"/>
          </a:p>
        </p:txBody>
      </p:sp>
      <p:sp>
        <p:nvSpPr>
          <p:cNvPr id="17" name="Text 12"/>
          <p:cNvSpPr txBox="1"/>
          <p:nvPr/>
        </p:nvSpPr>
        <p:spPr>
          <a:xfrm>
            <a:off x="3014411" y="2880360"/>
            <a:ext cx="1642811" cy="457200"/>
          </a:xfrm>
          <a:prstGeom prst="rect">
            <a:avLst/>
          </a:prstGeom>
          <a:noFill/>
          <a:ln/>
        </p:spPr>
        <p:txBody>
          <a:bodyPr wrap="square" lIns="0" tIns="0" rIns="0" bIns="0" rtlCol="0" anchor="t"/>
          <a:lstStyle/>
          <a:p>
            <a:pPr marL="0" indent="0">
              <a:buNone/>
            </a:pPr>
            <a:r>
              <a:rPr lang="en-US" sz="1400" b="1" dirty="0">
                <a:solidFill>
                  <a:schemeClr val="tx2"/>
                </a:solidFill>
              </a:rPr>
              <a:t>Trained on 197 sites</a:t>
            </a:r>
            <a:endParaRPr lang="en-US" sz="1400" dirty="0"/>
          </a:p>
        </p:txBody>
      </p:sp>
      <p:sp>
        <p:nvSpPr>
          <p:cNvPr id="18" name="Text 13"/>
          <p:cNvSpPr txBox="1"/>
          <p:nvPr/>
        </p:nvSpPr>
        <p:spPr>
          <a:xfrm>
            <a:off x="3014411" y="3337560"/>
            <a:ext cx="1642811" cy="868680"/>
          </a:xfrm>
          <a:prstGeom prst="rect">
            <a:avLst/>
          </a:prstGeom>
          <a:noFill/>
          <a:ln/>
        </p:spPr>
        <p:txBody>
          <a:bodyPr wrap="square" lIns="0" tIns="0" rIns="0" bIns="0" rtlCol="0" anchor="t"/>
          <a:lstStyle/>
          <a:p>
            <a:pPr marL="0" indent="0">
              <a:buNone/>
            </a:pPr>
            <a:r>
              <a:rPr lang="en-US" sz="1200" dirty="0">
                <a:solidFill>
                  <a:schemeClr val="tx1"/>
                </a:solidFill>
              </a:rPr>
              <a:t>144,007 simulated daily records (2024 to 2025)</a:t>
            </a:r>
            <a:endParaRPr lang="en-US" sz="1200" dirty="0"/>
          </a:p>
        </p:txBody>
      </p:sp>
      <p:sp>
        <p:nvSpPr>
          <p:cNvPr id="19" name="Shape 14"/>
          <p:cNvSpPr/>
          <p:nvPr/>
        </p:nvSpPr>
        <p:spPr>
          <a:xfrm>
            <a:off x="4867534" y="2999232"/>
            <a:ext cx="173736" cy="219456"/>
          </a:xfrm>
          <a:prstGeom prst="chevron">
            <a:avLst/>
          </a:prstGeom>
          <a:solidFill>
            <a:schemeClr val="accent2"/>
          </a:solidFill>
          <a:ln/>
        </p:spPr>
        <p:txBody>
          <a:bodyPr/>
          <a:lstStyle/>
          <a:p>
            <a:endParaRPr lang="en-US"/>
          </a:p>
        </p:txBody>
      </p:sp>
      <p:sp>
        <p:nvSpPr>
          <p:cNvPr id="20" name="Step 3"/>
          <p:cNvSpPr/>
          <p:nvPr/>
        </p:nvSpPr>
        <p:spPr>
          <a:xfrm>
            <a:off x="5114422" y="1965960"/>
            <a:ext cx="1962851" cy="2286000"/>
          </a:xfrm>
          <a:prstGeom prst="roundRect">
            <a:avLst>
              <a:gd name="adj" fmla="val 5590"/>
            </a:avLst>
          </a:prstGeom>
          <a:solidFill>
            <a:schemeClr val="bg2"/>
          </a:solidFill>
          <a:ln/>
        </p:spPr>
        <p:txBody>
          <a:bodyPr/>
          <a:lstStyle/>
          <a:p>
            <a:endParaRPr lang="en-US"/>
          </a:p>
        </p:txBody>
      </p:sp>
      <p:sp>
        <p:nvSpPr>
          <p:cNvPr id="21" name="Shape 16"/>
          <p:cNvSpPr/>
          <p:nvPr/>
        </p:nvSpPr>
        <p:spPr>
          <a:xfrm>
            <a:off x="5297302" y="2148840"/>
            <a:ext cx="594360" cy="594360"/>
          </a:xfrm>
          <a:prstGeom prst="ellipse">
            <a:avLst/>
          </a:prstGeom>
          <a:solidFill>
            <a:schemeClr val="accent1"/>
          </a:solidFill>
          <a:ln/>
        </p:spPr>
        <p:txBody>
          <a:bodyPr/>
          <a:lstStyle/>
          <a:p>
            <a:endParaRPr lang="en-US"/>
          </a:p>
        </p:txBody>
      </p:sp>
      <p:pic>
        <p:nvPicPr>
          <p:cNvPr id="22" name="Image 3" descr="preencoded.png"/>
          <p:cNvPicPr>
            <a:picLocks noChangeAspect="1"/>
          </p:cNvPicPr>
          <p:nvPr/>
        </p:nvPicPr>
        <p:blipFill>
          <a:blip r:embed="rId6"/>
          <a:stretch>
            <a:fillRect/>
          </a:stretch>
        </p:blipFill>
        <p:spPr>
          <a:xfrm>
            <a:off x="5445892" y="2297430"/>
            <a:ext cx="297180" cy="297180"/>
          </a:xfrm>
          <a:prstGeom prst="rect">
            <a:avLst/>
          </a:prstGeom>
        </p:spPr>
      </p:pic>
      <p:sp>
        <p:nvSpPr>
          <p:cNvPr id="23" name="Text 17"/>
          <p:cNvSpPr txBox="1"/>
          <p:nvPr/>
        </p:nvSpPr>
        <p:spPr>
          <a:xfrm>
            <a:off x="6574353" y="2148840"/>
            <a:ext cx="320040" cy="320040"/>
          </a:xfrm>
          <a:prstGeom prst="rect">
            <a:avLst/>
          </a:prstGeom>
          <a:noFill/>
          <a:ln/>
        </p:spPr>
        <p:txBody>
          <a:bodyPr wrap="square" lIns="0" tIns="0" rIns="0" bIns="0" rtlCol="0" anchor="t"/>
          <a:lstStyle/>
          <a:p>
            <a:pPr marL="0" indent="0" algn="r">
              <a:buNone/>
            </a:pPr>
            <a:r>
              <a:rPr lang="en-US" sz="1400" b="1" dirty="0">
                <a:solidFill>
                  <a:schemeClr val="accent5"/>
                </a:solidFill>
              </a:rPr>
              <a:t>3</a:t>
            </a:r>
            <a:endParaRPr lang="en-US" sz="1400" dirty="0"/>
          </a:p>
        </p:txBody>
      </p:sp>
      <p:sp>
        <p:nvSpPr>
          <p:cNvPr id="24" name="Text 18"/>
          <p:cNvSpPr txBox="1"/>
          <p:nvPr/>
        </p:nvSpPr>
        <p:spPr>
          <a:xfrm>
            <a:off x="5297302" y="2880360"/>
            <a:ext cx="1642811" cy="457200"/>
          </a:xfrm>
          <a:prstGeom prst="rect">
            <a:avLst/>
          </a:prstGeom>
          <a:noFill/>
          <a:ln/>
        </p:spPr>
        <p:txBody>
          <a:bodyPr wrap="square" lIns="0" tIns="0" rIns="0" bIns="0" rtlCol="0" anchor="t"/>
          <a:lstStyle/>
          <a:p>
            <a:pPr marL="0" indent="0">
              <a:buNone/>
            </a:pPr>
            <a:r>
              <a:rPr lang="en-US" sz="1400" b="1" dirty="0">
                <a:solidFill>
                  <a:schemeClr val="tx2"/>
                </a:solidFill>
              </a:rPr>
              <a:t>Two Random Forests</a:t>
            </a:r>
            <a:endParaRPr lang="en-US" sz="1400" dirty="0"/>
          </a:p>
        </p:txBody>
      </p:sp>
      <p:sp>
        <p:nvSpPr>
          <p:cNvPr id="25" name="Text 19"/>
          <p:cNvSpPr txBox="1"/>
          <p:nvPr/>
        </p:nvSpPr>
        <p:spPr>
          <a:xfrm>
            <a:off x="5297302" y="3337560"/>
            <a:ext cx="1642811" cy="868680"/>
          </a:xfrm>
          <a:prstGeom prst="rect">
            <a:avLst/>
          </a:prstGeom>
          <a:noFill/>
          <a:ln/>
        </p:spPr>
        <p:txBody>
          <a:bodyPr wrap="square" lIns="0" tIns="0" rIns="0" bIns="0" rtlCol="0" anchor="t"/>
          <a:lstStyle/>
          <a:p>
            <a:pPr marL="0" indent="0">
              <a:buNone/>
            </a:pPr>
            <a:r>
              <a:rPr lang="en-US" sz="1200" dirty="0">
                <a:solidFill>
                  <a:schemeClr val="tx1"/>
                </a:solidFill>
              </a:rPr>
              <a:t>Regressor gives a crowd score; classifier gives the risk level</a:t>
            </a:r>
            <a:endParaRPr lang="en-US" sz="1200" dirty="0"/>
          </a:p>
        </p:txBody>
      </p:sp>
      <p:sp>
        <p:nvSpPr>
          <p:cNvPr id="26" name="Shape 20"/>
          <p:cNvSpPr/>
          <p:nvPr/>
        </p:nvSpPr>
        <p:spPr>
          <a:xfrm>
            <a:off x="7150425" y="2999232"/>
            <a:ext cx="173736" cy="219456"/>
          </a:xfrm>
          <a:prstGeom prst="chevron">
            <a:avLst/>
          </a:prstGeom>
          <a:solidFill>
            <a:schemeClr val="accent2"/>
          </a:solidFill>
          <a:ln/>
        </p:spPr>
        <p:txBody>
          <a:bodyPr/>
          <a:lstStyle/>
          <a:p>
            <a:endParaRPr lang="en-US"/>
          </a:p>
        </p:txBody>
      </p:sp>
      <p:sp>
        <p:nvSpPr>
          <p:cNvPr id="27" name="Step 4"/>
          <p:cNvSpPr/>
          <p:nvPr/>
        </p:nvSpPr>
        <p:spPr>
          <a:xfrm>
            <a:off x="7397313" y="1965960"/>
            <a:ext cx="1962851" cy="2286000"/>
          </a:xfrm>
          <a:prstGeom prst="roundRect">
            <a:avLst>
              <a:gd name="adj" fmla="val 5590"/>
            </a:avLst>
          </a:prstGeom>
          <a:solidFill>
            <a:schemeClr val="bg2"/>
          </a:solidFill>
          <a:ln/>
        </p:spPr>
        <p:txBody>
          <a:bodyPr/>
          <a:lstStyle/>
          <a:p>
            <a:endParaRPr lang="en-US"/>
          </a:p>
        </p:txBody>
      </p:sp>
      <p:sp>
        <p:nvSpPr>
          <p:cNvPr id="28" name="Shape 22"/>
          <p:cNvSpPr/>
          <p:nvPr/>
        </p:nvSpPr>
        <p:spPr>
          <a:xfrm>
            <a:off x="7580193" y="2148840"/>
            <a:ext cx="594360" cy="594360"/>
          </a:xfrm>
          <a:prstGeom prst="ellipse">
            <a:avLst/>
          </a:prstGeom>
          <a:solidFill>
            <a:schemeClr val="accent1"/>
          </a:solidFill>
          <a:ln/>
        </p:spPr>
        <p:txBody>
          <a:bodyPr/>
          <a:lstStyle/>
          <a:p>
            <a:endParaRPr lang="en-US"/>
          </a:p>
        </p:txBody>
      </p:sp>
      <p:pic>
        <p:nvPicPr>
          <p:cNvPr id="29" name="Image 4" descr="preencoded.png"/>
          <p:cNvPicPr>
            <a:picLocks noChangeAspect="1"/>
          </p:cNvPicPr>
          <p:nvPr/>
        </p:nvPicPr>
        <p:blipFill>
          <a:blip r:embed="rId7"/>
          <a:stretch>
            <a:fillRect/>
          </a:stretch>
        </p:blipFill>
        <p:spPr>
          <a:xfrm>
            <a:off x="7728783" y="2297430"/>
            <a:ext cx="297180" cy="297180"/>
          </a:xfrm>
          <a:prstGeom prst="rect">
            <a:avLst/>
          </a:prstGeom>
        </p:spPr>
      </p:pic>
      <p:sp>
        <p:nvSpPr>
          <p:cNvPr id="30" name="Text 23"/>
          <p:cNvSpPr txBox="1"/>
          <p:nvPr/>
        </p:nvSpPr>
        <p:spPr>
          <a:xfrm>
            <a:off x="8857244" y="2148840"/>
            <a:ext cx="320040" cy="320040"/>
          </a:xfrm>
          <a:prstGeom prst="rect">
            <a:avLst/>
          </a:prstGeom>
          <a:noFill/>
          <a:ln/>
        </p:spPr>
        <p:txBody>
          <a:bodyPr wrap="square" lIns="0" tIns="0" rIns="0" bIns="0" rtlCol="0" anchor="t"/>
          <a:lstStyle/>
          <a:p>
            <a:pPr marL="0" indent="0" algn="r">
              <a:buNone/>
            </a:pPr>
            <a:r>
              <a:rPr lang="en-US" sz="1400" b="1" dirty="0">
                <a:solidFill>
                  <a:schemeClr val="accent5"/>
                </a:solidFill>
              </a:rPr>
              <a:t>4</a:t>
            </a:r>
            <a:endParaRPr lang="en-US" sz="1400" dirty="0"/>
          </a:p>
        </p:txBody>
      </p:sp>
      <p:sp>
        <p:nvSpPr>
          <p:cNvPr id="31" name="Text 24"/>
          <p:cNvSpPr txBox="1"/>
          <p:nvPr/>
        </p:nvSpPr>
        <p:spPr>
          <a:xfrm>
            <a:off x="7580193" y="2880360"/>
            <a:ext cx="1642811" cy="457200"/>
          </a:xfrm>
          <a:prstGeom prst="rect">
            <a:avLst/>
          </a:prstGeom>
          <a:noFill/>
          <a:ln/>
        </p:spPr>
        <p:txBody>
          <a:bodyPr wrap="square" lIns="0" tIns="0" rIns="0" bIns="0" rtlCol="0" anchor="t"/>
          <a:lstStyle/>
          <a:p>
            <a:pPr marL="0" indent="0">
              <a:buNone/>
            </a:pPr>
            <a:r>
              <a:rPr lang="en-US" sz="1400" b="1" dirty="0">
                <a:solidFill>
                  <a:schemeClr val="tx2"/>
                </a:solidFill>
              </a:rPr>
              <a:t>Low / Medium / High</a:t>
            </a:r>
            <a:endParaRPr lang="en-US" sz="1400" dirty="0"/>
          </a:p>
        </p:txBody>
      </p:sp>
      <p:sp>
        <p:nvSpPr>
          <p:cNvPr id="32" name="Text 25"/>
          <p:cNvSpPr txBox="1"/>
          <p:nvPr/>
        </p:nvSpPr>
        <p:spPr>
          <a:xfrm>
            <a:off x="7580193" y="3337560"/>
            <a:ext cx="1642811" cy="868680"/>
          </a:xfrm>
          <a:prstGeom prst="rect">
            <a:avLst/>
          </a:prstGeom>
          <a:noFill/>
          <a:ln/>
        </p:spPr>
        <p:txBody>
          <a:bodyPr wrap="square" lIns="0" tIns="0" rIns="0" bIns="0" rtlCol="0" anchor="t"/>
          <a:lstStyle/>
          <a:p>
            <a:pPr marL="0" indent="0">
              <a:buNone/>
            </a:pPr>
            <a:r>
              <a:rPr lang="en-US" sz="1200" dirty="0">
                <a:solidFill>
                  <a:schemeClr val="tx1"/>
                </a:solidFill>
              </a:rPr>
              <a:t>Risk level plus a recommendation with each prediction</a:t>
            </a:r>
            <a:endParaRPr lang="en-US" sz="1200" dirty="0"/>
          </a:p>
        </p:txBody>
      </p:sp>
      <p:sp>
        <p:nvSpPr>
          <p:cNvPr id="33" name="Shape 26"/>
          <p:cNvSpPr/>
          <p:nvPr/>
        </p:nvSpPr>
        <p:spPr>
          <a:xfrm>
            <a:off x="9433316" y="2999232"/>
            <a:ext cx="173736" cy="219456"/>
          </a:xfrm>
          <a:prstGeom prst="chevron">
            <a:avLst/>
          </a:prstGeom>
          <a:solidFill>
            <a:schemeClr val="accent2"/>
          </a:solidFill>
          <a:ln/>
        </p:spPr>
        <p:txBody>
          <a:bodyPr/>
          <a:lstStyle/>
          <a:p>
            <a:endParaRPr lang="en-US"/>
          </a:p>
        </p:txBody>
      </p:sp>
      <p:sp>
        <p:nvSpPr>
          <p:cNvPr id="34" name="Step 5"/>
          <p:cNvSpPr/>
          <p:nvPr/>
        </p:nvSpPr>
        <p:spPr>
          <a:xfrm>
            <a:off x="9680204" y="1965960"/>
            <a:ext cx="1962851" cy="2286000"/>
          </a:xfrm>
          <a:prstGeom prst="roundRect">
            <a:avLst>
              <a:gd name="adj" fmla="val 5590"/>
            </a:avLst>
          </a:prstGeom>
          <a:solidFill>
            <a:schemeClr val="bg2"/>
          </a:solidFill>
          <a:ln/>
        </p:spPr>
        <p:txBody>
          <a:bodyPr/>
          <a:lstStyle/>
          <a:p>
            <a:endParaRPr lang="en-US"/>
          </a:p>
        </p:txBody>
      </p:sp>
      <p:sp>
        <p:nvSpPr>
          <p:cNvPr id="35" name="Shape 28"/>
          <p:cNvSpPr/>
          <p:nvPr/>
        </p:nvSpPr>
        <p:spPr>
          <a:xfrm>
            <a:off x="9863084" y="2148840"/>
            <a:ext cx="594360" cy="594360"/>
          </a:xfrm>
          <a:prstGeom prst="ellipse">
            <a:avLst/>
          </a:prstGeom>
          <a:solidFill>
            <a:schemeClr val="accent2"/>
          </a:solidFill>
          <a:ln/>
        </p:spPr>
        <p:txBody>
          <a:bodyPr/>
          <a:lstStyle/>
          <a:p>
            <a:endParaRPr lang="en-US"/>
          </a:p>
        </p:txBody>
      </p:sp>
      <p:pic>
        <p:nvPicPr>
          <p:cNvPr id="36" name="Image 5" descr="preencoded.png"/>
          <p:cNvPicPr>
            <a:picLocks noChangeAspect="1"/>
          </p:cNvPicPr>
          <p:nvPr/>
        </p:nvPicPr>
        <p:blipFill>
          <a:blip r:embed="rId8"/>
          <a:stretch>
            <a:fillRect/>
          </a:stretch>
        </p:blipFill>
        <p:spPr>
          <a:xfrm>
            <a:off x="10011674" y="2297430"/>
            <a:ext cx="297180" cy="297180"/>
          </a:xfrm>
          <a:prstGeom prst="rect">
            <a:avLst/>
          </a:prstGeom>
        </p:spPr>
      </p:pic>
      <p:sp>
        <p:nvSpPr>
          <p:cNvPr id="37" name="Text 29"/>
          <p:cNvSpPr txBox="1"/>
          <p:nvPr/>
        </p:nvSpPr>
        <p:spPr>
          <a:xfrm>
            <a:off x="11140135" y="2148840"/>
            <a:ext cx="320040" cy="320040"/>
          </a:xfrm>
          <a:prstGeom prst="rect">
            <a:avLst/>
          </a:prstGeom>
          <a:noFill/>
          <a:ln/>
        </p:spPr>
        <p:txBody>
          <a:bodyPr wrap="square" lIns="0" tIns="0" rIns="0" bIns="0" rtlCol="0" anchor="t"/>
          <a:lstStyle/>
          <a:p>
            <a:pPr marL="0" indent="0" algn="r">
              <a:buNone/>
            </a:pPr>
            <a:r>
              <a:rPr lang="en-US" sz="1400" b="1" dirty="0">
                <a:solidFill>
                  <a:schemeClr val="accent5"/>
                </a:solidFill>
              </a:rPr>
              <a:t>5</a:t>
            </a:r>
            <a:endParaRPr lang="en-US" sz="1400" dirty="0"/>
          </a:p>
        </p:txBody>
      </p:sp>
      <p:sp>
        <p:nvSpPr>
          <p:cNvPr id="38" name="Text 30"/>
          <p:cNvSpPr txBox="1"/>
          <p:nvPr/>
        </p:nvSpPr>
        <p:spPr>
          <a:xfrm>
            <a:off x="9863084" y="2880360"/>
            <a:ext cx="1642811" cy="457200"/>
          </a:xfrm>
          <a:prstGeom prst="rect">
            <a:avLst/>
          </a:prstGeom>
          <a:noFill/>
          <a:ln/>
        </p:spPr>
        <p:txBody>
          <a:bodyPr wrap="square" lIns="0" tIns="0" rIns="0" bIns="0" rtlCol="0" anchor="t"/>
          <a:lstStyle/>
          <a:p>
            <a:pPr marL="0" indent="0">
              <a:buNone/>
            </a:pPr>
            <a:r>
              <a:rPr lang="en-US" sz="1400" b="1" dirty="0">
                <a:solidFill>
                  <a:schemeClr val="tx2"/>
                </a:solidFill>
              </a:rPr>
              <a:t>Explained with SHAP</a:t>
            </a:r>
            <a:endParaRPr lang="en-US" sz="1400" dirty="0"/>
          </a:p>
        </p:txBody>
      </p:sp>
      <p:sp>
        <p:nvSpPr>
          <p:cNvPr id="39" name="Text 31"/>
          <p:cNvSpPr txBox="1"/>
          <p:nvPr/>
        </p:nvSpPr>
        <p:spPr>
          <a:xfrm>
            <a:off x="9863084" y="3337560"/>
            <a:ext cx="1642811" cy="868680"/>
          </a:xfrm>
          <a:prstGeom prst="rect">
            <a:avLst/>
          </a:prstGeom>
          <a:noFill/>
          <a:ln/>
        </p:spPr>
        <p:txBody>
          <a:bodyPr wrap="square" lIns="0" tIns="0" rIns="0" bIns="0" rtlCol="0" anchor="t"/>
          <a:lstStyle/>
          <a:p>
            <a:pPr marL="0" indent="0">
              <a:buNone/>
            </a:pPr>
            <a:r>
              <a:rPr lang="en-US" sz="1200" dirty="0">
                <a:solidFill>
                  <a:schemeClr val="tx1"/>
                </a:solidFill>
              </a:rPr>
              <a:t>Shows which features drive the model</a:t>
            </a:r>
            <a:endParaRPr lang="en-US" sz="1200" dirty="0"/>
          </a:p>
        </p:txBody>
      </p:sp>
      <p:pic>
        <p:nvPicPr>
          <p:cNvPr id="40" name="Image 6" descr="/home/claude/work/temple.jpg"/>
          <p:cNvPicPr>
            <a:picLocks noChangeAspect="1"/>
          </p:cNvPicPr>
          <p:nvPr/>
        </p:nvPicPr>
        <p:blipFill>
          <a:blip r:embed="rId9"/>
          <a:srcRect/>
          <a:stretch/>
        </p:blipFill>
        <p:spPr>
          <a:xfrm>
            <a:off x="548640" y="4526280"/>
            <a:ext cx="2834640" cy="1691640"/>
          </a:xfrm>
          <a:prstGeom prst="rect">
            <a:avLst/>
          </a:prstGeom>
        </p:spPr>
      </p:pic>
      <p:sp>
        <p:nvSpPr>
          <p:cNvPr id="41" name="Shape 32"/>
          <p:cNvSpPr/>
          <p:nvPr/>
        </p:nvSpPr>
        <p:spPr>
          <a:xfrm>
            <a:off x="3657600" y="4526280"/>
            <a:ext cx="4937760" cy="1691640"/>
          </a:xfrm>
          <a:prstGeom prst="roundRect">
            <a:avLst>
              <a:gd name="adj" fmla="val 6486"/>
            </a:avLst>
          </a:prstGeom>
          <a:solidFill>
            <a:schemeClr val="bg1"/>
          </a:solidFill>
          <a:ln w="9525">
            <a:solidFill>
              <a:srgbClr val="DCE6E2"/>
            </a:solidFill>
            <a:prstDash val="solid"/>
          </a:ln>
        </p:spPr>
        <p:txBody>
          <a:bodyPr/>
          <a:lstStyle/>
          <a:p>
            <a:endParaRPr lang="en-US"/>
          </a:p>
        </p:txBody>
      </p:sp>
      <p:sp>
        <p:nvSpPr>
          <p:cNvPr id="42" name="Shape 33"/>
          <p:cNvSpPr/>
          <p:nvPr/>
        </p:nvSpPr>
        <p:spPr>
          <a:xfrm>
            <a:off x="3840480" y="4709160"/>
            <a:ext cx="457200" cy="457200"/>
          </a:xfrm>
          <a:prstGeom prst="ellipse">
            <a:avLst/>
          </a:prstGeom>
          <a:solidFill>
            <a:schemeClr val="accent2"/>
          </a:solidFill>
          <a:ln/>
        </p:spPr>
        <p:txBody>
          <a:bodyPr/>
          <a:lstStyle/>
          <a:p>
            <a:endParaRPr lang="en-US"/>
          </a:p>
        </p:txBody>
      </p:sp>
      <p:pic>
        <p:nvPicPr>
          <p:cNvPr id="43" name="Image 7" descr="preencoded.png"/>
          <p:cNvPicPr>
            <a:picLocks noChangeAspect="1"/>
          </p:cNvPicPr>
          <p:nvPr/>
        </p:nvPicPr>
        <p:blipFill>
          <a:blip r:embed="rId10"/>
          <a:stretch>
            <a:fillRect/>
          </a:stretch>
        </p:blipFill>
        <p:spPr>
          <a:xfrm>
            <a:off x="3954780" y="4823460"/>
            <a:ext cx="228600" cy="228600"/>
          </a:xfrm>
          <a:prstGeom prst="rect">
            <a:avLst/>
          </a:prstGeom>
        </p:spPr>
      </p:pic>
      <p:sp>
        <p:nvSpPr>
          <p:cNvPr id="44" name="Text 34"/>
          <p:cNvSpPr txBox="1"/>
          <p:nvPr/>
        </p:nvSpPr>
        <p:spPr>
          <a:xfrm>
            <a:off x="4434840" y="4727448"/>
            <a:ext cx="4023360" cy="411480"/>
          </a:xfrm>
          <a:prstGeom prst="rect">
            <a:avLst/>
          </a:prstGeom>
          <a:noFill/>
          <a:ln/>
        </p:spPr>
        <p:txBody>
          <a:bodyPr wrap="square" lIns="0" tIns="0" rIns="0" bIns="0" rtlCol="0" anchor="ctr"/>
          <a:lstStyle/>
          <a:p>
            <a:pPr marL="0" indent="0">
              <a:buNone/>
            </a:pPr>
            <a:r>
              <a:rPr lang="en-US" sz="1500" b="1" dirty="0">
                <a:solidFill>
                  <a:schemeClr val="tx2"/>
                </a:solidFill>
              </a:rPr>
              <a:t>How it fits the platform</a:t>
            </a:r>
            <a:endParaRPr lang="en-US" sz="1500" dirty="0"/>
          </a:p>
        </p:txBody>
      </p:sp>
      <p:sp>
        <p:nvSpPr>
          <p:cNvPr id="45" name="Text 35"/>
          <p:cNvSpPr txBox="1"/>
          <p:nvPr/>
        </p:nvSpPr>
        <p:spPr>
          <a:xfrm>
            <a:off x="3840480" y="5257800"/>
            <a:ext cx="4572000" cy="868680"/>
          </a:xfrm>
          <a:prstGeom prst="rect">
            <a:avLst/>
          </a:prstGeom>
          <a:noFill/>
          <a:ln/>
        </p:spPr>
        <p:txBody>
          <a:bodyPr wrap="square" lIns="0" tIns="0" rIns="0" bIns="0" rtlCol="0" anchor="t"/>
          <a:lstStyle/>
          <a:p>
            <a:pPr marL="0" indent="0">
              <a:buNone/>
            </a:pPr>
            <a:r>
              <a:rPr lang="en-US" sz="1300" dirty="0">
                <a:solidFill>
                  <a:schemeClr val="tx1"/>
                </a:solidFill>
              </a:rPr>
              <a:t>The itinerary page loads /api/risk/personalized-ranking and matches attraction names to show a Low / Medium / High crowd badge on each visit.</a:t>
            </a:r>
            <a:endParaRPr lang="en-US" sz="1300" dirty="0"/>
          </a:p>
        </p:txBody>
      </p:sp>
      <p:sp>
        <p:nvSpPr>
          <p:cNvPr id="46" name="Key result"/>
          <p:cNvSpPr/>
          <p:nvPr/>
        </p:nvSpPr>
        <p:spPr>
          <a:xfrm>
            <a:off x="8869680" y="4526280"/>
            <a:ext cx="2773375" cy="1691640"/>
          </a:xfrm>
          <a:prstGeom prst="roundRect">
            <a:avLst>
              <a:gd name="adj" fmla="val 6486"/>
            </a:avLst>
          </a:prstGeom>
          <a:solidFill>
            <a:schemeClr val="tx2"/>
          </a:solidFill>
          <a:ln/>
        </p:spPr>
        <p:txBody>
          <a:bodyPr/>
          <a:lstStyle/>
          <a:p>
            <a:endParaRPr lang="en-US"/>
          </a:p>
        </p:txBody>
      </p:sp>
      <p:sp>
        <p:nvSpPr>
          <p:cNvPr id="47" name="Text 37"/>
          <p:cNvSpPr txBox="1"/>
          <p:nvPr/>
        </p:nvSpPr>
        <p:spPr>
          <a:xfrm>
            <a:off x="9098280" y="4663440"/>
            <a:ext cx="2316175" cy="228600"/>
          </a:xfrm>
          <a:prstGeom prst="rect">
            <a:avLst/>
          </a:prstGeom>
          <a:noFill/>
          <a:ln/>
        </p:spPr>
        <p:txBody>
          <a:bodyPr wrap="square" lIns="0" tIns="0" rIns="0" bIns="0" rtlCol="0" anchor="t"/>
          <a:lstStyle/>
          <a:p>
            <a:pPr marL="0" indent="0">
              <a:buNone/>
            </a:pPr>
            <a:r>
              <a:rPr lang="en-US" sz="1000" b="1" kern="0" spc="200" dirty="0">
                <a:solidFill>
                  <a:schemeClr val="accent6"/>
                </a:solidFill>
              </a:rPr>
              <a:t>KEY RESULT</a:t>
            </a:r>
            <a:endParaRPr lang="en-US" sz="1000" dirty="0"/>
          </a:p>
        </p:txBody>
      </p:sp>
      <p:sp>
        <p:nvSpPr>
          <p:cNvPr id="48" name="Text 38"/>
          <p:cNvSpPr txBox="1"/>
          <p:nvPr/>
        </p:nvSpPr>
        <p:spPr>
          <a:xfrm>
            <a:off x="9098280" y="4892040"/>
            <a:ext cx="2316175" cy="640080"/>
          </a:xfrm>
          <a:prstGeom prst="rect">
            <a:avLst/>
          </a:prstGeom>
          <a:noFill/>
          <a:ln/>
        </p:spPr>
        <p:txBody>
          <a:bodyPr wrap="square" lIns="0" tIns="0" rIns="0" bIns="0" rtlCol="0" anchor="ctr"/>
          <a:lstStyle/>
          <a:p>
            <a:pPr marL="0" indent="0">
              <a:buNone/>
            </a:pPr>
            <a:r>
              <a:rPr lang="en-US" sz="3600" b="1" dirty="0">
                <a:solidFill>
                  <a:schemeClr val="bg1"/>
                </a:solidFill>
                <a:latin typeface="Arial" pitchFamily="34" charset="0"/>
                <a:ea typeface="Arial" pitchFamily="34" charset="-122"/>
                <a:cs typeface="Arial" pitchFamily="34" charset="-120"/>
              </a:rPr>
              <a:t>37%</a:t>
            </a:r>
            <a:endParaRPr lang="en-US" sz="3600" dirty="0"/>
          </a:p>
        </p:txBody>
      </p:sp>
      <p:sp>
        <p:nvSpPr>
          <p:cNvPr id="49" name="Text 39"/>
          <p:cNvSpPr txBox="1"/>
          <p:nvPr/>
        </p:nvSpPr>
        <p:spPr>
          <a:xfrm>
            <a:off x="9098280" y="5550408"/>
            <a:ext cx="2316175" cy="594360"/>
          </a:xfrm>
          <a:prstGeom prst="rect">
            <a:avLst/>
          </a:prstGeom>
          <a:noFill/>
          <a:ln/>
        </p:spPr>
        <p:txBody>
          <a:bodyPr wrap="square" lIns="0" tIns="0" rIns="0" bIns="0" rtlCol="0" anchor="t"/>
          <a:lstStyle/>
          <a:p>
            <a:pPr marL="0" indent="0">
              <a:buNone/>
            </a:pPr>
            <a:r>
              <a:rPr lang="en-US" sz="1100" dirty="0">
                <a:solidFill>
                  <a:srgbClr val="CFE0DB"/>
                </a:solidFill>
              </a:rPr>
              <a:t>lower MAE than baseline on 10 unseen sites (0.1232 vs 0.1967)</a:t>
            </a:r>
            <a:endParaRPr lang="en-US" sz="1100" dirty="0"/>
          </a:p>
        </p:txBody>
      </p:sp>
      <p:sp>
        <p:nvSpPr>
          <p:cNvPr id="50"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5"/>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Kicker"/>
          <p:cNvSpPr txBox="1"/>
          <p:nvPr/>
        </p:nvSpPr>
        <p:spPr>
          <a:xfrm>
            <a:off x="548640" y="384048"/>
            <a:ext cx="11094415" cy="274320"/>
          </a:xfrm>
          <a:prstGeom prst="rect">
            <a:avLst/>
          </a:prstGeom>
          <a:noFill/>
          <a:ln/>
        </p:spPr>
        <p:txBody>
          <a:bodyPr wrap="square" lIns="0" tIns="0" rIns="0" bIns="0" rtlCol="0" anchor="ctr"/>
          <a:lstStyle/>
          <a:p>
            <a:pPr marL="0" indent="0">
              <a:buNone/>
            </a:pPr>
            <a:r>
              <a:rPr lang="en-US" sz="1200" b="1" kern="0" spc="200" dirty="0">
                <a:solidFill>
                  <a:schemeClr val="accent1"/>
                </a:solidFill>
              </a:rPr>
              <a:t>RESULTS</a:t>
            </a:r>
            <a:endParaRPr lang="en-US" sz="1200" dirty="0"/>
          </a:p>
        </p:txBody>
      </p:sp>
      <p:sp>
        <p:nvSpPr>
          <p:cNvPr id="3" name="Title"/>
          <p:cNvSpPr txBox="1"/>
          <p:nvPr/>
        </p:nvSpPr>
        <p:spPr>
          <a:xfrm>
            <a:off x="548640" y="658368"/>
            <a:ext cx="11094415" cy="640080"/>
          </a:xfrm>
          <a:prstGeom prst="rect">
            <a:avLst/>
          </a:prstGeom>
          <a:noFill/>
          <a:ln/>
        </p:spPr>
        <p:txBody>
          <a:bodyPr wrap="square" lIns="0" tIns="0" rIns="0" bIns="0" rtlCol="0" anchor="ctr"/>
          <a:lstStyle/>
          <a:p>
            <a:pPr marL="0" indent="0">
              <a:buNone/>
            </a:pPr>
            <a:r>
              <a:rPr lang="en-US" sz="3000" b="1" dirty="0">
                <a:solidFill>
                  <a:schemeClr val="tx2"/>
                </a:solidFill>
                <a:latin typeface="Arial" pitchFamily="34" charset="0"/>
                <a:ea typeface="Arial" pitchFamily="34" charset="-122"/>
                <a:cs typeface="Arial" pitchFamily="34" charset="-120"/>
              </a:rPr>
              <a:t>Every model is tested, not just trained</a:t>
            </a:r>
            <a:endParaRPr lang="en-US" sz="3000" dirty="0"/>
          </a:p>
        </p:txBody>
      </p:sp>
      <p:sp>
        <p:nvSpPr>
          <p:cNvPr id="4" name="Result 1"/>
          <p:cNvSpPr/>
          <p:nvPr/>
        </p:nvSpPr>
        <p:spPr>
          <a:xfrm>
            <a:off x="548640" y="1554480"/>
            <a:ext cx="2567864" cy="4206240"/>
          </a:xfrm>
          <a:prstGeom prst="roundRect">
            <a:avLst>
              <a:gd name="adj" fmla="val 4273"/>
            </a:avLst>
          </a:prstGeom>
          <a:solidFill>
            <a:schemeClr val="bg1"/>
          </a:solidFill>
          <a:ln w="9525">
            <a:solidFill>
              <a:srgbClr val="DCE6E2"/>
            </a:solidFill>
            <a:prstDash val="solid"/>
          </a:ln>
          <a:effectLst>
            <a:outerShdw blurRad="101600" dist="25400" dir="5400000" algn="bl" rotWithShape="0">
              <a:srgbClr val="000000">
                <a:alpha val="12000"/>
              </a:srgbClr>
            </a:outerShdw>
          </a:effectLst>
        </p:spPr>
        <p:txBody>
          <a:bodyPr/>
          <a:lstStyle/>
          <a:p>
            <a:endParaRPr lang="en-US"/>
          </a:p>
        </p:txBody>
      </p:sp>
      <p:sp>
        <p:nvSpPr>
          <p:cNvPr id="5" name="Shape 3"/>
          <p:cNvSpPr/>
          <p:nvPr/>
        </p:nvSpPr>
        <p:spPr>
          <a:xfrm>
            <a:off x="777240" y="1783080"/>
            <a:ext cx="548640" cy="548640"/>
          </a:xfrm>
          <a:prstGeom prst="ellipse">
            <a:avLst/>
          </a:prstGeom>
          <a:solidFill>
            <a:schemeClr val="accent3"/>
          </a:solidFill>
          <a:ln/>
        </p:spPr>
        <p:txBody>
          <a:bodyPr/>
          <a:lstStyle/>
          <a:p>
            <a:endParaRPr lang="en-US"/>
          </a:p>
        </p:txBody>
      </p:sp>
      <p:pic>
        <p:nvPicPr>
          <p:cNvPr id="6" name="Image 0" descr="preencoded.png"/>
          <p:cNvPicPr>
            <a:picLocks noChangeAspect="1"/>
          </p:cNvPicPr>
          <p:nvPr/>
        </p:nvPicPr>
        <p:blipFill>
          <a:blip r:embed="rId3"/>
          <a:stretch>
            <a:fillRect/>
          </a:stretch>
        </p:blipFill>
        <p:spPr>
          <a:xfrm>
            <a:off x="914400" y="1920240"/>
            <a:ext cx="274320" cy="274320"/>
          </a:xfrm>
          <a:prstGeom prst="rect">
            <a:avLst/>
          </a:prstGeom>
        </p:spPr>
      </p:pic>
      <p:sp>
        <p:nvSpPr>
          <p:cNvPr id="7" name="Text 4"/>
          <p:cNvSpPr txBox="1"/>
          <p:nvPr/>
        </p:nvSpPr>
        <p:spPr>
          <a:xfrm>
            <a:off x="1417320" y="1783080"/>
            <a:ext cx="1562024" cy="292608"/>
          </a:xfrm>
          <a:prstGeom prst="rect">
            <a:avLst/>
          </a:prstGeom>
          <a:noFill/>
          <a:ln/>
        </p:spPr>
        <p:txBody>
          <a:bodyPr wrap="square" lIns="0" tIns="0" rIns="0" bIns="0" rtlCol="0" anchor="t"/>
          <a:lstStyle/>
          <a:p>
            <a:pPr marL="0" indent="0">
              <a:buNone/>
            </a:pPr>
            <a:r>
              <a:rPr lang="en-US" sz="1500" b="1" dirty="0">
                <a:solidFill>
                  <a:schemeClr val="tx2"/>
                </a:solidFill>
              </a:rPr>
              <a:t>SOS Safety</a:t>
            </a:r>
            <a:endParaRPr lang="en-US" sz="1500" dirty="0"/>
          </a:p>
        </p:txBody>
      </p:sp>
      <p:sp>
        <p:nvSpPr>
          <p:cNvPr id="8" name="Text 5"/>
          <p:cNvSpPr txBox="1"/>
          <p:nvPr/>
        </p:nvSpPr>
        <p:spPr>
          <a:xfrm>
            <a:off x="1417320" y="2075688"/>
            <a:ext cx="1562024" cy="256032"/>
          </a:xfrm>
          <a:prstGeom prst="rect">
            <a:avLst/>
          </a:prstGeom>
          <a:noFill/>
          <a:ln/>
        </p:spPr>
        <p:txBody>
          <a:bodyPr wrap="square" lIns="0" tIns="0" rIns="0" bIns="0" rtlCol="0" anchor="t"/>
          <a:lstStyle/>
          <a:p>
            <a:pPr marL="0" indent="0">
              <a:buNone/>
            </a:pPr>
            <a:r>
              <a:rPr lang="en-US" sz="1100" dirty="0">
                <a:solidFill>
                  <a:schemeClr val="accent5"/>
                </a:solidFill>
              </a:rPr>
              <a:t>De Silva D.S.K</a:t>
            </a:r>
            <a:endParaRPr lang="en-US" sz="1100" dirty="0"/>
          </a:p>
        </p:txBody>
      </p:sp>
      <p:sp>
        <p:nvSpPr>
          <p:cNvPr id="9" name="Text 6"/>
          <p:cNvSpPr txBox="1"/>
          <p:nvPr/>
        </p:nvSpPr>
        <p:spPr>
          <a:xfrm>
            <a:off x="777240" y="2514600"/>
            <a:ext cx="2110664" cy="822960"/>
          </a:xfrm>
          <a:prstGeom prst="rect">
            <a:avLst/>
          </a:prstGeom>
          <a:noFill/>
          <a:ln/>
        </p:spPr>
        <p:txBody>
          <a:bodyPr wrap="square" lIns="0" tIns="0" rIns="0" bIns="0" rtlCol="0" anchor="ctr"/>
          <a:lstStyle/>
          <a:p>
            <a:pPr marL="0" indent="0">
              <a:buNone/>
            </a:pPr>
            <a:r>
              <a:rPr lang="en-US" sz="4800" b="1" dirty="0">
                <a:solidFill>
                  <a:schemeClr val="accent1"/>
                </a:solidFill>
                <a:latin typeface="Arial" pitchFamily="34" charset="0"/>
                <a:ea typeface="Arial" pitchFamily="34" charset="-122"/>
                <a:cs typeface="Arial" pitchFamily="34" charset="-120"/>
              </a:rPr>
              <a:t>0.923</a:t>
            </a:r>
            <a:endParaRPr lang="en-US" sz="4800" dirty="0"/>
          </a:p>
        </p:txBody>
      </p:sp>
      <p:sp>
        <p:nvSpPr>
          <p:cNvPr id="10" name="Text 7"/>
          <p:cNvSpPr txBox="1"/>
          <p:nvPr/>
        </p:nvSpPr>
        <p:spPr>
          <a:xfrm>
            <a:off x="777240" y="3337560"/>
            <a:ext cx="2110664" cy="292608"/>
          </a:xfrm>
          <a:prstGeom prst="rect">
            <a:avLst/>
          </a:prstGeom>
          <a:noFill/>
          <a:ln/>
        </p:spPr>
        <p:txBody>
          <a:bodyPr wrap="square" lIns="0" tIns="0" rIns="0" bIns="0" rtlCol="0" anchor="t"/>
          <a:lstStyle/>
          <a:p>
            <a:pPr marL="0" indent="0">
              <a:buNone/>
            </a:pPr>
            <a:r>
              <a:rPr lang="en-US" sz="1300" b="1" dirty="0">
                <a:solidFill>
                  <a:schemeClr val="tx1"/>
                </a:solidFill>
              </a:rPr>
              <a:t>macro-F1, Random Forest</a:t>
            </a:r>
            <a:endParaRPr lang="en-US" sz="1300" dirty="0"/>
          </a:p>
        </p:txBody>
      </p:sp>
      <p:sp>
        <p:nvSpPr>
          <p:cNvPr id="11" name="Shape 8"/>
          <p:cNvSpPr/>
          <p:nvPr/>
        </p:nvSpPr>
        <p:spPr>
          <a:xfrm>
            <a:off x="777240" y="3730752"/>
            <a:ext cx="2110664" cy="384048"/>
          </a:xfrm>
          <a:prstGeom prst="roundRect">
            <a:avLst>
              <a:gd name="adj" fmla="val 28571"/>
            </a:avLst>
          </a:prstGeom>
          <a:solidFill>
            <a:schemeClr val="bg2"/>
          </a:solidFill>
          <a:ln/>
        </p:spPr>
        <p:txBody>
          <a:bodyPr/>
          <a:lstStyle/>
          <a:p>
            <a:endParaRPr lang="en-US"/>
          </a:p>
        </p:txBody>
      </p:sp>
      <p:sp>
        <p:nvSpPr>
          <p:cNvPr id="12" name="Text 9"/>
          <p:cNvSpPr txBox="1"/>
          <p:nvPr/>
        </p:nvSpPr>
        <p:spPr>
          <a:xfrm>
            <a:off x="868680" y="3730752"/>
            <a:ext cx="1927784" cy="384048"/>
          </a:xfrm>
          <a:prstGeom prst="rect">
            <a:avLst/>
          </a:prstGeom>
          <a:noFill/>
          <a:ln/>
        </p:spPr>
        <p:txBody>
          <a:bodyPr wrap="square" lIns="0" tIns="0" rIns="0" bIns="0" rtlCol="0" anchor="ctr"/>
          <a:lstStyle/>
          <a:p>
            <a:pPr marL="0" indent="0">
              <a:buNone/>
            </a:pPr>
            <a:r>
              <a:rPr lang="en-US" sz="1200" b="1" dirty="0">
                <a:solidFill>
                  <a:schemeClr val="tx2"/>
                </a:solidFill>
              </a:rPr>
              <a:t>vs 0.783 keyword baseline</a:t>
            </a:r>
            <a:endParaRPr lang="en-US" sz="1200" dirty="0"/>
          </a:p>
        </p:txBody>
      </p:sp>
      <p:sp>
        <p:nvSpPr>
          <p:cNvPr id="13" name="Text 10"/>
          <p:cNvSpPr txBox="1"/>
          <p:nvPr/>
        </p:nvSpPr>
        <p:spPr>
          <a:xfrm>
            <a:off x="777240" y="4297680"/>
            <a:ext cx="2156384" cy="173736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chemeClr val="tx1"/>
                </a:solidFill>
              </a:rPr>
              <a:t>Accuracy 0.923 (baseline 0.777)</a:t>
            </a:r>
            <a:endParaRPr lang="en-US" sz="1200" dirty="0"/>
          </a:p>
          <a:p>
            <a:pPr marL="342900" indent="-342900">
              <a:spcAft>
                <a:spcPts val="600"/>
              </a:spcAft>
              <a:buSzPct val="100000"/>
              <a:buChar char="•"/>
            </a:pPr>
            <a:r>
              <a:rPr lang="en-US" sz="1200" dirty="0">
                <a:solidFill>
                  <a:schemeClr val="tx1"/>
                </a:solidFill>
              </a:rPr>
              <a:t>Medical F1 0.89 on 130 held-out messages</a:t>
            </a:r>
            <a:endParaRPr lang="en-US" sz="1200" dirty="0"/>
          </a:p>
          <a:p>
            <a:pPr marL="342900" indent="-342900">
              <a:spcAft>
                <a:spcPts val="600"/>
              </a:spcAft>
              <a:buSzPct val="100000"/>
              <a:buChar char="•"/>
            </a:pPr>
            <a:r>
              <a:rPr lang="en-US" sz="1200" dirty="0">
                <a:solidFill>
                  <a:schemeClr val="tx1"/>
                </a:solidFill>
              </a:rPr>
              <a:t>5-fold CV on 1,943 messages</a:t>
            </a:r>
            <a:endParaRPr lang="en-US" sz="1200" dirty="0"/>
          </a:p>
        </p:txBody>
      </p:sp>
      <p:sp>
        <p:nvSpPr>
          <p:cNvPr id="14" name="Result 2"/>
          <p:cNvSpPr/>
          <p:nvPr/>
        </p:nvSpPr>
        <p:spPr>
          <a:xfrm>
            <a:off x="3390824" y="1554480"/>
            <a:ext cx="2567864" cy="4206240"/>
          </a:xfrm>
          <a:prstGeom prst="roundRect">
            <a:avLst>
              <a:gd name="adj" fmla="val 4273"/>
            </a:avLst>
          </a:prstGeom>
          <a:solidFill>
            <a:schemeClr val="bg1"/>
          </a:solidFill>
          <a:ln w="9525">
            <a:solidFill>
              <a:srgbClr val="DCE6E2"/>
            </a:solidFill>
            <a:prstDash val="solid"/>
          </a:ln>
          <a:effectLst>
            <a:outerShdw blurRad="101600" dist="25400" dir="5400000" algn="bl" rotWithShape="0">
              <a:srgbClr val="000000">
                <a:alpha val="12000"/>
              </a:srgbClr>
            </a:outerShdw>
          </a:effectLst>
        </p:spPr>
        <p:txBody>
          <a:bodyPr/>
          <a:lstStyle/>
          <a:p>
            <a:endParaRPr lang="en-US"/>
          </a:p>
        </p:txBody>
      </p:sp>
      <p:sp>
        <p:nvSpPr>
          <p:cNvPr id="15" name="Shape 12"/>
          <p:cNvSpPr/>
          <p:nvPr/>
        </p:nvSpPr>
        <p:spPr>
          <a:xfrm>
            <a:off x="3619424" y="1783080"/>
            <a:ext cx="548640" cy="548640"/>
          </a:xfrm>
          <a:prstGeom prst="ellipse">
            <a:avLst/>
          </a:prstGeom>
          <a:solidFill>
            <a:schemeClr val="accent2"/>
          </a:solidFill>
          <a:ln/>
        </p:spPr>
        <p:txBody>
          <a:bodyPr/>
          <a:lstStyle/>
          <a:p>
            <a:endParaRPr lang="en-US"/>
          </a:p>
        </p:txBody>
      </p:sp>
      <p:pic>
        <p:nvPicPr>
          <p:cNvPr id="16" name="Image 1" descr="preencoded.png"/>
          <p:cNvPicPr>
            <a:picLocks noChangeAspect="1"/>
          </p:cNvPicPr>
          <p:nvPr/>
        </p:nvPicPr>
        <p:blipFill>
          <a:blip r:embed="rId4"/>
          <a:stretch>
            <a:fillRect/>
          </a:stretch>
        </p:blipFill>
        <p:spPr>
          <a:xfrm>
            <a:off x="3756584" y="1920240"/>
            <a:ext cx="274320" cy="274320"/>
          </a:xfrm>
          <a:prstGeom prst="rect">
            <a:avLst/>
          </a:prstGeom>
        </p:spPr>
      </p:pic>
      <p:sp>
        <p:nvSpPr>
          <p:cNvPr id="17" name="Text 13"/>
          <p:cNvSpPr txBox="1"/>
          <p:nvPr/>
        </p:nvSpPr>
        <p:spPr>
          <a:xfrm>
            <a:off x="4259504" y="1783080"/>
            <a:ext cx="1562024" cy="292608"/>
          </a:xfrm>
          <a:prstGeom prst="rect">
            <a:avLst/>
          </a:prstGeom>
          <a:noFill/>
          <a:ln/>
        </p:spPr>
        <p:txBody>
          <a:bodyPr wrap="square" lIns="0" tIns="0" rIns="0" bIns="0" rtlCol="0" anchor="t"/>
          <a:lstStyle/>
          <a:p>
            <a:pPr marL="0" indent="0">
              <a:buNone/>
            </a:pPr>
            <a:r>
              <a:rPr lang="en-US" sz="1500" b="1" dirty="0">
                <a:solidFill>
                  <a:schemeClr val="tx2"/>
                </a:solidFill>
              </a:rPr>
              <a:t>Itinerary Planner</a:t>
            </a:r>
            <a:endParaRPr lang="en-US" sz="1500" dirty="0"/>
          </a:p>
        </p:txBody>
      </p:sp>
      <p:sp>
        <p:nvSpPr>
          <p:cNvPr id="18" name="Text 14"/>
          <p:cNvSpPr txBox="1"/>
          <p:nvPr/>
        </p:nvSpPr>
        <p:spPr>
          <a:xfrm>
            <a:off x="4259504" y="2075688"/>
            <a:ext cx="1562024" cy="256032"/>
          </a:xfrm>
          <a:prstGeom prst="rect">
            <a:avLst/>
          </a:prstGeom>
          <a:noFill/>
          <a:ln/>
        </p:spPr>
        <p:txBody>
          <a:bodyPr wrap="square" lIns="0" tIns="0" rIns="0" bIns="0" rtlCol="0" anchor="t"/>
          <a:lstStyle/>
          <a:p>
            <a:pPr marL="0" indent="0">
              <a:buNone/>
            </a:pPr>
            <a:r>
              <a:rPr lang="en-US" sz="1100" dirty="0">
                <a:solidFill>
                  <a:schemeClr val="accent5"/>
                </a:solidFill>
              </a:rPr>
              <a:t>Wanniarachchi P.M.R</a:t>
            </a:r>
            <a:endParaRPr lang="en-US" sz="1100" dirty="0"/>
          </a:p>
        </p:txBody>
      </p:sp>
      <p:sp>
        <p:nvSpPr>
          <p:cNvPr id="19" name="Text 15"/>
          <p:cNvSpPr txBox="1"/>
          <p:nvPr/>
        </p:nvSpPr>
        <p:spPr>
          <a:xfrm>
            <a:off x="3619424" y="2514600"/>
            <a:ext cx="2110664" cy="822960"/>
          </a:xfrm>
          <a:prstGeom prst="rect">
            <a:avLst/>
          </a:prstGeom>
          <a:noFill/>
          <a:ln/>
        </p:spPr>
        <p:txBody>
          <a:bodyPr wrap="square" lIns="0" tIns="0" rIns="0" bIns="0" rtlCol="0" anchor="ctr"/>
          <a:lstStyle/>
          <a:p>
            <a:pPr marL="0" indent="0">
              <a:buNone/>
            </a:pPr>
            <a:r>
              <a:rPr lang="en-US" sz="4800" b="1" dirty="0">
                <a:solidFill>
                  <a:schemeClr val="accent1"/>
                </a:solidFill>
                <a:latin typeface="Arial" pitchFamily="34" charset="0"/>
                <a:ea typeface="Arial" pitchFamily="34" charset="-122"/>
                <a:cs typeface="Arial" pitchFamily="34" charset="-120"/>
              </a:rPr>
              <a:t>0.865</a:t>
            </a:r>
            <a:endParaRPr lang="en-US" sz="4800" dirty="0"/>
          </a:p>
        </p:txBody>
      </p:sp>
      <p:sp>
        <p:nvSpPr>
          <p:cNvPr id="20" name="Text 16"/>
          <p:cNvSpPr txBox="1"/>
          <p:nvPr/>
        </p:nvSpPr>
        <p:spPr>
          <a:xfrm>
            <a:off x="3619424" y="3337560"/>
            <a:ext cx="2110664" cy="292608"/>
          </a:xfrm>
          <a:prstGeom prst="rect">
            <a:avLst/>
          </a:prstGeom>
          <a:noFill/>
          <a:ln/>
        </p:spPr>
        <p:txBody>
          <a:bodyPr wrap="square" lIns="0" tIns="0" rIns="0" bIns="0" rtlCol="0" anchor="t"/>
          <a:lstStyle/>
          <a:p>
            <a:pPr marL="0" indent="0">
              <a:buNone/>
            </a:pPr>
            <a:r>
              <a:rPr lang="en-US" sz="1300" b="1" dirty="0">
                <a:solidFill>
                  <a:schemeClr val="tx1"/>
                </a:solidFill>
              </a:rPr>
              <a:t>attraction NDCG@10</a:t>
            </a:r>
            <a:endParaRPr lang="en-US" sz="1300" dirty="0"/>
          </a:p>
        </p:txBody>
      </p:sp>
      <p:sp>
        <p:nvSpPr>
          <p:cNvPr id="21" name="Shape 17"/>
          <p:cNvSpPr/>
          <p:nvPr/>
        </p:nvSpPr>
        <p:spPr>
          <a:xfrm>
            <a:off x="3619424" y="3730752"/>
            <a:ext cx="2110664" cy="384048"/>
          </a:xfrm>
          <a:prstGeom prst="roundRect">
            <a:avLst>
              <a:gd name="adj" fmla="val 28571"/>
            </a:avLst>
          </a:prstGeom>
          <a:solidFill>
            <a:schemeClr val="bg2"/>
          </a:solidFill>
          <a:ln/>
        </p:spPr>
        <p:txBody>
          <a:bodyPr/>
          <a:lstStyle/>
          <a:p>
            <a:endParaRPr lang="en-US"/>
          </a:p>
        </p:txBody>
      </p:sp>
      <p:sp>
        <p:nvSpPr>
          <p:cNvPr id="22" name="Text 18"/>
          <p:cNvSpPr txBox="1"/>
          <p:nvPr/>
        </p:nvSpPr>
        <p:spPr>
          <a:xfrm>
            <a:off x="3710864" y="3730752"/>
            <a:ext cx="1927784" cy="384048"/>
          </a:xfrm>
          <a:prstGeom prst="rect">
            <a:avLst/>
          </a:prstGeom>
          <a:noFill/>
          <a:ln/>
        </p:spPr>
        <p:txBody>
          <a:bodyPr wrap="square" lIns="0" tIns="0" rIns="0" bIns="0" rtlCol="0" anchor="ctr"/>
          <a:lstStyle/>
          <a:p>
            <a:pPr marL="0" indent="0">
              <a:buNone/>
            </a:pPr>
            <a:r>
              <a:rPr lang="en-US" sz="1200" b="1" dirty="0">
                <a:solidFill>
                  <a:schemeClr val="tx2"/>
                </a:solidFill>
              </a:rPr>
              <a:t>5-fold CV</a:t>
            </a:r>
            <a:endParaRPr lang="en-US" sz="1200" dirty="0"/>
          </a:p>
        </p:txBody>
      </p:sp>
      <p:sp>
        <p:nvSpPr>
          <p:cNvPr id="23" name="Text 19"/>
          <p:cNvSpPr txBox="1"/>
          <p:nvPr/>
        </p:nvSpPr>
        <p:spPr>
          <a:xfrm>
            <a:off x="3619424" y="4297680"/>
            <a:ext cx="2156384" cy="173736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chemeClr val="tx1"/>
                </a:solidFill>
              </a:rPr>
              <a:t>Mood 88.2%, category 76.4%</a:t>
            </a:r>
            <a:endParaRPr lang="en-US" sz="1200" dirty="0"/>
          </a:p>
          <a:p>
            <a:pPr marL="342900" indent="-342900">
              <a:spcAft>
                <a:spcPts val="600"/>
              </a:spcAft>
              <a:buSzPct val="100000"/>
              <a:buChar char="•"/>
            </a:pPr>
            <a:r>
              <a:rPr lang="en-US" sz="1200" dirty="0">
                <a:solidFill>
                  <a:schemeClr val="tx1"/>
                </a:solidFill>
              </a:rPr>
              <a:t>Top hotel suitable 99.8%</a:t>
            </a:r>
            <a:endParaRPr lang="en-US" sz="1200" dirty="0"/>
          </a:p>
          <a:p>
            <a:pPr marL="342900" indent="-342900">
              <a:spcAft>
                <a:spcPts val="600"/>
              </a:spcAft>
              <a:buSzPct val="100000"/>
              <a:buChar char="•"/>
            </a:pPr>
            <a:r>
              <a:rPr lang="en-US" sz="1200" dirty="0">
                <a:solidFill>
                  <a:schemeClr val="tx1"/>
                </a:solidFill>
              </a:rPr>
              <a:t>Visit-time step accuracy 52.6%</a:t>
            </a:r>
            <a:endParaRPr lang="en-US" sz="1200" dirty="0"/>
          </a:p>
        </p:txBody>
      </p:sp>
      <p:sp>
        <p:nvSpPr>
          <p:cNvPr id="24" name="Result 3"/>
          <p:cNvSpPr/>
          <p:nvPr/>
        </p:nvSpPr>
        <p:spPr>
          <a:xfrm>
            <a:off x="6233008" y="1554480"/>
            <a:ext cx="2567864" cy="4206240"/>
          </a:xfrm>
          <a:prstGeom prst="roundRect">
            <a:avLst>
              <a:gd name="adj" fmla="val 4273"/>
            </a:avLst>
          </a:prstGeom>
          <a:solidFill>
            <a:schemeClr val="bg1"/>
          </a:solidFill>
          <a:ln w="9525">
            <a:solidFill>
              <a:srgbClr val="DCE6E2"/>
            </a:solidFill>
            <a:prstDash val="solid"/>
          </a:ln>
          <a:effectLst>
            <a:outerShdw blurRad="101600" dist="25400" dir="5400000" algn="bl" rotWithShape="0">
              <a:srgbClr val="000000">
                <a:alpha val="12000"/>
              </a:srgbClr>
            </a:outerShdw>
          </a:effectLst>
        </p:spPr>
        <p:txBody>
          <a:bodyPr/>
          <a:lstStyle/>
          <a:p>
            <a:endParaRPr lang="en-US"/>
          </a:p>
        </p:txBody>
      </p:sp>
      <p:sp>
        <p:nvSpPr>
          <p:cNvPr id="25" name="Shape 21"/>
          <p:cNvSpPr/>
          <p:nvPr/>
        </p:nvSpPr>
        <p:spPr>
          <a:xfrm>
            <a:off x="6461608" y="1783080"/>
            <a:ext cx="548640" cy="548640"/>
          </a:xfrm>
          <a:prstGeom prst="ellipse">
            <a:avLst/>
          </a:prstGeom>
          <a:solidFill>
            <a:schemeClr val="accent4"/>
          </a:solidFill>
          <a:ln/>
        </p:spPr>
        <p:txBody>
          <a:bodyPr/>
          <a:lstStyle/>
          <a:p>
            <a:endParaRPr lang="en-US"/>
          </a:p>
        </p:txBody>
      </p:sp>
      <p:pic>
        <p:nvPicPr>
          <p:cNvPr id="26" name="Image 2" descr="preencoded.png"/>
          <p:cNvPicPr>
            <a:picLocks noChangeAspect="1"/>
          </p:cNvPicPr>
          <p:nvPr/>
        </p:nvPicPr>
        <p:blipFill>
          <a:blip r:embed="rId5"/>
          <a:stretch>
            <a:fillRect/>
          </a:stretch>
        </p:blipFill>
        <p:spPr>
          <a:xfrm>
            <a:off x="6598768" y="1920240"/>
            <a:ext cx="274320" cy="274320"/>
          </a:xfrm>
          <a:prstGeom prst="rect">
            <a:avLst/>
          </a:prstGeom>
        </p:spPr>
      </p:pic>
      <p:sp>
        <p:nvSpPr>
          <p:cNvPr id="27" name="Text 22"/>
          <p:cNvSpPr txBox="1"/>
          <p:nvPr/>
        </p:nvSpPr>
        <p:spPr>
          <a:xfrm>
            <a:off x="7101688" y="1783080"/>
            <a:ext cx="1562024" cy="292608"/>
          </a:xfrm>
          <a:prstGeom prst="rect">
            <a:avLst/>
          </a:prstGeom>
          <a:noFill/>
          <a:ln/>
        </p:spPr>
        <p:txBody>
          <a:bodyPr wrap="square" lIns="0" tIns="0" rIns="0" bIns="0" rtlCol="0" anchor="t"/>
          <a:lstStyle/>
          <a:p>
            <a:pPr marL="0" indent="0">
              <a:buNone/>
            </a:pPr>
            <a:r>
              <a:rPr lang="en-US" sz="1500" b="1" dirty="0">
                <a:solidFill>
                  <a:schemeClr val="tx2"/>
                </a:solidFill>
              </a:rPr>
              <a:t>Wellness Matching</a:t>
            </a:r>
            <a:endParaRPr lang="en-US" sz="1500" dirty="0"/>
          </a:p>
        </p:txBody>
      </p:sp>
      <p:sp>
        <p:nvSpPr>
          <p:cNvPr id="28" name="Text 23"/>
          <p:cNvSpPr txBox="1"/>
          <p:nvPr/>
        </p:nvSpPr>
        <p:spPr>
          <a:xfrm>
            <a:off x="7101688" y="2075688"/>
            <a:ext cx="1562024" cy="256032"/>
          </a:xfrm>
          <a:prstGeom prst="rect">
            <a:avLst/>
          </a:prstGeom>
          <a:noFill/>
          <a:ln/>
        </p:spPr>
        <p:txBody>
          <a:bodyPr wrap="square" lIns="0" tIns="0" rIns="0" bIns="0" rtlCol="0" anchor="t"/>
          <a:lstStyle/>
          <a:p>
            <a:pPr marL="0" indent="0">
              <a:buNone/>
            </a:pPr>
            <a:r>
              <a:rPr lang="en-US" sz="1100" dirty="0">
                <a:solidFill>
                  <a:schemeClr val="accent5"/>
                </a:solidFill>
              </a:rPr>
              <a:t>De Silva D.C.M</a:t>
            </a:r>
            <a:endParaRPr lang="en-US" sz="1100" dirty="0"/>
          </a:p>
        </p:txBody>
      </p:sp>
      <p:sp>
        <p:nvSpPr>
          <p:cNvPr id="29" name="Text 24"/>
          <p:cNvSpPr txBox="1"/>
          <p:nvPr/>
        </p:nvSpPr>
        <p:spPr>
          <a:xfrm>
            <a:off x="6461608" y="2514600"/>
            <a:ext cx="2110664" cy="822960"/>
          </a:xfrm>
          <a:prstGeom prst="rect">
            <a:avLst/>
          </a:prstGeom>
          <a:noFill/>
          <a:ln/>
        </p:spPr>
        <p:txBody>
          <a:bodyPr wrap="square" lIns="0" tIns="0" rIns="0" bIns="0" rtlCol="0" anchor="ctr"/>
          <a:lstStyle/>
          <a:p>
            <a:pPr marL="0" indent="0">
              <a:buNone/>
            </a:pPr>
            <a:r>
              <a:rPr lang="en-US" sz="4800" b="1" dirty="0">
                <a:solidFill>
                  <a:schemeClr val="accent1"/>
                </a:solidFill>
                <a:latin typeface="Arial" pitchFamily="34" charset="0"/>
                <a:ea typeface="Arial" pitchFamily="34" charset="-122"/>
                <a:cs typeface="Arial" pitchFamily="34" charset="-120"/>
              </a:rPr>
              <a:t>81%</a:t>
            </a:r>
            <a:endParaRPr lang="en-US" sz="4800" dirty="0"/>
          </a:p>
        </p:txBody>
      </p:sp>
      <p:sp>
        <p:nvSpPr>
          <p:cNvPr id="30" name="Text 25"/>
          <p:cNvSpPr txBox="1"/>
          <p:nvPr/>
        </p:nvSpPr>
        <p:spPr>
          <a:xfrm>
            <a:off x="6461608" y="3337560"/>
            <a:ext cx="2110664" cy="292608"/>
          </a:xfrm>
          <a:prstGeom prst="rect">
            <a:avLst/>
          </a:prstGeom>
          <a:noFill/>
          <a:ln/>
        </p:spPr>
        <p:txBody>
          <a:bodyPr wrap="square" lIns="0" tIns="0" rIns="0" bIns="0" rtlCol="0" anchor="t"/>
          <a:lstStyle/>
          <a:p>
            <a:pPr marL="0" indent="0">
              <a:buNone/>
            </a:pPr>
            <a:r>
              <a:rPr lang="en-US" sz="1300" b="1" dirty="0">
                <a:solidFill>
                  <a:schemeClr val="tx1"/>
                </a:solidFill>
              </a:rPr>
              <a:t>dosha accuracy (F1 0.794)</a:t>
            </a:r>
            <a:endParaRPr lang="en-US" sz="1300" dirty="0"/>
          </a:p>
        </p:txBody>
      </p:sp>
      <p:sp>
        <p:nvSpPr>
          <p:cNvPr id="31" name="Shape 26"/>
          <p:cNvSpPr/>
          <p:nvPr/>
        </p:nvSpPr>
        <p:spPr>
          <a:xfrm>
            <a:off x="6461608" y="3730752"/>
            <a:ext cx="2110664" cy="384048"/>
          </a:xfrm>
          <a:prstGeom prst="roundRect">
            <a:avLst>
              <a:gd name="adj" fmla="val 28571"/>
            </a:avLst>
          </a:prstGeom>
          <a:solidFill>
            <a:schemeClr val="bg2"/>
          </a:solidFill>
          <a:ln/>
        </p:spPr>
        <p:txBody>
          <a:bodyPr/>
          <a:lstStyle/>
          <a:p>
            <a:endParaRPr lang="en-US"/>
          </a:p>
        </p:txBody>
      </p:sp>
      <p:sp>
        <p:nvSpPr>
          <p:cNvPr id="32" name="Text 27"/>
          <p:cNvSpPr txBox="1"/>
          <p:nvPr/>
        </p:nvSpPr>
        <p:spPr>
          <a:xfrm>
            <a:off x="6553048" y="3730752"/>
            <a:ext cx="1927784" cy="384048"/>
          </a:xfrm>
          <a:prstGeom prst="rect">
            <a:avLst/>
          </a:prstGeom>
          <a:noFill/>
          <a:ln/>
        </p:spPr>
        <p:txBody>
          <a:bodyPr wrap="square" lIns="0" tIns="0" rIns="0" bIns="0" rtlCol="0" anchor="ctr"/>
          <a:lstStyle/>
          <a:p>
            <a:pPr marL="0" indent="0">
              <a:buNone/>
            </a:pPr>
            <a:r>
              <a:rPr lang="en-US" sz="1200" b="1" dirty="0">
                <a:solidFill>
                  <a:schemeClr val="tx2"/>
                </a:solidFill>
              </a:rPr>
              <a:t>5-fold CV 84.3%</a:t>
            </a:r>
            <a:endParaRPr lang="en-US" sz="1200" dirty="0"/>
          </a:p>
        </p:txBody>
      </p:sp>
      <p:sp>
        <p:nvSpPr>
          <p:cNvPr id="33" name="Text 28"/>
          <p:cNvSpPr txBox="1"/>
          <p:nvPr/>
        </p:nvSpPr>
        <p:spPr>
          <a:xfrm>
            <a:off x="6461608" y="4297680"/>
            <a:ext cx="2156384" cy="173736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chemeClr val="tx1"/>
                </a:solidFill>
              </a:rPr>
              <a:t>Ablation: match quality 4.48 vs 3.85</a:t>
            </a:r>
            <a:endParaRPr lang="en-US" sz="1200" dirty="0"/>
          </a:p>
          <a:p>
            <a:pPr marL="342900" indent="-342900">
              <a:spcAft>
                <a:spcPts val="600"/>
              </a:spcAft>
              <a:buSzPct val="100000"/>
              <a:buChar char="•"/>
            </a:pPr>
            <a:r>
              <a:rPr lang="en-US" sz="1200" dirty="0">
                <a:solidFill>
                  <a:schemeClr val="tx1"/>
                </a:solidFill>
              </a:rPr>
              <a:t>Hotel letter + 2 centre endorsement letters</a:t>
            </a:r>
            <a:endParaRPr lang="en-US" sz="1200" dirty="0"/>
          </a:p>
        </p:txBody>
      </p:sp>
      <p:sp>
        <p:nvSpPr>
          <p:cNvPr id="34" name="Result 4"/>
          <p:cNvSpPr/>
          <p:nvPr/>
        </p:nvSpPr>
        <p:spPr>
          <a:xfrm>
            <a:off x="9075191" y="1554480"/>
            <a:ext cx="2567864" cy="4206240"/>
          </a:xfrm>
          <a:prstGeom prst="roundRect">
            <a:avLst>
              <a:gd name="adj" fmla="val 4273"/>
            </a:avLst>
          </a:prstGeom>
          <a:solidFill>
            <a:schemeClr val="bg1"/>
          </a:solidFill>
          <a:ln w="9525">
            <a:solidFill>
              <a:srgbClr val="DCE6E2"/>
            </a:solidFill>
            <a:prstDash val="solid"/>
          </a:ln>
          <a:effectLst>
            <a:outerShdw blurRad="101600" dist="25400" dir="5400000" algn="bl" rotWithShape="0">
              <a:srgbClr val="000000">
                <a:alpha val="12000"/>
              </a:srgbClr>
            </a:outerShdw>
          </a:effectLst>
        </p:spPr>
        <p:txBody>
          <a:bodyPr/>
          <a:lstStyle/>
          <a:p>
            <a:endParaRPr lang="en-US"/>
          </a:p>
        </p:txBody>
      </p:sp>
      <p:sp>
        <p:nvSpPr>
          <p:cNvPr id="35" name="Shape 30"/>
          <p:cNvSpPr/>
          <p:nvPr/>
        </p:nvSpPr>
        <p:spPr>
          <a:xfrm>
            <a:off x="9303791" y="1783080"/>
            <a:ext cx="548640" cy="548640"/>
          </a:xfrm>
          <a:prstGeom prst="ellipse">
            <a:avLst/>
          </a:prstGeom>
          <a:solidFill>
            <a:schemeClr val="accent2"/>
          </a:solidFill>
          <a:ln/>
        </p:spPr>
        <p:txBody>
          <a:bodyPr/>
          <a:lstStyle/>
          <a:p>
            <a:endParaRPr lang="en-US"/>
          </a:p>
        </p:txBody>
      </p:sp>
      <p:pic>
        <p:nvPicPr>
          <p:cNvPr id="36" name="Image 3" descr="preencoded.png"/>
          <p:cNvPicPr>
            <a:picLocks noChangeAspect="1"/>
          </p:cNvPicPr>
          <p:nvPr/>
        </p:nvPicPr>
        <p:blipFill>
          <a:blip r:embed="rId6"/>
          <a:stretch>
            <a:fillRect/>
          </a:stretch>
        </p:blipFill>
        <p:spPr>
          <a:xfrm>
            <a:off x="9440951" y="1920240"/>
            <a:ext cx="274320" cy="274320"/>
          </a:xfrm>
          <a:prstGeom prst="rect">
            <a:avLst/>
          </a:prstGeom>
        </p:spPr>
      </p:pic>
      <p:sp>
        <p:nvSpPr>
          <p:cNvPr id="37" name="Text 31"/>
          <p:cNvSpPr txBox="1"/>
          <p:nvPr/>
        </p:nvSpPr>
        <p:spPr>
          <a:xfrm>
            <a:off x="9943871" y="1783080"/>
            <a:ext cx="1562024" cy="292608"/>
          </a:xfrm>
          <a:prstGeom prst="rect">
            <a:avLst/>
          </a:prstGeom>
          <a:noFill/>
          <a:ln/>
        </p:spPr>
        <p:txBody>
          <a:bodyPr wrap="square" lIns="0" tIns="0" rIns="0" bIns="0" rtlCol="0" anchor="t"/>
          <a:lstStyle/>
          <a:p>
            <a:pPr marL="0" indent="0">
              <a:buNone/>
            </a:pPr>
            <a:r>
              <a:rPr lang="en-US" sz="1500" b="1" dirty="0">
                <a:solidFill>
                  <a:schemeClr val="tx2"/>
                </a:solidFill>
              </a:rPr>
              <a:t>Crowd Risk</a:t>
            </a:r>
            <a:endParaRPr lang="en-US" sz="1500" dirty="0"/>
          </a:p>
        </p:txBody>
      </p:sp>
      <p:sp>
        <p:nvSpPr>
          <p:cNvPr id="38" name="Text 32"/>
          <p:cNvSpPr txBox="1"/>
          <p:nvPr/>
        </p:nvSpPr>
        <p:spPr>
          <a:xfrm>
            <a:off x="9943871" y="2075688"/>
            <a:ext cx="1562024" cy="256032"/>
          </a:xfrm>
          <a:prstGeom prst="rect">
            <a:avLst/>
          </a:prstGeom>
          <a:noFill/>
          <a:ln/>
        </p:spPr>
        <p:txBody>
          <a:bodyPr wrap="square" lIns="0" tIns="0" rIns="0" bIns="0" rtlCol="0" anchor="t"/>
          <a:lstStyle/>
          <a:p>
            <a:pPr marL="0" indent="0">
              <a:buNone/>
            </a:pPr>
            <a:r>
              <a:rPr lang="en-US" sz="1100" dirty="0">
                <a:solidFill>
                  <a:schemeClr val="accent5"/>
                </a:solidFill>
              </a:rPr>
              <a:t>Abinaya R</a:t>
            </a:r>
            <a:endParaRPr lang="en-US" sz="1100" dirty="0"/>
          </a:p>
        </p:txBody>
      </p:sp>
      <p:sp>
        <p:nvSpPr>
          <p:cNvPr id="39" name="Text 33"/>
          <p:cNvSpPr txBox="1"/>
          <p:nvPr/>
        </p:nvSpPr>
        <p:spPr>
          <a:xfrm>
            <a:off x="9303791" y="2514600"/>
            <a:ext cx="2110664" cy="822960"/>
          </a:xfrm>
          <a:prstGeom prst="rect">
            <a:avLst/>
          </a:prstGeom>
          <a:noFill/>
          <a:ln/>
        </p:spPr>
        <p:txBody>
          <a:bodyPr wrap="square" lIns="0" tIns="0" rIns="0" bIns="0" rtlCol="0" anchor="ctr"/>
          <a:lstStyle/>
          <a:p>
            <a:pPr marL="0" indent="0">
              <a:buNone/>
            </a:pPr>
            <a:r>
              <a:rPr lang="en-US" sz="4800" b="1" dirty="0">
                <a:solidFill>
                  <a:schemeClr val="accent1"/>
                </a:solidFill>
                <a:latin typeface="Arial" pitchFamily="34" charset="0"/>
                <a:ea typeface="Arial" pitchFamily="34" charset="-122"/>
                <a:cs typeface="Arial" pitchFamily="34" charset="-120"/>
              </a:rPr>
              <a:t>37%</a:t>
            </a:r>
            <a:endParaRPr lang="en-US" sz="4800" dirty="0"/>
          </a:p>
        </p:txBody>
      </p:sp>
      <p:sp>
        <p:nvSpPr>
          <p:cNvPr id="40" name="Text 34"/>
          <p:cNvSpPr txBox="1"/>
          <p:nvPr/>
        </p:nvSpPr>
        <p:spPr>
          <a:xfrm>
            <a:off x="9303791" y="3337560"/>
            <a:ext cx="2110664" cy="292608"/>
          </a:xfrm>
          <a:prstGeom prst="rect">
            <a:avLst/>
          </a:prstGeom>
          <a:noFill/>
          <a:ln/>
        </p:spPr>
        <p:txBody>
          <a:bodyPr wrap="square" lIns="0" tIns="0" rIns="0" bIns="0" rtlCol="0" anchor="t"/>
          <a:lstStyle/>
          <a:p>
            <a:pPr marL="0" indent="0">
              <a:buNone/>
            </a:pPr>
            <a:r>
              <a:rPr lang="en-US" sz="1300" b="1" dirty="0">
                <a:solidFill>
                  <a:schemeClr val="tx1"/>
                </a:solidFill>
              </a:rPr>
              <a:t>lower MAE on 10 unseen sites</a:t>
            </a:r>
            <a:endParaRPr lang="en-US" sz="1300" dirty="0"/>
          </a:p>
        </p:txBody>
      </p:sp>
      <p:sp>
        <p:nvSpPr>
          <p:cNvPr id="41" name="Shape 35"/>
          <p:cNvSpPr/>
          <p:nvPr/>
        </p:nvSpPr>
        <p:spPr>
          <a:xfrm>
            <a:off x="9303791" y="3730752"/>
            <a:ext cx="2110664" cy="384048"/>
          </a:xfrm>
          <a:prstGeom prst="roundRect">
            <a:avLst>
              <a:gd name="adj" fmla="val 28571"/>
            </a:avLst>
          </a:prstGeom>
          <a:solidFill>
            <a:schemeClr val="bg2"/>
          </a:solidFill>
          <a:ln/>
        </p:spPr>
        <p:txBody>
          <a:bodyPr/>
          <a:lstStyle/>
          <a:p>
            <a:endParaRPr lang="en-US"/>
          </a:p>
        </p:txBody>
      </p:sp>
      <p:sp>
        <p:nvSpPr>
          <p:cNvPr id="42" name="Text 36"/>
          <p:cNvSpPr txBox="1"/>
          <p:nvPr/>
        </p:nvSpPr>
        <p:spPr>
          <a:xfrm>
            <a:off x="9395231" y="3730752"/>
            <a:ext cx="1927784" cy="384048"/>
          </a:xfrm>
          <a:prstGeom prst="rect">
            <a:avLst/>
          </a:prstGeom>
          <a:noFill/>
          <a:ln/>
        </p:spPr>
        <p:txBody>
          <a:bodyPr wrap="square" lIns="0" tIns="0" rIns="0" bIns="0" rtlCol="0" anchor="ctr"/>
          <a:lstStyle/>
          <a:p>
            <a:pPr marL="0" indent="0">
              <a:buNone/>
            </a:pPr>
            <a:r>
              <a:rPr lang="en-US" sz="1200" b="1" dirty="0">
                <a:solidFill>
                  <a:schemeClr val="tx2"/>
                </a:solidFill>
              </a:rPr>
              <a:t>0.1232 vs 0.1967 baseline</a:t>
            </a:r>
            <a:endParaRPr lang="en-US" sz="1200" dirty="0"/>
          </a:p>
        </p:txBody>
      </p:sp>
      <p:sp>
        <p:nvSpPr>
          <p:cNvPr id="43" name="Text 37"/>
          <p:cNvSpPr txBox="1"/>
          <p:nvPr/>
        </p:nvSpPr>
        <p:spPr>
          <a:xfrm>
            <a:off x="9303791" y="4297680"/>
            <a:ext cx="2156384" cy="173736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chemeClr val="tx1"/>
                </a:solidFill>
              </a:rPr>
              <a:t>R² 0.333 (moderate)</a:t>
            </a:r>
            <a:endParaRPr lang="en-US" sz="1200" dirty="0"/>
          </a:p>
          <a:p>
            <a:pPr marL="342900" indent="-342900">
              <a:spcAft>
                <a:spcPts val="600"/>
              </a:spcAft>
              <a:buSzPct val="100000"/>
              <a:buChar char="•"/>
            </a:pPr>
            <a:r>
              <a:rPr lang="en-US" sz="1200" dirty="0">
                <a:solidFill>
                  <a:schemeClr val="tx1"/>
                </a:solidFill>
              </a:rPr>
              <a:t>Accuracy 77.3% (balanced 57.5%)</a:t>
            </a:r>
            <a:endParaRPr lang="en-US" sz="1200" dirty="0"/>
          </a:p>
          <a:p>
            <a:pPr marL="342900" indent="-342900">
              <a:spcAft>
                <a:spcPts val="600"/>
              </a:spcAft>
              <a:buSzPct val="100000"/>
              <a:buChar char="•"/>
            </a:pPr>
            <a:r>
              <a:rPr lang="en-US" sz="1200" dirty="0">
                <a:solidFill>
                  <a:schemeClr val="tx1"/>
                </a:solidFill>
              </a:rPr>
              <a:t>Random split (easier): R² 0.849</a:t>
            </a:r>
            <a:endParaRPr lang="en-US" sz="1200" dirty="0"/>
          </a:p>
        </p:txBody>
      </p:sp>
      <p:sp>
        <p:nvSpPr>
          <p:cNvPr id="44"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5"/>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Kicker"/>
          <p:cNvSpPr txBox="1"/>
          <p:nvPr/>
        </p:nvSpPr>
        <p:spPr>
          <a:xfrm>
            <a:off x="548640" y="384048"/>
            <a:ext cx="11094415" cy="274320"/>
          </a:xfrm>
          <a:prstGeom prst="rect">
            <a:avLst/>
          </a:prstGeom>
          <a:noFill/>
          <a:ln/>
        </p:spPr>
        <p:txBody>
          <a:bodyPr wrap="square" lIns="0" tIns="0" rIns="0" bIns="0" rtlCol="0" anchor="ctr"/>
          <a:lstStyle/>
          <a:p>
            <a:pPr marL="0" indent="0">
              <a:buNone/>
            </a:pPr>
            <a:r>
              <a:rPr lang="en-US" sz="1200" b="1" kern="0" spc="200" dirty="0">
                <a:solidFill>
                  <a:schemeClr val="accent1"/>
                </a:solidFill>
              </a:rPr>
              <a:t>TESTIMONIALS AND LIMITATIONS</a:t>
            </a:r>
            <a:endParaRPr lang="en-US" sz="1200" dirty="0"/>
          </a:p>
        </p:txBody>
      </p:sp>
      <p:sp>
        <p:nvSpPr>
          <p:cNvPr id="3" name="Title"/>
          <p:cNvSpPr txBox="1"/>
          <p:nvPr/>
        </p:nvSpPr>
        <p:spPr>
          <a:xfrm>
            <a:off x="548640" y="658368"/>
            <a:ext cx="11094415" cy="640080"/>
          </a:xfrm>
          <a:prstGeom prst="rect">
            <a:avLst/>
          </a:prstGeom>
          <a:noFill/>
          <a:ln/>
        </p:spPr>
        <p:txBody>
          <a:bodyPr wrap="square" lIns="0" tIns="0" rIns="0" bIns="0" rtlCol="0" anchor="ctr"/>
          <a:lstStyle/>
          <a:p>
            <a:pPr marL="0" indent="0">
              <a:buNone/>
            </a:pPr>
            <a:r>
              <a:rPr lang="en-US" sz="3000" b="1" dirty="0">
                <a:solidFill>
                  <a:schemeClr val="tx2"/>
                </a:solidFill>
                <a:latin typeface="Arial" pitchFamily="34" charset="0"/>
                <a:ea typeface="Arial" pitchFamily="34" charset="-122"/>
                <a:cs typeface="Arial" pitchFamily="34" charset="-120"/>
              </a:rPr>
              <a:t>Honest limits, and what comes next</a:t>
            </a:r>
            <a:endParaRPr lang="en-US" sz="3000" dirty="0"/>
          </a:p>
        </p:txBody>
      </p:sp>
      <p:graphicFrame>
        <p:nvGraphicFramePr>
          <p:cNvPr id="11" name="Table 0"/>
          <p:cNvGraphicFramePr>
            <a:graphicFrameLocks noGrp="1"/>
          </p:cNvGraphicFramePr>
          <p:nvPr>
            <p:extLst>
              <p:ext uri="{D42A27DB-BD31-4B8C-83A1-F6EECF244321}">
                <p14:modId xmlns:p14="http://schemas.microsoft.com/office/powerpoint/2010/main" val="4263753877"/>
              </p:ext>
            </p:extLst>
          </p:nvPr>
        </p:nvGraphicFramePr>
        <p:xfrm>
          <a:off x="548640" y="1554480"/>
          <a:ext cx="8969891" cy="3931920"/>
        </p:xfrm>
        <a:graphic>
          <a:graphicData uri="http://schemas.openxmlformats.org/drawingml/2006/table">
            <a:tbl>
              <a:tblPr/>
              <a:tblGrid>
                <a:gridCol w="2175899">
                  <a:extLst>
                    <a:ext uri="{9D8B030D-6E8A-4147-A177-3AD203B41FA5}">
                      <a16:colId xmlns:a16="http://schemas.microsoft.com/office/drawing/2014/main" val="20000"/>
                    </a:ext>
                  </a:extLst>
                </a:gridCol>
                <a:gridCol w="4507992">
                  <a:extLst>
                    <a:ext uri="{9D8B030D-6E8A-4147-A177-3AD203B41FA5}">
                      <a16:colId xmlns:a16="http://schemas.microsoft.com/office/drawing/2014/main" val="20002"/>
                    </a:ext>
                  </a:extLst>
                </a:gridCol>
                <a:gridCol w="2286000">
                  <a:extLst>
                    <a:ext uri="{9D8B030D-6E8A-4147-A177-3AD203B41FA5}">
                      <a16:colId xmlns:a16="http://schemas.microsoft.com/office/drawing/2014/main" val="20003"/>
                    </a:ext>
                  </a:extLst>
                </a:gridCol>
              </a:tblGrid>
              <a:tr h="411480">
                <a:tc>
                  <a:txBody>
                    <a:bodyPr/>
                    <a:lstStyle/>
                    <a:p>
                      <a:pPr marL="0" indent="0">
                        <a:buNone/>
                      </a:pPr>
                      <a:r>
                        <a:rPr lang="en-US" sz="1300" b="1" dirty="0">
                          <a:solidFill>
                            <a:schemeClr val="bg1"/>
                          </a:solidFill>
                        </a:rPr>
                        <a:t>Component</a:t>
                      </a:r>
                      <a:endParaRPr lang="en-US" sz="1300" dirty="0"/>
                    </a:p>
                  </a:txBody>
                  <a:tcPr marL="109728" marR="109728" marT="73152" marB="73152" anchor="ctr">
                    <a:lnL w="9525" cap="flat" cmpd="sng" algn="ctr">
                      <a:solidFill>
                        <a:srgbClr val="DCE6E2"/>
                      </a:solidFill>
                      <a:prstDash val="solid"/>
                      <a:round/>
                      <a:headEnd type="none" w="med" len="med"/>
                      <a:tailEnd type="none" w="med" len="med"/>
                    </a:lnL>
                    <a:lnR w="9525" cap="flat" cmpd="sng" algn="ctr">
                      <a:solidFill>
                        <a:srgbClr val="DCE6E2"/>
                      </a:solidFill>
                      <a:prstDash val="solid"/>
                      <a:round/>
                      <a:headEnd type="none" w="med" len="med"/>
                      <a:tailEnd type="none" w="med" len="med"/>
                    </a:lnR>
                    <a:lnT w="9525" cap="flat" cmpd="sng" algn="ctr">
                      <a:solidFill>
                        <a:srgbClr val="DCE6E2"/>
                      </a:solidFill>
                      <a:prstDash val="solid"/>
                      <a:round/>
                      <a:headEnd type="none" w="med" len="med"/>
                      <a:tailEnd type="none" w="med" len="med"/>
                    </a:lnT>
                    <a:lnB w="9525" cap="flat" cmpd="sng" algn="ctr">
                      <a:solidFill>
                        <a:srgbClr val="DCE6E2"/>
                      </a:solidFill>
                      <a:prstDash val="solid"/>
                      <a:round/>
                      <a:headEnd type="none" w="med" len="med"/>
                      <a:tailEnd type="none" w="med" len="med"/>
                    </a:lnB>
                    <a:solidFill>
                      <a:schemeClr val="tx2"/>
                    </a:solidFill>
                  </a:tcPr>
                </a:tc>
                <a:tc>
                  <a:txBody>
                    <a:bodyPr/>
                    <a:lstStyle/>
                    <a:p>
                      <a:pPr marL="0" indent="0">
                        <a:buNone/>
                      </a:pPr>
                      <a:r>
                        <a:rPr lang="en-US" sz="1300" b="1" dirty="0">
                          <a:solidFill>
                            <a:schemeClr val="bg1"/>
                          </a:solidFill>
                        </a:rPr>
                        <a:t>Limitation</a:t>
                      </a:r>
                      <a:endParaRPr lang="en-US" sz="1300" dirty="0"/>
                    </a:p>
                  </a:txBody>
                  <a:tcPr marL="109728" marR="109728" marT="73152" marB="73152" anchor="ctr">
                    <a:lnL w="9525" cap="flat" cmpd="sng" algn="ctr">
                      <a:solidFill>
                        <a:srgbClr val="DCE6E2"/>
                      </a:solidFill>
                      <a:prstDash val="solid"/>
                      <a:round/>
                      <a:headEnd type="none" w="med" len="med"/>
                      <a:tailEnd type="none" w="med" len="med"/>
                    </a:lnL>
                    <a:lnR w="9525" cap="flat" cmpd="sng" algn="ctr">
                      <a:solidFill>
                        <a:srgbClr val="DCE6E2"/>
                      </a:solidFill>
                      <a:prstDash val="solid"/>
                      <a:round/>
                      <a:headEnd type="none" w="med" len="med"/>
                      <a:tailEnd type="none" w="med" len="med"/>
                    </a:lnR>
                    <a:lnT w="9525" cap="flat" cmpd="sng" algn="ctr">
                      <a:solidFill>
                        <a:srgbClr val="DCE6E2"/>
                      </a:solidFill>
                      <a:prstDash val="solid"/>
                      <a:round/>
                      <a:headEnd type="none" w="med" len="med"/>
                      <a:tailEnd type="none" w="med" len="med"/>
                    </a:lnT>
                    <a:lnB w="9525" cap="flat" cmpd="sng" algn="ctr">
                      <a:solidFill>
                        <a:srgbClr val="DCE6E2"/>
                      </a:solidFill>
                      <a:prstDash val="solid"/>
                      <a:round/>
                      <a:headEnd type="none" w="med" len="med"/>
                      <a:tailEnd type="none" w="med" len="med"/>
                    </a:lnB>
                    <a:solidFill>
                      <a:schemeClr val="tx2"/>
                    </a:solidFill>
                  </a:tcPr>
                </a:tc>
                <a:tc>
                  <a:txBody>
                    <a:bodyPr/>
                    <a:lstStyle/>
                    <a:p>
                      <a:pPr marL="0" indent="0">
                        <a:buNone/>
                      </a:pPr>
                      <a:r>
                        <a:rPr lang="en-US" sz="1300" b="1" dirty="0">
                          <a:solidFill>
                            <a:schemeClr val="bg1"/>
                          </a:solidFill>
                        </a:rPr>
                        <a:t>Future work</a:t>
                      </a:r>
                      <a:endParaRPr lang="en-US" sz="1300" dirty="0"/>
                    </a:p>
                  </a:txBody>
                  <a:tcPr marL="109728" marR="109728" marT="73152" marB="73152" anchor="ctr">
                    <a:lnL w="9525" cap="flat" cmpd="sng" algn="ctr">
                      <a:solidFill>
                        <a:srgbClr val="DCE6E2"/>
                      </a:solidFill>
                      <a:prstDash val="solid"/>
                      <a:round/>
                      <a:headEnd type="none" w="med" len="med"/>
                      <a:tailEnd type="none" w="med" len="med"/>
                    </a:lnL>
                    <a:lnR w="9525" cap="flat" cmpd="sng" algn="ctr">
                      <a:solidFill>
                        <a:srgbClr val="DCE6E2"/>
                      </a:solidFill>
                      <a:prstDash val="solid"/>
                      <a:round/>
                      <a:headEnd type="none" w="med" len="med"/>
                      <a:tailEnd type="none" w="med" len="med"/>
                    </a:lnR>
                    <a:lnT w="9525" cap="flat" cmpd="sng" algn="ctr">
                      <a:solidFill>
                        <a:srgbClr val="DCE6E2"/>
                      </a:solidFill>
                      <a:prstDash val="solid"/>
                      <a:round/>
                      <a:headEnd type="none" w="med" len="med"/>
                      <a:tailEnd type="none" w="med" len="med"/>
                    </a:lnT>
                    <a:lnB w="9525" cap="flat" cmpd="sng" algn="ctr">
                      <a:solidFill>
                        <a:srgbClr val="DCE6E2"/>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777240">
                <a:tc>
                  <a:txBody>
                    <a:bodyPr/>
                    <a:lstStyle/>
                    <a:p>
                      <a:pPr marL="0" indent="0">
                        <a:buNone/>
                      </a:pPr>
                      <a:r>
                        <a:rPr lang="en-US" sz="1300" b="1" dirty="0">
                          <a:solidFill>
                            <a:schemeClr val="tx2"/>
                          </a:solidFill>
                        </a:rPr>
                        <a:t>SOS Safety</a:t>
                      </a:r>
                      <a:endParaRPr lang="en-US" sz="1300" dirty="0"/>
                    </a:p>
                    <a:p>
                      <a:pPr marL="0" indent="0">
                        <a:buNone/>
                      </a:pPr>
                      <a:r>
                        <a:rPr lang="en-US" sz="1300" b="1" dirty="0">
                          <a:solidFill>
                            <a:schemeClr val="tx2"/>
                          </a:solidFill>
                        </a:rPr>
                        <a:t>De Silva D.S.K</a:t>
                      </a:r>
                      <a:endParaRPr lang="en-US" sz="1300" dirty="0"/>
                    </a:p>
                  </a:txBody>
                  <a:tcPr marL="109728" marR="109728" marT="73152" marB="73152" anchor="ctr">
                    <a:lnL w="9525" cap="flat" cmpd="sng" algn="ctr">
                      <a:solidFill>
                        <a:srgbClr val="DCE6E2"/>
                      </a:solidFill>
                      <a:prstDash val="solid"/>
                      <a:round/>
                      <a:headEnd type="none" w="med" len="med"/>
                      <a:tailEnd type="none" w="med" len="med"/>
                    </a:lnL>
                    <a:lnR w="9525" cap="flat" cmpd="sng" algn="ctr">
                      <a:solidFill>
                        <a:srgbClr val="DCE6E2"/>
                      </a:solidFill>
                      <a:prstDash val="solid"/>
                      <a:round/>
                      <a:headEnd type="none" w="med" len="med"/>
                      <a:tailEnd type="none" w="med" len="med"/>
                    </a:lnR>
                    <a:lnT w="9525" cap="flat" cmpd="sng" algn="ctr">
                      <a:solidFill>
                        <a:srgbClr val="DCE6E2"/>
                      </a:solidFill>
                      <a:prstDash val="solid"/>
                      <a:round/>
                      <a:headEnd type="none" w="med" len="med"/>
                      <a:tailEnd type="none" w="med" len="med"/>
                    </a:lnT>
                    <a:lnB w="9525" cap="flat" cmpd="sng" algn="ctr">
                      <a:solidFill>
                        <a:srgbClr val="DCE6E2"/>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Developer-written messages, not real distress reports; medical incidents mainly confused with drowning and accident</a:t>
                      </a:r>
                      <a:endParaRPr lang="en-US" sz="1300" dirty="0"/>
                    </a:p>
                  </a:txBody>
                  <a:tcPr marL="109728" marR="109728" marT="73152" marB="73152" anchor="ctr">
                    <a:lnL w="9525" cap="flat" cmpd="sng" algn="ctr">
                      <a:solidFill>
                        <a:srgbClr val="DCE6E2"/>
                      </a:solidFill>
                      <a:prstDash val="solid"/>
                      <a:round/>
                      <a:headEnd type="none" w="med" len="med"/>
                      <a:tailEnd type="none" w="med" len="med"/>
                    </a:lnL>
                    <a:lnR w="9525" cap="flat" cmpd="sng" algn="ctr">
                      <a:solidFill>
                        <a:srgbClr val="DCE6E2"/>
                      </a:solidFill>
                      <a:prstDash val="solid"/>
                      <a:round/>
                      <a:headEnd type="none" w="med" len="med"/>
                      <a:tailEnd type="none" w="med" len="med"/>
                    </a:lnR>
                    <a:lnT w="9525" cap="flat" cmpd="sng" algn="ctr">
                      <a:solidFill>
                        <a:srgbClr val="DCE6E2"/>
                      </a:solidFill>
                      <a:prstDash val="solid"/>
                      <a:round/>
                      <a:headEnd type="none" w="med" len="med"/>
                      <a:tailEnd type="none" w="med" len="med"/>
                    </a:lnT>
                    <a:lnB w="9525" cap="flat" cmpd="sng" algn="ctr">
                      <a:solidFill>
                        <a:srgbClr val="DCE6E2"/>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Real labelled statements and a field test</a:t>
                      </a:r>
                      <a:endParaRPr lang="en-US" sz="1300" dirty="0"/>
                    </a:p>
                  </a:txBody>
                  <a:tcPr marL="109728" marR="109728" marT="73152" marB="73152" anchor="ctr">
                    <a:lnL w="9525" cap="flat" cmpd="sng" algn="ctr">
                      <a:solidFill>
                        <a:srgbClr val="DCE6E2"/>
                      </a:solidFill>
                      <a:prstDash val="solid"/>
                      <a:round/>
                      <a:headEnd type="none" w="med" len="med"/>
                      <a:tailEnd type="none" w="med" len="med"/>
                    </a:lnL>
                    <a:lnR w="9525" cap="flat" cmpd="sng" algn="ctr">
                      <a:solidFill>
                        <a:srgbClr val="DCE6E2"/>
                      </a:solidFill>
                      <a:prstDash val="solid"/>
                      <a:round/>
                      <a:headEnd type="none" w="med" len="med"/>
                      <a:tailEnd type="none" w="med" len="med"/>
                    </a:lnR>
                    <a:lnT w="9525" cap="flat" cmpd="sng" algn="ctr">
                      <a:solidFill>
                        <a:srgbClr val="DCE6E2"/>
                      </a:solidFill>
                      <a:prstDash val="solid"/>
                      <a:round/>
                      <a:headEnd type="none" w="med" len="med"/>
                      <a:tailEnd type="none" w="med" len="med"/>
                    </a:lnT>
                    <a:lnB w="9525" cap="flat" cmpd="sng" algn="ctr">
                      <a:solidFill>
                        <a:srgbClr val="DCE6E2"/>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777240">
                <a:tc>
                  <a:txBody>
                    <a:bodyPr/>
                    <a:lstStyle/>
                    <a:p>
                      <a:pPr marL="0" indent="0">
                        <a:buNone/>
                      </a:pPr>
                      <a:r>
                        <a:rPr lang="en-US" sz="1300" b="1" dirty="0">
                          <a:solidFill>
                            <a:schemeClr val="tx2"/>
                          </a:solidFill>
                        </a:rPr>
                        <a:t>Itinerary Planner</a:t>
                      </a:r>
                      <a:endParaRPr lang="en-US" sz="1300" dirty="0"/>
                    </a:p>
                    <a:p>
                      <a:pPr marL="0" indent="0">
                        <a:buNone/>
                      </a:pPr>
                      <a:r>
                        <a:rPr lang="en-US" sz="1300" b="1" dirty="0">
                          <a:solidFill>
                            <a:schemeClr val="tx2"/>
                          </a:solidFill>
                        </a:rPr>
                        <a:t>Wanniarachchi P.M.R</a:t>
                      </a:r>
                      <a:endParaRPr lang="en-US" sz="1300" dirty="0"/>
                    </a:p>
                  </a:txBody>
                  <a:tcPr marL="109728" marR="109728" marT="73152" marB="73152" anchor="ctr">
                    <a:lnL w="9525" cap="flat" cmpd="sng" algn="ctr">
                      <a:solidFill>
                        <a:srgbClr val="DCE6E2"/>
                      </a:solidFill>
                      <a:prstDash val="solid"/>
                      <a:round/>
                      <a:headEnd type="none" w="med" len="med"/>
                      <a:tailEnd type="none" w="med" len="med"/>
                    </a:lnL>
                    <a:lnR w="9525" cap="flat" cmpd="sng" algn="ctr">
                      <a:solidFill>
                        <a:srgbClr val="DCE6E2"/>
                      </a:solidFill>
                      <a:prstDash val="solid"/>
                      <a:round/>
                      <a:headEnd type="none" w="med" len="med"/>
                      <a:tailEnd type="none" w="med" len="med"/>
                    </a:lnR>
                    <a:lnT w="9525" cap="flat" cmpd="sng" algn="ctr">
                      <a:solidFill>
                        <a:srgbClr val="DCE6E2"/>
                      </a:solidFill>
                      <a:prstDash val="solid"/>
                      <a:round/>
                      <a:headEnd type="none" w="med" len="med"/>
                      <a:tailEnd type="none" w="med" len="med"/>
                    </a:lnT>
                    <a:lnB w="9525" cap="flat" cmpd="sng" algn="ctr">
                      <a:solidFill>
                        <a:srgbClr val="DCE6E2"/>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Labels generated from catalogues, not real travellers; visit-time model is weak (52.6%)</a:t>
                      </a:r>
                      <a:endParaRPr lang="en-US" sz="1300" dirty="0"/>
                    </a:p>
                  </a:txBody>
                  <a:tcPr marL="109728" marR="109728" marT="73152" marB="73152" anchor="ctr">
                    <a:lnL w="9525" cap="flat" cmpd="sng" algn="ctr">
                      <a:solidFill>
                        <a:srgbClr val="DCE6E2"/>
                      </a:solidFill>
                      <a:prstDash val="solid"/>
                      <a:round/>
                      <a:headEnd type="none" w="med" len="med"/>
                      <a:tailEnd type="none" w="med" len="med"/>
                    </a:lnL>
                    <a:lnR w="9525" cap="flat" cmpd="sng" algn="ctr">
                      <a:solidFill>
                        <a:srgbClr val="DCE6E2"/>
                      </a:solidFill>
                      <a:prstDash val="solid"/>
                      <a:round/>
                      <a:headEnd type="none" w="med" len="med"/>
                      <a:tailEnd type="none" w="med" len="med"/>
                    </a:lnR>
                    <a:lnT w="9525" cap="flat" cmpd="sng" algn="ctr">
                      <a:solidFill>
                        <a:srgbClr val="DCE6E2"/>
                      </a:solidFill>
                      <a:prstDash val="solid"/>
                      <a:round/>
                      <a:headEnd type="none" w="med" len="med"/>
                      <a:tailEnd type="none" w="med" len="med"/>
                    </a:lnT>
                    <a:lnB w="9525" cap="flat" cmpd="sng" algn="ctr">
                      <a:solidFill>
                        <a:srgbClr val="DCE6E2"/>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Real labelled trips</a:t>
                      </a:r>
                      <a:endParaRPr lang="en-US" sz="1300" dirty="0"/>
                    </a:p>
                  </a:txBody>
                  <a:tcPr marL="109728" marR="109728" marT="73152" marB="73152" anchor="ctr">
                    <a:lnL w="9525" cap="flat" cmpd="sng" algn="ctr">
                      <a:solidFill>
                        <a:srgbClr val="DCE6E2"/>
                      </a:solidFill>
                      <a:prstDash val="solid"/>
                      <a:round/>
                      <a:headEnd type="none" w="med" len="med"/>
                      <a:tailEnd type="none" w="med" len="med"/>
                    </a:lnL>
                    <a:lnR w="9525" cap="flat" cmpd="sng" algn="ctr">
                      <a:solidFill>
                        <a:srgbClr val="DCE6E2"/>
                      </a:solidFill>
                      <a:prstDash val="solid"/>
                      <a:round/>
                      <a:headEnd type="none" w="med" len="med"/>
                      <a:tailEnd type="none" w="med" len="med"/>
                    </a:lnR>
                    <a:lnT w="9525" cap="flat" cmpd="sng" algn="ctr">
                      <a:solidFill>
                        <a:srgbClr val="DCE6E2"/>
                      </a:solidFill>
                      <a:prstDash val="solid"/>
                      <a:round/>
                      <a:headEnd type="none" w="med" len="med"/>
                      <a:tailEnd type="none" w="med" len="med"/>
                    </a:lnT>
                    <a:lnB w="9525" cap="flat" cmpd="sng" algn="ctr">
                      <a:solidFill>
                        <a:srgbClr val="DCE6E2"/>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640080">
                <a:tc>
                  <a:txBody>
                    <a:bodyPr/>
                    <a:lstStyle/>
                    <a:p>
                      <a:pPr marL="0" indent="0">
                        <a:buNone/>
                      </a:pPr>
                      <a:r>
                        <a:rPr lang="en-US" sz="1300" b="1" dirty="0">
                          <a:solidFill>
                            <a:schemeClr val="tx2"/>
                          </a:solidFill>
                        </a:rPr>
                        <a:t>Wellness Matching</a:t>
                      </a:r>
                      <a:endParaRPr lang="en-US" sz="1300" dirty="0"/>
                    </a:p>
                    <a:p>
                      <a:pPr marL="0" indent="0">
                        <a:buNone/>
                      </a:pPr>
                      <a:r>
                        <a:rPr lang="en-US" sz="1300" b="1" dirty="0">
                          <a:solidFill>
                            <a:schemeClr val="tx2"/>
                          </a:solidFill>
                        </a:rPr>
                        <a:t>De Silva D.C.M</a:t>
                      </a:r>
                      <a:endParaRPr lang="en-US" sz="1300" dirty="0"/>
                    </a:p>
                  </a:txBody>
                  <a:tcPr marL="109728" marR="109728" marT="73152" marB="73152" anchor="ctr">
                    <a:lnL w="9525" cap="flat" cmpd="sng" algn="ctr">
                      <a:solidFill>
                        <a:srgbClr val="DCE6E2"/>
                      </a:solidFill>
                      <a:prstDash val="solid"/>
                      <a:round/>
                      <a:headEnd type="none" w="med" len="med"/>
                      <a:tailEnd type="none" w="med" len="med"/>
                    </a:lnL>
                    <a:lnR w="9525" cap="flat" cmpd="sng" algn="ctr">
                      <a:solidFill>
                        <a:srgbClr val="DCE6E2"/>
                      </a:solidFill>
                      <a:prstDash val="solid"/>
                      <a:round/>
                      <a:headEnd type="none" w="med" len="med"/>
                      <a:tailEnd type="none" w="med" len="med"/>
                    </a:lnR>
                    <a:lnT w="9525" cap="flat" cmpd="sng" algn="ctr">
                      <a:solidFill>
                        <a:srgbClr val="DCE6E2"/>
                      </a:solidFill>
                      <a:prstDash val="solid"/>
                      <a:round/>
                      <a:headEnd type="none" w="med" len="med"/>
                      <a:tailEnd type="none" w="med" len="med"/>
                    </a:lnT>
                    <a:lnB w="9525" cap="flat" cmpd="sng" algn="ctr">
                      <a:solidFill>
                        <a:srgbClr val="DCE6E2"/>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Small, expert-informed dataset</a:t>
                      </a:r>
                      <a:endParaRPr lang="en-US" sz="1300" dirty="0"/>
                    </a:p>
                  </a:txBody>
                  <a:tcPr marL="109728" marR="109728" marT="73152" marB="73152" anchor="ctr">
                    <a:lnL w="9525" cap="flat" cmpd="sng" algn="ctr">
                      <a:solidFill>
                        <a:srgbClr val="DCE6E2"/>
                      </a:solidFill>
                      <a:prstDash val="solid"/>
                      <a:round/>
                      <a:headEnd type="none" w="med" len="med"/>
                      <a:tailEnd type="none" w="med" len="med"/>
                    </a:lnL>
                    <a:lnR w="9525" cap="flat" cmpd="sng" algn="ctr">
                      <a:solidFill>
                        <a:srgbClr val="DCE6E2"/>
                      </a:solidFill>
                      <a:prstDash val="solid"/>
                      <a:round/>
                      <a:headEnd type="none" w="med" len="med"/>
                      <a:tailEnd type="none" w="med" len="med"/>
                    </a:lnR>
                    <a:lnT w="9525" cap="flat" cmpd="sng" algn="ctr">
                      <a:solidFill>
                        <a:srgbClr val="DCE6E2"/>
                      </a:solidFill>
                      <a:prstDash val="solid"/>
                      <a:round/>
                      <a:headEnd type="none" w="med" len="med"/>
                      <a:tailEnd type="none" w="med" len="med"/>
                    </a:lnT>
                    <a:lnB w="9525" cap="flat" cmpd="sng" algn="ctr">
                      <a:solidFill>
                        <a:srgbClr val="DCE6E2"/>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Real tourist data</a:t>
                      </a:r>
                      <a:endParaRPr lang="en-US" sz="1300" dirty="0"/>
                    </a:p>
                  </a:txBody>
                  <a:tcPr marL="109728" marR="109728" marT="73152" marB="73152" anchor="ctr">
                    <a:lnL w="9525" cap="flat" cmpd="sng" algn="ctr">
                      <a:solidFill>
                        <a:srgbClr val="DCE6E2"/>
                      </a:solidFill>
                      <a:prstDash val="solid"/>
                      <a:round/>
                      <a:headEnd type="none" w="med" len="med"/>
                      <a:tailEnd type="none" w="med" len="med"/>
                    </a:lnL>
                    <a:lnR w="9525" cap="flat" cmpd="sng" algn="ctr">
                      <a:solidFill>
                        <a:srgbClr val="DCE6E2"/>
                      </a:solidFill>
                      <a:prstDash val="solid"/>
                      <a:round/>
                      <a:headEnd type="none" w="med" len="med"/>
                      <a:tailEnd type="none" w="med" len="med"/>
                    </a:lnR>
                    <a:lnT w="9525" cap="flat" cmpd="sng" algn="ctr">
                      <a:solidFill>
                        <a:srgbClr val="DCE6E2"/>
                      </a:solidFill>
                      <a:prstDash val="solid"/>
                      <a:round/>
                      <a:headEnd type="none" w="med" len="med"/>
                      <a:tailEnd type="none" w="med" len="med"/>
                    </a:lnT>
                    <a:lnB w="9525" cap="flat" cmpd="sng" algn="ctr">
                      <a:solidFill>
                        <a:srgbClr val="DCE6E2"/>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1325880">
                <a:tc>
                  <a:txBody>
                    <a:bodyPr/>
                    <a:lstStyle/>
                    <a:p>
                      <a:pPr marL="0" indent="0">
                        <a:buNone/>
                      </a:pPr>
                      <a:r>
                        <a:rPr lang="en-US" sz="1300" b="1" dirty="0">
                          <a:solidFill>
                            <a:schemeClr val="tx2"/>
                          </a:solidFill>
                        </a:rPr>
                        <a:t>Crowd Risk</a:t>
                      </a:r>
                      <a:endParaRPr lang="en-US" sz="1300" dirty="0"/>
                    </a:p>
                    <a:p>
                      <a:pPr marL="0" indent="0">
                        <a:buNone/>
                      </a:pPr>
                      <a:r>
                        <a:rPr lang="en-US" sz="1300" b="1" dirty="0">
                          <a:solidFill>
                            <a:schemeClr val="tx2"/>
                          </a:solidFill>
                        </a:rPr>
                        <a:t>Abinaya R</a:t>
                      </a:r>
                      <a:endParaRPr lang="en-US" sz="1300" dirty="0"/>
                    </a:p>
                  </a:txBody>
                  <a:tcPr marL="109728" marR="109728" marT="73152" marB="73152" anchor="ctr">
                    <a:lnL w="9525" cap="flat" cmpd="sng" algn="ctr">
                      <a:solidFill>
                        <a:srgbClr val="DCE6E2"/>
                      </a:solidFill>
                      <a:prstDash val="solid"/>
                      <a:round/>
                      <a:headEnd type="none" w="med" len="med"/>
                      <a:tailEnd type="none" w="med" len="med"/>
                    </a:lnL>
                    <a:lnR w="9525" cap="flat" cmpd="sng" algn="ctr">
                      <a:solidFill>
                        <a:srgbClr val="DCE6E2"/>
                      </a:solidFill>
                      <a:prstDash val="solid"/>
                      <a:round/>
                      <a:headEnd type="none" w="med" len="med"/>
                      <a:tailEnd type="none" w="med" len="med"/>
                    </a:lnR>
                    <a:lnT w="9525" cap="flat" cmpd="sng" algn="ctr">
                      <a:solidFill>
                        <a:srgbClr val="DCE6E2"/>
                      </a:solidFill>
                      <a:prstDash val="solid"/>
                      <a:round/>
                      <a:headEnd type="none" w="med" len="med"/>
                      <a:tailEnd type="none" w="med" len="med"/>
                    </a:lnT>
                    <a:lnB w="9525" cap="flat" cmpd="sng" algn="ctr">
                      <a:solidFill>
                        <a:srgbClr val="DCE6E2"/>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Simulated crowd data: the model learns the data's patterns, not real visitor behaviour. Weather, occupancy and flights are not site-specific. Only 10 holdout sites, so estimates are noisy. High-risk precision 0.57</a:t>
                      </a:r>
                      <a:endParaRPr lang="en-US" sz="1300" dirty="0"/>
                    </a:p>
                  </a:txBody>
                  <a:tcPr marL="109728" marR="109728" marT="73152" marB="73152" anchor="ctr">
                    <a:lnL w="9525" cap="flat" cmpd="sng" algn="ctr">
                      <a:solidFill>
                        <a:srgbClr val="DCE6E2"/>
                      </a:solidFill>
                      <a:prstDash val="solid"/>
                      <a:round/>
                      <a:headEnd type="none" w="med" len="med"/>
                      <a:tailEnd type="none" w="med" len="med"/>
                    </a:lnL>
                    <a:lnR w="9525" cap="flat" cmpd="sng" algn="ctr">
                      <a:solidFill>
                        <a:srgbClr val="DCE6E2"/>
                      </a:solidFill>
                      <a:prstDash val="solid"/>
                      <a:round/>
                      <a:headEnd type="none" w="med" len="med"/>
                      <a:tailEnd type="none" w="med" len="med"/>
                    </a:lnR>
                    <a:lnT w="9525" cap="flat" cmpd="sng" algn="ctr">
                      <a:solidFill>
                        <a:srgbClr val="DCE6E2"/>
                      </a:solidFill>
                      <a:prstDash val="solid"/>
                      <a:round/>
                      <a:headEnd type="none" w="med" len="med"/>
                      <a:tailEnd type="none" w="med" len="med"/>
                    </a:lnT>
                    <a:lnB w="9525" cap="flat" cmpd="sng" algn="ctr">
                      <a:solidFill>
                        <a:srgbClr val="DCE6E2"/>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Real visitor counts, per-district weather, user acceptance test</a:t>
                      </a:r>
                      <a:endParaRPr lang="en-US" sz="1300" dirty="0"/>
                    </a:p>
                  </a:txBody>
                  <a:tcPr marL="109728" marR="109728" marT="73152" marB="73152" anchor="ctr">
                    <a:lnL w="9525" cap="flat" cmpd="sng" algn="ctr">
                      <a:solidFill>
                        <a:srgbClr val="DCE6E2"/>
                      </a:solidFill>
                      <a:prstDash val="solid"/>
                      <a:round/>
                      <a:headEnd type="none" w="med" len="med"/>
                      <a:tailEnd type="none" w="med" len="med"/>
                    </a:lnL>
                    <a:lnR w="9525" cap="flat" cmpd="sng" algn="ctr">
                      <a:solidFill>
                        <a:srgbClr val="DCE6E2"/>
                      </a:solidFill>
                      <a:prstDash val="solid"/>
                      <a:round/>
                      <a:headEnd type="none" w="med" len="med"/>
                      <a:tailEnd type="none" w="med" len="med"/>
                    </a:lnR>
                    <a:lnT w="9525" cap="flat" cmpd="sng" algn="ctr">
                      <a:solidFill>
                        <a:srgbClr val="DCE6E2"/>
                      </a:solidFill>
                      <a:prstDash val="solid"/>
                      <a:round/>
                      <a:headEnd type="none" w="med" len="med"/>
                      <a:tailEnd type="none" w="med" len="med"/>
                    </a:lnT>
                    <a:lnB w="9525" cap="flat" cmpd="sng" algn="ctr">
                      <a:solidFill>
                        <a:srgbClr val="DCE6E2"/>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bl>
          </a:graphicData>
        </a:graphic>
      </p:graphicFrame>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5"/>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home/claude/work/sigiriya.jpg"/>
          <p:cNvPicPr>
            <a:picLocks noChangeAspect="1"/>
          </p:cNvPicPr>
          <p:nvPr/>
        </p:nvPicPr>
        <p:blipFill>
          <a:blip r:embed="rId3"/>
          <a:srcRect/>
          <a:stretch/>
        </p:blipFill>
        <p:spPr>
          <a:xfrm>
            <a:off x="7406640" y="0"/>
            <a:ext cx="4785055" cy="6858000"/>
          </a:xfrm>
          <a:prstGeom prst="rect">
            <a:avLst/>
          </a:prstGeom>
        </p:spPr>
      </p:pic>
      <p:sp>
        <p:nvSpPr>
          <p:cNvPr id="3" name="Text 0"/>
          <p:cNvSpPr txBox="1"/>
          <p:nvPr/>
        </p:nvSpPr>
        <p:spPr>
          <a:xfrm>
            <a:off x="640080" y="2011680"/>
            <a:ext cx="6400800" cy="274320"/>
          </a:xfrm>
          <a:prstGeom prst="rect">
            <a:avLst/>
          </a:prstGeom>
          <a:noFill/>
          <a:ln/>
        </p:spPr>
        <p:txBody>
          <a:bodyPr wrap="square" lIns="0" tIns="0" rIns="0" bIns="0" rtlCol="0" anchor="t"/>
          <a:lstStyle/>
          <a:p>
            <a:pPr marL="0" indent="0">
              <a:buNone/>
            </a:pPr>
            <a:r>
              <a:rPr lang="en-US" sz="1200" b="1" kern="0" spc="200" dirty="0">
                <a:solidFill>
                  <a:schemeClr val="accent2"/>
                </a:solidFill>
              </a:rPr>
              <a:t>TOUR CEYLON  ·  R26-IT-152</a:t>
            </a:r>
            <a:endParaRPr lang="en-US" sz="1200" dirty="0"/>
          </a:p>
        </p:txBody>
      </p:sp>
      <p:sp>
        <p:nvSpPr>
          <p:cNvPr id="4" name="Text 1"/>
          <p:cNvSpPr txBox="1"/>
          <p:nvPr/>
        </p:nvSpPr>
        <p:spPr>
          <a:xfrm>
            <a:off x="640080" y="2377440"/>
            <a:ext cx="6400800" cy="914400"/>
          </a:xfrm>
          <a:prstGeom prst="rect">
            <a:avLst/>
          </a:prstGeom>
          <a:noFill/>
          <a:ln/>
        </p:spPr>
        <p:txBody>
          <a:bodyPr wrap="square" lIns="0" tIns="0" rIns="0" bIns="0" rtlCol="0" anchor="ctr"/>
          <a:lstStyle/>
          <a:p>
            <a:pPr marL="0" indent="0">
              <a:buNone/>
            </a:pPr>
            <a:r>
              <a:rPr lang="en-US" sz="5400" b="1" dirty="0">
                <a:solidFill>
                  <a:schemeClr val="bg1"/>
                </a:solidFill>
                <a:latin typeface="Arial" pitchFamily="34" charset="0"/>
                <a:ea typeface="Arial" pitchFamily="34" charset="-122"/>
                <a:cs typeface="Arial" pitchFamily="34" charset="-120"/>
              </a:rPr>
              <a:t>Thank you</a:t>
            </a:r>
            <a:endParaRPr lang="en-US" sz="5400" dirty="0"/>
          </a:p>
        </p:txBody>
      </p:sp>
      <p:sp>
        <p:nvSpPr>
          <p:cNvPr id="5" name="Text 2"/>
          <p:cNvSpPr txBox="1"/>
          <p:nvPr/>
        </p:nvSpPr>
        <p:spPr>
          <a:xfrm>
            <a:off x="640080" y="3337560"/>
            <a:ext cx="6400800" cy="457200"/>
          </a:xfrm>
          <a:prstGeom prst="rect">
            <a:avLst/>
          </a:prstGeom>
          <a:noFill/>
          <a:ln/>
        </p:spPr>
        <p:txBody>
          <a:bodyPr wrap="square" lIns="0" tIns="0" rIns="0" bIns="0" rtlCol="0" anchor="t"/>
          <a:lstStyle/>
          <a:p>
            <a:pPr marL="0" indent="0">
              <a:buNone/>
            </a:pPr>
            <a:r>
              <a:rPr lang="en-US" sz="2200" dirty="0">
                <a:solidFill>
                  <a:schemeClr val="accent6"/>
                </a:solidFill>
              </a:rPr>
              <a:t>Questions and discussion</a:t>
            </a:r>
            <a:endParaRPr lang="en-US" sz="2200" dirty="0"/>
          </a:p>
        </p:txBody>
      </p:sp>
      <p:sp>
        <p:nvSpPr>
          <p:cNvPr id="6" name="Text 3"/>
          <p:cNvSpPr txBox="1"/>
          <p:nvPr/>
        </p:nvSpPr>
        <p:spPr>
          <a:xfrm>
            <a:off x="640080" y="4023360"/>
            <a:ext cx="6217920" cy="731520"/>
          </a:xfrm>
          <a:prstGeom prst="rect">
            <a:avLst/>
          </a:prstGeom>
          <a:noFill/>
          <a:ln/>
        </p:spPr>
        <p:txBody>
          <a:bodyPr wrap="square" lIns="0" tIns="0" rIns="0" bIns="0" rtlCol="0" anchor="t"/>
          <a:lstStyle/>
          <a:p>
            <a:pPr marL="0" indent="0">
              <a:buNone/>
            </a:pPr>
            <a:r>
              <a:rPr lang="en-US" sz="1500" i="1" dirty="0">
                <a:solidFill>
                  <a:srgbClr val="CFE0DB"/>
                </a:solidFill>
              </a:rPr>
              <a:t>Safer, smarter and less crowded travel in Sri Lanka, on one platform.</a:t>
            </a:r>
            <a:endParaRPr lang="en-US" sz="1500" dirty="0"/>
          </a:p>
        </p:txBody>
      </p:sp>
    </p:spTree>
  </p:cSld>
  <p:clrMapOvr>
    <a:masterClrMapping/>
  </p:clrMapOvr>
</p:sld>
</file>

<file path=ppt/theme/theme1.xml><?xml version="1.0" encoding="utf-8"?>
<a:theme xmlns:a="http://schemas.openxmlformats.org/drawingml/2006/main" name="Tour Ceylon">
  <a:themeElements>
    <a:clrScheme name="Tour Ceylon">
      <a:dk1>
        <a:srgbClr val="1B2421"/>
      </a:dk1>
      <a:lt1>
        <a:srgbClr val="FFFFFF"/>
      </a:lt1>
      <a:dk2>
        <a:srgbClr val="0B3B36"/>
      </a:dk2>
      <a:lt2>
        <a:srgbClr val="EEF4F1"/>
      </a:lt2>
      <a:accent1>
        <a:srgbClr val="0F6B5C"/>
      </a:accent1>
      <a:accent2>
        <a:srgbClr val="E39B2D"/>
      </a:accent2>
      <a:accent3>
        <a:srgbClr val="C2452D"/>
      </a:accent3>
      <a:accent4>
        <a:srgbClr val="3A8F5C"/>
      </a:accent4>
      <a:accent5>
        <a:srgbClr val="5E6B67"/>
      </a:accent5>
      <a:accent6>
        <a:srgbClr val="F2C14E"/>
      </a:accent6>
      <a:hlink>
        <a:srgbClr val="0F6B5C"/>
      </a:hlink>
      <a:folHlink>
        <a:srgbClr val="5E6B67"/>
      </a:folHlink>
    </a:clrScheme>
    <a:fontScheme name="Tour Ceylon">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247</TotalTime>
  <Words>2601</Words>
  <Application>Microsoft Office PowerPoint</Application>
  <PresentationFormat>Widescreen</PresentationFormat>
  <Paragraphs>265</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Tour Ceylon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Tour Ceylon: AI-Based Tourism Safety and Itinerary Platform</dc:title>
  <dc:subject>R26-IT-152 Final Presentation</dc:subject>
  <dc:creator>R26-IT-152</dc:creator>
  <cp:lastModifiedBy>ABINAYA R it22090058</cp:lastModifiedBy>
  <cp:revision>4</cp:revision>
  <dcterms:created xsi:type="dcterms:W3CDTF">2026-10-20T11:13:24Z</dcterms:created>
  <dcterms:modified xsi:type="dcterms:W3CDTF">2026-10-20T16:08:48Z</dcterms:modified>
</cp:coreProperties>
</file>